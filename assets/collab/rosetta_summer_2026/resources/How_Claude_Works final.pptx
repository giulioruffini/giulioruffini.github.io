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y="5143500" cx="9144000"/>
  <p:notesSz cx="5143500" cy="9144000"/>
  <p:embeddedFontLst>
    <p:embeddedFont>
      <p:font typeface="Roboto Mono"/>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RobotoMono-regular.fntdata"/><Relationship Id="rId11" Type="http://schemas.openxmlformats.org/officeDocument/2006/relationships/slide" Target="slides/slide7.xml"/><Relationship Id="rId22" Type="http://schemas.openxmlformats.org/officeDocument/2006/relationships/font" Target="fonts/RobotoMono-italic.fntdata"/><Relationship Id="rId10" Type="http://schemas.openxmlformats.org/officeDocument/2006/relationships/slide" Target="slides/slide6.xml"/><Relationship Id="rId21" Type="http://schemas.openxmlformats.org/officeDocument/2006/relationships/font" Target="fonts/RobotoMono-bold.fntdata"/><Relationship Id="rId13" Type="http://schemas.openxmlformats.org/officeDocument/2006/relationships/slide" Target="slides/slide9.xml"/><Relationship Id="rId12" Type="http://schemas.openxmlformats.org/officeDocument/2006/relationships/slide" Target="slides/slide8.xml"/><Relationship Id="rId23" Type="http://schemas.openxmlformats.org/officeDocument/2006/relationships/font" Target="fonts/RobotoMono-bold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500"/>
              <a:t>I want to spend about fifteen minutes giving you a mental model of what's actually happening when you talk to Claude — not a sales pitch, the under-the-hood. By the end you'll know why prompts behave the way they do, why we keep mentioning markdown, and why Cowork and Claude Code are basically the same thing wearing different shirts. Importantly, the same technology is used by other providers (Geming and openAI), so you can port a lot of what you read here over to those if you need.</a:t>
            </a:r>
            <a:endParaRPr sz="1500"/>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 name="Shape 33"/>
        <p:cNvGrpSpPr/>
        <p:nvPr/>
      </p:nvGrpSpPr>
      <p:grpSpPr>
        <a:xfrm>
          <a:off x="0" y="0"/>
          <a:ext cx="0" cy="0"/>
          <a:chOff x="0" y="0"/>
          <a:chExt cx="0" cy="0"/>
        </a:xfrm>
      </p:grpSpPr>
      <p:sp>
        <p:nvSpPr>
          <p:cNvPr id="34" name="Google Shape;3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 name="Google Shape;3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600"/>
              <a:t>Underneath everything, there's one trick: predict the next token. A token is roughly a word piece — "prediction" might split into "pre", "dict", "ion". The model sees everything that came before, computes a probability distribution over the next token, samples one, and loops. No master plan in advance — the whole answer emerges one token at a time. Pause on what that actually requires. To predict well across the entire space of human text — physics, history, code, jurisprudence, lab notes — the network has nowhere to keep a lookup table. The space of possible continuations is combinatorially explosive. The only way to do well at this task is to compress — to find the regularities in the data and encode them. And the regularities in human-generated text are not artefacts of language; they are the regularities of the world that produced the text. Physical, social, mathematical, linguistic. So a sufficiently good next-token predictor is forced, by the geometry of its task, to build internal models of the world. Compression and understanding are two sides of the same coin — that's the algorithmic-information / Kolmogorov view. This is why the "stochastic parrot" framing of LLMs misses the point. A parrot copies sequences; it does not compress them into models. An LLM that merely parroted would have plateaued at GPT-2 — the empirical fact that scale keeps yielding qualitatively new behaviors is evidence that the network is finding ever deeper, more compressive abstractions. The models aren't perfect, and we'll get to their failure modes, but they are models. The argument that "it's just statistics" usually comes from people who don't take statistics — or compression — seriously enough.</a:t>
            </a:r>
            <a:endParaRPr sz="1600"/>
          </a:p>
          <a:p>
            <a:pPr indent="0" lvl="0" marL="0" rtl="0" algn="l">
              <a:spcBef>
                <a:spcPts val="0"/>
              </a:spcBef>
              <a:spcAft>
                <a:spcPts val="0"/>
              </a:spcAft>
              <a:buNone/>
            </a:pPr>
            <a:r>
              <a:t/>
            </a:r>
            <a:endParaRPr sz="1600"/>
          </a:p>
        </p:txBody>
      </p:sp>
      <p:sp>
        <p:nvSpPr>
          <p:cNvPr id="36" name="Google Shape;3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dac1707510_0_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72" name="Google Shape;72;g3dac1707510_0_3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400"/>
              <a:t>Quick aside before we get into weights. I want to head off the most common pushback you'll hear about LLMs: "It's just statistics. It's a stochastic parrot." Three lines from information theory dispatch that argument cleanly.</a:t>
            </a:r>
            <a:endParaRPr sz="1400"/>
          </a:p>
          <a:p>
            <a:pPr indent="0" lvl="0" marL="0" rtl="0" algn="l">
              <a:lnSpc>
                <a:spcPct val="115000"/>
              </a:lnSpc>
              <a:spcBef>
                <a:spcPts val="1200"/>
              </a:spcBef>
              <a:spcAft>
                <a:spcPts val="0"/>
              </a:spcAft>
              <a:buClr>
                <a:schemeClr val="dk1"/>
              </a:buClr>
              <a:buSzPts val="1100"/>
              <a:buFont typeface="Arial"/>
              <a:buNone/>
            </a:pPr>
            <a:r>
              <a:rPr lang="en-US" sz="1400"/>
              <a:t>Step one. Predicting the next token at scale is, mathematically, the same task as compression. Shannon, Kolmogorov, Solomonoff — all of classical information theory says: minimizing prediction error on a corpus equals maximizing how compactly you can encode it. There is no lookup table that could substitute, because the space of plausible continuations across all human text is combinatorially explosive. The model has no choice but to compress.</a:t>
            </a:r>
            <a:endParaRPr sz="1400"/>
          </a:p>
          <a:p>
            <a:pPr indent="0" lvl="0" marL="0" rtl="0" algn="l">
              <a:lnSpc>
                <a:spcPct val="115000"/>
              </a:lnSpc>
              <a:spcBef>
                <a:spcPts val="1200"/>
              </a:spcBef>
              <a:spcAft>
                <a:spcPts val="0"/>
              </a:spcAft>
              <a:buClr>
                <a:schemeClr val="dk1"/>
              </a:buClr>
              <a:buSzPts val="1100"/>
              <a:buFont typeface="Arial"/>
              <a:buNone/>
            </a:pPr>
            <a:r>
              <a:rPr lang="en-US" sz="1400"/>
              <a:t>Step two. The data being compressed is human-generated text — and the regularities in that text are not artefacts of language. They're the regularities of the world that produced the text: physical, social, mathematical, linguistic. To compress them well, the network has to encode them.</a:t>
            </a:r>
            <a:endParaRPr sz="1400"/>
          </a:p>
          <a:p>
            <a:pPr indent="0" lvl="0" marL="0" rtl="0" algn="l">
              <a:lnSpc>
                <a:spcPct val="115000"/>
              </a:lnSpc>
              <a:spcBef>
                <a:spcPts val="1200"/>
              </a:spcBef>
              <a:spcAft>
                <a:spcPts val="0"/>
              </a:spcAft>
              <a:buClr>
                <a:schemeClr val="dk1"/>
              </a:buClr>
              <a:buSzPts val="1100"/>
              <a:buFont typeface="Arial"/>
              <a:buNone/>
            </a:pPr>
            <a:r>
              <a:rPr lang="en-US" sz="1400"/>
              <a:t>Therefore — and this follows: a competent next-token predictor is, by the geometry of its training task, a (lossy, imperfect, sometimes confidently wrong) model of the world. A parrot copies without compressing. Scale doesn't produce parrots — it produces increasingly compressive abstractions. That's why scaling keeps working, and it's why this deck spends time on context engineering: you're shaping how the model uses its world-model, not patching one in.</a:t>
            </a:r>
            <a:endParaRPr sz="1400"/>
          </a:p>
          <a:p>
            <a:pPr indent="0" lvl="0" marL="0" rtl="0" algn="l">
              <a:spcBef>
                <a:spcPts val="1200"/>
              </a:spcBef>
              <a:spcAft>
                <a:spcPts val="0"/>
              </a:spcAft>
              <a:buNone/>
            </a:pPr>
            <a:r>
              <a:t/>
            </a:r>
            <a:endParaRPr sz="1400"/>
          </a:p>
        </p:txBody>
      </p:sp>
      <p:sp>
        <p:nvSpPr>
          <p:cNvPr id="73" name="Google Shape;73;g3dac1707510_0_3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 name="Google Shape;7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600"/>
              <a:t>Every line on this diagram has one number on it — that's a weight. A modern LLM has roughly 10 to the 11 of them. Hundreds of billions. Training is the process of nudging all those numbers until the outputs get good. When you 'run' the model you're doing matrix multiplications with those numbers. There's no symbolic logic — just numbers learned and a handful of operation. That's the entire substrate.  A neural network </a:t>
            </a:r>
            <a:r>
              <a:rPr lang="en-US" sz="1600"/>
              <a:t>graph</a:t>
            </a:r>
            <a:r>
              <a:rPr lang="en-US" sz="1600"/>
              <a:t> that has learned to predict the next token after a long sentence. I have of course </a:t>
            </a:r>
            <a:r>
              <a:rPr lang="en-US" sz="1600"/>
              <a:t>hidden</a:t>
            </a:r>
            <a:r>
              <a:rPr lang="en-US" sz="1600"/>
              <a:t> some important (crucial) details, like how words are </a:t>
            </a:r>
            <a:r>
              <a:rPr lang="en-US" sz="1600"/>
              <a:t>translate</a:t>
            </a:r>
            <a:r>
              <a:rPr lang="en-US" sz="1600"/>
              <a:t> into numbers (you cannot multiply letters!), a process called “embedding”.</a:t>
            </a:r>
            <a:endParaRPr sz="1600"/>
          </a:p>
        </p:txBody>
      </p:sp>
      <p:sp>
        <p:nvSpPr>
          <p:cNvPr id="79" name="Google Shape;7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600">
                <a:latin typeface="Arial"/>
                <a:ea typeface="Arial"/>
                <a:cs typeface="Arial"/>
                <a:sym typeface="Arial"/>
              </a:rPr>
              <a:t>Step one of training: dump trillions of tokens of text into the model — web, books, papers, code — and ask it to predict the next token, over and over. The objective is shockingly mundane. But from that simple goal, language, reasoning, and code understanding emerge. They must: it would otherwise be impossible to predict the next token with finite resources (combinatorics are crazy)! The answer: the model compresses, it implicitly encode a World Model (a mathematical beast).  Predict-next-token" is not an arbitrary objective. Information-theoretically, minimizing prediction error on a corpus is maximizing the compression of that corpus. So pretraining is, mathematically, a compression task. World models are not a goal of training — they are an unavoidable side-effect of doing the compression well. Today the process is very inefficient and the cost is enormous: large GPU clusters running for weeks to months. The output is the </a:t>
            </a:r>
            <a:r>
              <a:rPr i="1" lang="en-US" sz="1600">
                <a:latin typeface="Arial"/>
                <a:ea typeface="Arial"/>
                <a:cs typeface="Arial"/>
                <a:sym typeface="Arial"/>
              </a:rPr>
              <a:t>base model</a:t>
            </a:r>
            <a:r>
              <a:rPr lang="en-US" sz="1600">
                <a:latin typeface="Arial"/>
                <a:ea typeface="Arial"/>
                <a:cs typeface="Arial"/>
                <a:sym typeface="Arial"/>
              </a:rPr>
              <a:t>. It knows a lot, but it isn't yet polite, helpful, or honest. Talking to a raw base model is a strange experience. This is no small part due to the fact that most of the text it has seen is terrible, gibberish from the internet with some </a:t>
            </a:r>
            <a:r>
              <a:rPr lang="en-US" sz="1600">
                <a:latin typeface="Arial"/>
                <a:ea typeface="Arial"/>
                <a:cs typeface="Arial"/>
                <a:sym typeface="Arial"/>
              </a:rPr>
              <a:t>useful</a:t>
            </a:r>
            <a:r>
              <a:rPr lang="en-US" sz="1600">
                <a:latin typeface="Arial"/>
                <a:ea typeface="Arial"/>
                <a:cs typeface="Arial"/>
                <a:sym typeface="Arial"/>
              </a:rPr>
              <a:t> stuff. </a:t>
            </a:r>
            <a:endParaRPr sz="1600"/>
          </a:p>
        </p:txBody>
      </p:sp>
      <p:sp>
        <p:nvSpPr>
          <p:cNvPr id="188" name="Google Shape;18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7" name="Google Shape;21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600">
                <a:latin typeface="Arial"/>
                <a:ea typeface="Arial"/>
                <a:cs typeface="Arial"/>
                <a:sym typeface="Arial"/>
              </a:rPr>
              <a:t>Step two turns the base model into something you'd actually want to talk to. Humans rank pairs of answers — 'this one is better than that one.' A small </a:t>
            </a:r>
            <a:r>
              <a:rPr i="1" lang="en-US" sz="1600">
                <a:latin typeface="Arial"/>
                <a:ea typeface="Arial"/>
                <a:cs typeface="Arial"/>
                <a:sym typeface="Arial"/>
              </a:rPr>
              <a:t>reward model</a:t>
            </a:r>
            <a:r>
              <a:rPr lang="en-US" sz="1600">
                <a:latin typeface="Arial"/>
                <a:ea typeface="Arial"/>
                <a:cs typeface="Arial"/>
                <a:sym typeface="Arial"/>
              </a:rPr>
              <a:t> learns those rankings. Then we fine-tune the LLM with reinforcement learning to maximize that reward. Anthropic adds a twist called Constitutional AI: instead of only human ranking, the model critiques itself against a written constitution of principles. That's a big part of why Claude tends to be honest about uncertainty and careful about safety.</a:t>
            </a:r>
            <a:endParaRPr sz="1600"/>
          </a:p>
        </p:txBody>
      </p:sp>
      <p:sp>
        <p:nvSpPr>
          <p:cNvPr id="218" name="Google Shape;218;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2" name="Google Shape;24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600">
                <a:latin typeface="Arial"/>
                <a:ea typeface="Arial"/>
                <a:cs typeface="Arial"/>
                <a:sym typeface="Arial"/>
              </a:rPr>
              <a:t>This is the most important slide in the deck — pause on it. The model has </a:t>
            </a:r>
            <a:r>
              <a:rPr b="1" lang="en-US" sz="1600">
                <a:latin typeface="Arial"/>
                <a:ea typeface="Arial"/>
                <a:cs typeface="Arial"/>
                <a:sym typeface="Arial"/>
              </a:rPr>
              <a:t>two parts</a:t>
            </a:r>
            <a:r>
              <a:rPr lang="en-US" sz="1600">
                <a:latin typeface="Arial"/>
                <a:ea typeface="Arial"/>
                <a:cs typeface="Arial"/>
                <a:sym typeface="Arial"/>
              </a:rPr>
              <a:t> working together. On the left, </a:t>
            </a:r>
            <a:r>
              <a:rPr b="1" lang="en-US" sz="1600">
                <a:latin typeface="Arial"/>
                <a:ea typeface="Arial"/>
                <a:cs typeface="Arial"/>
                <a:sym typeface="Arial"/>
              </a:rPr>
              <a:t>frozen weights</a:t>
            </a:r>
            <a:r>
              <a:rPr lang="en-US" sz="1600">
                <a:latin typeface="Arial"/>
                <a:ea typeface="Arial"/>
                <a:cs typeface="Arial"/>
                <a:sym typeface="Arial"/>
              </a:rPr>
              <a:t> — what was baked in at training. They don't change between conversations. On the right, </a:t>
            </a:r>
            <a:r>
              <a:rPr b="1" lang="en-US" sz="1600">
                <a:latin typeface="Arial"/>
                <a:ea typeface="Arial"/>
                <a:cs typeface="Arial"/>
                <a:sym typeface="Arial"/>
              </a:rPr>
              <a:t>your markdown</a:t>
            </a:r>
            <a:r>
              <a:rPr lang="en-US" sz="1600">
                <a:latin typeface="Arial"/>
                <a:ea typeface="Arial"/>
                <a:cs typeface="Arial"/>
                <a:sym typeface="Arial"/>
              </a:rPr>
              <a:t> — CLAUDE.md, SKILL.md, your message. Read fresh every single time you hit enter. So when you write a CLAUDE.md or a Project instruction, you are </a:t>
            </a:r>
            <a:r>
              <a:rPr i="1" lang="en-US" sz="1600">
                <a:latin typeface="Arial"/>
                <a:ea typeface="Arial"/>
                <a:cs typeface="Arial"/>
                <a:sym typeface="Arial"/>
              </a:rPr>
              <a:t>not</a:t>
            </a:r>
            <a:r>
              <a:rPr lang="en-US" sz="1600">
                <a:latin typeface="Arial"/>
                <a:ea typeface="Arial"/>
                <a:cs typeface="Arial"/>
                <a:sym typeface="Arial"/>
              </a:rPr>
              <a:t> retraining anything — you're shaping the context the frozen model reads. That distinction is the whole leverage point of using Claude well at NE.</a:t>
            </a:r>
            <a:endParaRPr sz="1600"/>
          </a:p>
        </p:txBody>
      </p:sp>
      <p:sp>
        <p:nvSpPr>
          <p:cNvPr id="243" name="Google Shape;243;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dac1707510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3dac1707510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400">
                <a:latin typeface="Arial"/>
                <a:ea typeface="Arial"/>
                <a:cs typeface="Arial"/>
                <a:sym typeface="Arial"/>
              </a:rPr>
              <a:t>Here's a subtlety worth pausing on. The model itself has </a:t>
            </a:r>
            <a:r>
              <a:rPr i="1" lang="en-US" sz="1400">
                <a:latin typeface="Arial"/>
                <a:ea typeface="Arial"/>
                <a:cs typeface="Arial"/>
                <a:sym typeface="Arial"/>
              </a:rPr>
              <a:t>no</a:t>
            </a:r>
            <a:r>
              <a:rPr lang="en-US" sz="1400">
                <a:latin typeface="Arial"/>
                <a:ea typeface="Arial"/>
                <a:cs typeface="Arial"/>
                <a:sym typeface="Arial"/>
              </a:rPr>
              <a:t> memory — it is stateless. Every time you hit enter, the application around the model — Cowork, Claude Code, claude.ai — rebuilds the entire context from scratch and sends it as one big blob: the system prompt, your CLAUDE dot md, the conversation so far, any tool outputs, and your new message. The model reads it, predicts the next tokens, and forgets. The application then appends the reply to its conversation log and, on your next turn, sends the whole thing again — slightly longer this time. So "context" isn't something the model </a:t>
            </a:r>
            <a:r>
              <a:rPr i="1" lang="en-US" sz="1400">
                <a:latin typeface="Arial"/>
                <a:ea typeface="Arial"/>
                <a:cs typeface="Arial"/>
                <a:sym typeface="Arial"/>
              </a:rPr>
              <a:t>has</a:t>
            </a:r>
            <a:r>
              <a:rPr lang="en-US" sz="1400">
                <a:latin typeface="Arial"/>
                <a:ea typeface="Arial"/>
                <a:cs typeface="Arial"/>
                <a:sym typeface="Arial"/>
              </a:rPr>
              <a:t>; it's something the application </a:t>
            </a:r>
            <a:r>
              <a:rPr i="1" lang="en-US" sz="1400">
                <a:latin typeface="Arial"/>
                <a:ea typeface="Arial"/>
                <a:cs typeface="Arial"/>
                <a:sym typeface="Arial"/>
              </a:rPr>
              <a:t>reconstructs and resends</a:t>
            </a:r>
            <a:r>
              <a:rPr lang="en-US" sz="1400">
                <a:latin typeface="Arial"/>
                <a:ea typeface="Arial"/>
                <a:cs typeface="Arial"/>
                <a:sym typeface="Arial"/>
              </a:rPr>
              <a:t> on every API call. </a:t>
            </a:r>
            <a:r>
              <a:rPr b="1" lang="en-US" sz="1400">
                <a:latin typeface="Arial"/>
                <a:ea typeface="Arial"/>
                <a:cs typeface="Arial"/>
                <a:sym typeface="Arial"/>
              </a:rPr>
              <a:t>Memory lives in the application, not the model. </a:t>
            </a:r>
            <a:r>
              <a:rPr lang="en-US" sz="1400">
                <a:latin typeface="Arial"/>
                <a:ea typeface="Arial"/>
                <a:cs typeface="Arial"/>
                <a:sym typeface="Arial"/>
              </a:rPr>
              <a:t>This explains four practical things: l</a:t>
            </a:r>
            <a:r>
              <a:rPr b="1" lang="en-US" sz="1400">
                <a:latin typeface="Arial"/>
                <a:ea typeface="Arial"/>
                <a:cs typeface="Arial"/>
                <a:sym typeface="Arial"/>
              </a:rPr>
              <a:t>ong conversations get expensive</a:t>
            </a:r>
            <a:r>
              <a:rPr lang="en-US" sz="1400">
                <a:latin typeface="Arial"/>
                <a:ea typeface="Arial"/>
                <a:cs typeface="Arial"/>
                <a:sym typeface="Arial"/>
              </a:rPr>
              <a:t> because every turn re-sends the full history; the context window is the size cap on that one blob; editing CLAUDE.md mid-session has no effect because the app already cached the disk copy at session start; </a:t>
            </a:r>
            <a:r>
              <a:rPr b="1" lang="en-US" sz="1400">
                <a:latin typeface="Arial"/>
                <a:ea typeface="Arial"/>
                <a:cs typeface="Arial"/>
                <a:sym typeface="Arial"/>
              </a:rPr>
              <a:t>and "memory" in Claude is implemented as files</a:t>
            </a:r>
            <a:r>
              <a:rPr lang="en-US" sz="1400">
                <a:latin typeface="Arial"/>
                <a:ea typeface="Arial"/>
                <a:cs typeface="Arial"/>
                <a:sym typeface="Arial"/>
              </a:rPr>
              <a:t>, because files are the only thing the app can re-read and re-inject next time.</a:t>
            </a:r>
            <a:endParaRPr sz="1500"/>
          </a:p>
        </p:txBody>
      </p:sp>
      <p:sp>
        <p:nvSpPr>
          <p:cNvPr id="296" name="Google Shape;296;g3dac1707510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2" name="Google Shape;30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600">
                <a:latin typeface="Arial"/>
                <a:ea typeface="Arial"/>
                <a:cs typeface="Arial"/>
                <a:sym typeface="Arial"/>
              </a:rPr>
              <a:t>Quick detour, because we keep saying 'markdown.' It's a 2004 invention by John Gruber and Aaron Swartz — plain text plus a few conventions: </a:t>
            </a:r>
            <a:r>
              <a:rPr lang="en-US" sz="1600">
                <a:solidFill>
                  <a:srgbClr val="188038"/>
                </a:solidFill>
                <a:latin typeface="Roboto Mono"/>
                <a:ea typeface="Roboto Mono"/>
                <a:cs typeface="Roboto Mono"/>
                <a:sym typeface="Roboto Mono"/>
              </a:rPr>
              <a:t>#</a:t>
            </a:r>
            <a:r>
              <a:rPr lang="en-US" sz="1600">
                <a:latin typeface="Arial"/>
                <a:ea typeface="Arial"/>
                <a:cs typeface="Arial"/>
                <a:sym typeface="Arial"/>
              </a:rPr>
              <a:t> for headings, </a:t>
            </a:r>
            <a:r>
              <a:rPr lang="en-US" sz="1600">
                <a:solidFill>
                  <a:srgbClr val="188038"/>
                </a:solidFill>
                <a:latin typeface="Roboto Mono"/>
                <a:ea typeface="Roboto Mono"/>
                <a:cs typeface="Roboto Mono"/>
                <a:sym typeface="Roboto Mono"/>
              </a:rPr>
              <a:t>-</a:t>
            </a:r>
            <a:r>
              <a:rPr lang="en-US" sz="1600">
                <a:latin typeface="Arial"/>
                <a:ea typeface="Arial"/>
                <a:cs typeface="Arial"/>
                <a:sym typeface="Arial"/>
              </a:rPr>
              <a:t> for lists, </a:t>
            </a:r>
            <a:r>
              <a:rPr lang="en-US" sz="1600">
                <a:solidFill>
                  <a:srgbClr val="188038"/>
                </a:solidFill>
                <a:latin typeface="Roboto Mono"/>
                <a:ea typeface="Roboto Mono"/>
                <a:cs typeface="Roboto Mono"/>
                <a:sym typeface="Roboto Mono"/>
              </a:rPr>
              <a:t>**bold**</a:t>
            </a:r>
            <a:r>
              <a:rPr lang="en-US" sz="1600">
                <a:latin typeface="Arial"/>
                <a:ea typeface="Arial"/>
                <a:cs typeface="Arial"/>
                <a:sym typeface="Arial"/>
              </a:rPr>
              <a:t>. Why does AI love it? It's everywhere in the training data — GitHub READMEs, docs, blogs, Stack Overflow — so the model has internalized it. It tokenizes cleanly so structure survives. Humans can read it raw; machines can parse it in one line. If Claude had a native file format, this is it.</a:t>
            </a:r>
            <a:endParaRPr sz="1600"/>
          </a:p>
        </p:txBody>
      </p:sp>
      <p:sp>
        <p:nvSpPr>
          <p:cNvPr id="303" name="Google Shape;303;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7" name="Google Shape;32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600"/>
              <a:t>When you send a message, the model doesn't just see the message. Behind it is a stack: Anthropic's system prompt at the bottom, then your global CLAUDE.md, then the project CLAUDE.md, then any active skills, then conversation history, then your message at the top. All of it gets concatenated into one big string and that's the prompt. Top of the stack = more specific = usually wins when there's a conflict. A 'Project' on claude.ai is just a shared CLAUDE.md plus uploaded files that anyone on the project inherits. Once you internalize this picture, prompt engineering stops being magic and becomes 'design the stack.'</a:t>
            </a:r>
            <a:endParaRPr sz="1600"/>
          </a:p>
        </p:txBody>
      </p:sp>
      <p:sp>
        <p:nvSpPr>
          <p:cNvPr id="328" name="Google Shape;328;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d8f30b4ba6_1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3d8f30b4ba6_1_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800"/>
              <a:t>Here are some example context files used by Claude: it is a hierarchical system!</a:t>
            </a:r>
            <a:endParaRPr sz="1800"/>
          </a:p>
        </p:txBody>
      </p:sp>
      <p:sp>
        <p:nvSpPr>
          <p:cNvPr id="364" name="Google Shape;364;g3d8f30b4ba6_1_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1" name="Google Shape;371;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600">
                <a:latin typeface="Arial"/>
                <a:ea typeface="Arial"/>
                <a:cs typeface="Arial"/>
                <a:sym typeface="Arial"/>
              </a:rPr>
              <a:t>Two ways Claude is extended beyond pure text generation. </a:t>
            </a:r>
            <a:r>
              <a:rPr b="1" lang="en-US" sz="1600">
                <a:latin typeface="Arial"/>
                <a:ea typeface="Arial"/>
                <a:cs typeface="Arial"/>
                <a:sym typeface="Arial"/>
              </a:rPr>
              <a:t>Skills</a:t>
            </a:r>
            <a:r>
              <a:rPr lang="en-US" sz="1600">
                <a:latin typeface="Arial"/>
                <a:ea typeface="Arial"/>
                <a:cs typeface="Arial"/>
                <a:sym typeface="Arial"/>
              </a:rPr>
              <a:t> are reusable instruction folders — basically a recipe Claude reads when the task matches the description. There's a </a:t>
            </a:r>
            <a:r>
              <a:rPr lang="en-US" sz="1600">
                <a:solidFill>
                  <a:srgbClr val="188038"/>
                </a:solidFill>
                <a:latin typeface="Roboto Mono"/>
                <a:ea typeface="Roboto Mono"/>
                <a:cs typeface="Roboto Mono"/>
                <a:sym typeface="Roboto Mono"/>
              </a:rPr>
              <a:t>pptx</a:t>
            </a:r>
            <a:r>
              <a:rPr lang="en-US" sz="1600">
                <a:latin typeface="Arial"/>
                <a:ea typeface="Arial"/>
                <a:cs typeface="Arial"/>
                <a:sym typeface="Arial"/>
              </a:rPr>
              <a:t> skill for slides, </a:t>
            </a:r>
            <a:r>
              <a:rPr lang="en-US" sz="1600">
                <a:solidFill>
                  <a:srgbClr val="188038"/>
                </a:solidFill>
                <a:latin typeface="Roboto Mono"/>
                <a:ea typeface="Roboto Mono"/>
                <a:cs typeface="Roboto Mono"/>
                <a:sym typeface="Roboto Mono"/>
              </a:rPr>
              <a:t>xlsx</a:t>
            </a:r>
            <a:r>
              <a:rPr lang="en-US" sz="1600">
                <a:latin typeface="Arial"/>
                <a:ea typeface="Arial"/>
                <a:cs typeface="Arial"/>
                <a:sym typeface="Arial"/>
              </a:rPr>
              <a:t> for spreadsheets, </a:t>
            </a:r>
            <a:r>
              <a:rPr lang="en-US" sz="1600">
                <a:solidFill>
                  <a:srgbClr val="188038"/>
                </a:solidFill>
                <a:latin typeface="Roboto Mono"/>
                <a:ea typeface="Roboto Mono"/>
                <a:cs typeface="Roboto Mono"/>
                <a:sym typeface="Roboto Mono"/>
              </a:rPr>
              <a:t>pdf</a:t>
            </a:r>
            <a:r>
              <a:rPr lang="en-US" sz="1600">
                <a:latin typeface="Arial"/>
                <a:ea typeface="Arial"/>
                <a:cs typeface="Arial"/>
                <a:sym typeface="Arial"/>
              </a:rPr>
              <a:t>, </a:t>
            </a:r>
            <a:r>
              <a:rPr lang="en-US" sz="1600">
                <a:solidFill>
                  <a:srgbClr val="188038"/>
                </a:solidFill>
                <a:latin typeface="Roboto Mono"/>
                <a:ea typeface="Roboto Mono"/>
                <a:cs typeface="Roboto Mono"/>
                <a:sym typeface="Roboto Mono"/>
              </a:rPr>
              <a:t>canvas-design</a:t>
            </a:r>
            <a:r>
              <a:rPr lang="en-US" sz="1600">
                <a:latin typeface="Arial"/>
                <a:ea typeface="Arial"/>
                <a:cs typeface="Arial"/>
                <a:sym typeface="Arial"/>
              </a:rPr>
              <a:t>, and others. They load on demand — Claude doesn't carry them all in working memory. </a:t>
            </a:r>
            <a:r>
              <a:rPr b="1" lang="en-US" sz="1600">
                <a:latin typeface="Arial"/>
                <a:ea typeface="Arial"/>
                <a:cs typeface="Arial"/>
                <a:sym typeface="Arial"/>
              </a:rPr>
              <a:t>Tools and MCP</a:t>
            </a:r>
            <a:r>
              <a:rPr lang="en-US" sz="1600">
                <a:latin typeface="Arial"/>
                <a:ea typeface="Arial"/>
                <a:cs typeface="Arial"/>
                <a:sym typeface="Arial"/>
              </a:rPr>
              <a:t> are functions Claude can actually call: read a file, search the web, query Gmail, hit our internal API. MCP is the standard — think of it as USB-C for AI — any compliant service plugs in. NE-relevant punchline: we can write our own. A DHF-drafting skill, an Enobio-data MCP, a NIC log analyzer — all well within scope.</a:t>
            </a:r>
            <a:endParaRPr sz="1600"/>
          </a:p>
        </p:txBody>
      </p:sp>
      <p:sp>
        <p:nvSpPr>
          <p:cNvPr id="372" name="Google Shape;372;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4" name="Google Shape;394;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800"/>
              <a:t>A sandbox is an isolated, disposable environment. Separate filesystem. State wiped between sessions. Restricted network — no secrets or keys exposed. Whatever code runs inside can't reach the host. Think of a locked workshop on a factory floor: Claude can build things, test them, even break them — and the rest of the building stays safe.</a:t>
            </a:r>
            <a:endParaRPr sz="1800"/>
          </a:p>
        </p:txBody>
      </p:sp>
      <p:sp>
        <p:nvSpPr>
          <p:cNvPr id="395" name="Google Shape;395;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2" name="Google Shape;422;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700">
                <a:latin typeface="Arial"/>
                <a:ea typeface="Arial"/>
                <a:cs typeface="Arial"/>
                <a:sym typeface="Arial"/>
              </a:rPr>
              <a:t>Two flavors. </a:t>
            </a:r>
            <a:r>
              <a:rPr b="1" lang="en-US" sz="1700">
                <a:latin typeface="Arial"/>
                <a:ea typeface="Arial"/>
                <a:cs typeface="Arial"/>
                <a:sym typeface="Arial"/>
              </a:rPr>
              <a:t>Chat</a:t>
            </a:r>
            <a:r>
              <a:rPr lang="en-US" sz="1700">
                <a:latin typeface="Arial"/>
                <a:ea typeface="Arial"/>
                <a:cs typeface="Arial"/>
                <a:sym typeface="Arial"/>
              </a:rPr>
              <a:t> — claude.ai in the browser — runs in a sandbox on Anthropic's servers. Files you upload get copied in, anything Claude creates gets downloaded back. State resets between conversations unless you use Projects. Great for drafting, Q&amp;A, quick code, research. </a:t>
            </a:r>
            <a:r>
              <a:rPr b="1" lang="en-US" sz="1700">
                <a:latin typeface="Arial"/>
                <a:ea typeface="Arial"/>
                <a:cs typeface="Arial"/>
                <a:sym typeface="Arial"/>
              </a:rPr>
              <a:t>File-native Claude</a:t>
            </a:r>
            <a:r>
              <a:rPr lang="en-US" sz="1700">
                <a:latin typeface="Arial"/>
                <a:ea typeface="Arial"/>
                <a:cs typeface="Arial"/>
                <a:sym typeface="Arial"/>
              </a:rPr>
              <a:t> — that's Claude Code, Cowork, and the agent panel inside the desktop app — runs a sandbox </a:t>
            </a:r>
            <a:r>
              <a:rPr b="1" lang="en-US" sz="1700">
                <a:latin typeface="Arial"/>
                <a:ea typeface="Arial"/>
                <a:cs typeface="Arial"/>
                <a:sym typeface="Arial"/>
              </a:rPr>
              <a:t>locally</a:t>
            </a:r>
            <a:r>
              <a:rPr lang="en-US" sz="1700">
                <a:latin typeface="Arial"/>
                <a:ea typeface="Arial"/>
                <a:cs typeface="Arial"/>
                <a:sym typeface="Arial"/>
              </a:rPr>
              <a:t>, bound to a folder you pick. It reads and edits your actual files, runs code, talks to MCP connectors. Memory persists inside that folder. Different surfaces, one underlying architecture. Rule of thumb: chat is a whiteboard; file-native is a workshop in your actual office.</a:t>
            </a:r>
            <a:endParaRPr sz="1700"/>
          </a:p>
        </p:txBody>
      </p:sp>
      <p:sp>
        <p:nvSpPr>
          <p:cNvPr id="423" name="Google Shape;423;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0" name="Google Shape;450;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700">
                <a:latin typeface="Arial"/>
                <a:ea typeface="Arial"/>
                <a:cs typeface="Arial"/>
                <a:sym typeface="Arial"/>
              </a:rPr>
              <a:t>Four things to walk out with. </a:t>
            </a:r>
            <a:r>
              <a:rPr b="1" lang="en-US" sz="1700">
                <a:latin typeface="Arial"/>
                <a:ea typeface="Arial"/>
                <a:cs typeface="Arial"/>
                <a:sym typeface="Arial"/>
              </a:rPr>
              <a:t>One:</a:t>
            </a:r>
            <a:r>
              <a:rPr lang="en-US" sz="1700">
                <a:latin typeface="Arial"/>
                <a:ea typeface="Arial"/>
                <a:cs typeface="Arial"/>
                <a:sym typeface="Arial"/>
              </a:rPr>
              <a:t> it's a next-token predictor — sophisticated autocomplete, no homunculus. </a:t>
            </a:r>
            <a:r>
              <a:rPr b="1" lang="en-US" sz="1700">
                <a:latin typeface="Arial"/>
                <a:ea typeface="Arial"/>
                <a:cs typeface="Arial"/>
                <a:sym typeface="Arial"/>
              </a:rPr>
              <a:t>Two:</a:t>
            </a:r>
            <a:r>
              <a:rPr lang="en-US" sz="1700">
                <a:latin typeface="Arial"/>
                <a:ea typeface="Arial"/>
                <a:cs typeface="Arial"/>
                <a:sym typeface="Arial"/>
              </a:rPr>
              <a:t> every answer is shaped by the context stack, not just your message — that's your leverage. </a:t>
            </a:r>
            <a:r>
              <a:rPr b="1" lang="en-US" sz="1700">
                <a:latin typeface="Arial"/>
                <a:ea typeface="Arial"/>
                <a:cs typeface="Arial"/>
                <a:sym typeface="Arial"/>
              </a:rPr>
              <a:t>Three:</a:t>
            </a:r>
            <a:r>
              <a:rPr lang="en-US" sz="1700">
                <a:latin typeface="Arial"/>
                <a:ea typeface="Arial"/>
                <a:cs typeface="Arial"/>
                <a:sym typeface="Arial"/>
              </a:rPr>
              <a:t> Chat is server-side; Code, Cowork, and the agent panel are one shared file-native architecture. </a:t>
            </a:r>
            <a:r>
              <a:rPr b="1" lang="en-US" sz="1700">
                <a:latin typeface="Arial"/>
                <a:ea typeface="Arial"/>
                <a:cs typeface="Arial"/>
                <a:sym typeface="Arial"/>
              </a:rPr>
              <a:t>Four:</a:t>
            </a:r>
            <a:r>
              <a:rPr lang="en-US" sz="1700">
                <a:latin typeface="Arial"/>
                <a:ea typeface="Arial"/>
                <a:cs typeface="Arial"/>
                <a:sym typeface="Arial"/>
              </a:rPr>
              <a:t> Skills and MCP are where NE's leverage grows — that's where we build our own toolbox around devices, protocols, and the DHF pipeline. </a:t>
            </a:r>
            <a:r>
              <a:rPr b="1" lang="en-US" sz="1700">
                <a:latin typeface="Arial"/>
                <a:ea typeface="Arial"/>
                <a:cs typeface="Arial"/>
                <a:sym typeface="Arial"/>
              </a:rPr>
              <a:t>Five</a:t>
            </a:r>
            <a:r>
              <a:rPr lang="en-US" sz="1700">
                <a:latin typeface="Arial"/>
                <a:ea typeface="Arial"/>
                <a:cs typeface="Arial"/>
                <a:sym typeface="Arial"/>
              </a:rPr>
              <a:t>: Finally, "It's just statistics" misses the point. A predictor that good must compress; a compressor that good must model. The frozen weights are an implicit world-model — that's what makes the prompt stack worth designing.Further reading is on the slide. Questions? </a:t>
            </a:r>
            <a:endParaRPr sz="1700">
              <a:latin typeface="Arial"/>
              <a:ea typeface="Arial"/>
              <a:cs typeface="Arial"/>
              <a:sym typeface="Arial"/>
            </a:endParaRPr>
          </a:p>
          <a:p>
            <a:pPr indent="0" lvl="0" marL="0" rtl="0" algn="l">
              <a:spcBef>
                <a:spcPts val="0"/>
              </a:spcBef>
              <a:spcAft>
                <a:spcPts val="0"/>
              </a:spcAft>
              <a:buNone/>
            </a:pPr>
            <a:r>
              <a:t/>
            </a:r>
            <a:endParaRPr sz="1700">
              <a:latin typeface="Arial"/>
              <a:ea typeface="Arial"/>
              <a:cs typeface="Arial"/>
              <a:sym typeface="Arial"/>
            </a:endParaRPr>
          </a:p>
          <a:p>
            <a:pPr indent="0" lvl="0" marL="0" rtl="0" algn="l">
              <a:spcBef>
                <a:spcPts val="0"/>
              </a:spcBef>
              <a:spcAft>
                <a:spcPts val="0"/>
              </a:spcAft>
              <a:buNone/>
            </a:pPr>
            <a:r>
              <a:t/>
            </a:r>
            <a:endParaRPr sz="1700">
              <a:latin typeface="Arial"/>
              <a:ea typeface="Arial"/>
              <a:cs typeface="Arial"/>
              <a:sym typeface="Arial"/>
            </a:endParaRPr>
          </a:p>
        </p:txBody>
      </p:sp>
      <p:sp>
        <p:nvSpPr>
          <p:cNvPr id="451" name="Google Shape;451;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hyperlink" Target="https://code.claude.com/docs/en/best-practices"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 name="Shape 15"/>
        <p:cNvGrpSpPr/>
        <p:nvPr/>
      </p:nvGrpSpPr>
      <p:grpSpPr>
        <a:xfrm>
          <a:off x="0" y="0"/>
          <a:ext cx="0" cy="0"/>
          <a:chOff x="0" y="0"/>
          <a:chExt cx="0" cy="0"/>
        </a:xfrm>
      </p:grpSpPr>
      <p:sp>
        <p:nvSpPr>
          <p:cNvPr id="16" name="Google Shape;16;p3"/>
          <p:cNvSpPr/>
          <p:nvPr/>
        </p:nvSpPr>
        <p:spPr>
          <a:xfrm>
            <a:off x="0" y="0"/>
            <a:ext cx="4023360" cy="5143500"/>
          </a:xfrm>
          <a:prstGeom prst="rect">
            <a:avLst/>
          </a:prstGeom>
          <a:solidFill>
            <a:srgbClr val="2B5672"/>
          </a:solidFill>
          <a:ln cap="flat" cmpd="sng" w="12700">
            <a:solidFill>
              <a:srgbClr val="2B56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4023360" y="0"/>
            <a:ext cx="73152" cy="5143500"/>
          </a:xfrm>
          <a:prstGeom prst="rect">
            <a:avLst/>
          </a:prstGeom>
          <a:solidFill>
            <a:srgbClr val="ACC9CB"/>
          </a:solidFill>
          <a:ln cap="flat" cmpd="sng" w="12700">
            <a:solidFill>
              <a:srgbClr val="ACC9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457200" y="1371600"/>
            <a:ext cx="3383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CC9CB"/>
              </a:buClr>
              <a:buSzPts val="1000"/>
              <a:buFont typeface="Calibri"/>
              <a:buNone/>
            </a:pPr>
            <a:r>
              <a:rPr b="1" i="0" lang="en-US" sz="1000" u="none" cap="none" strike="noStrike">
                <a:solidFill>
                  <a:srgbClr val="ACC9CB"/>
                </a:solidFill>
                <a:latin typeface="Calibri"/>
                <a:ea typeface="Calibri"/>
                <a:cs typeface="Calibri"/>
                <a:sym typeface="Calibri"/>
              </a:rPr>
              <a:t>INTERNAL · AI LITERACY</a:t>
            </a:r>
            <a:endParaRPr b="0" i="0" sz="1000" u="none" cap="none" strike="noStrike">
              <a:solidFill>
                <a:schemeClr val="dk1"/>
              </a:solidFill>
              <a:latin typeface="Calibri"/>
              <a:ea typeface="Calibri"/>
              <a:cs typeface="Calibri"/>
              <a:sym typeface="Calibri"/>
            </a:endParaRPr>
          </a:p>
        </p:txBody>
      </p:sp>
      <p:sp>
        <p:nvSpPr>
          <p:cNvPr id="19" name="Google Shape;19;p3"/>
          <p:cNvSpPr/>
          <p:nvPr/>
        </p:nvSpPr>
        <p:spPr>
          <a:xfrm>
            <a:off x="457200" y="1691640"/>
            <a:ext cx="3474720" cy="1280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400"/>
              <a:buFont typeface="Georgia"/>
              <a:buNone/>
            </a:pPr>
            <a:r>
              <a:rPr b="1" i="0" lang="en-US" sz="3400" u="none" cap="none" strike="noStrike">
                <a:solidFill>
                  <a:srgbClr val="FFFFFF"/>
                </a:solidFill>
                <a:latin typeface="Georgia"/>
                <a:ea typeface="Georgia"/>
                <a:cs typeface="Georgia"/>
                <a:sym typeface="Georgia"/>
              </a:rPr>
              <a:t>How Claude Works</a:t>
            </a:r>
            <a:endParaRPr b="0" i="0" sz="3400" u="none" cap="none" strike="noStrike">
              <a:solidFill>
                <a:schemeClr val="dk1"/>
              </a:solidFill>
              <a:latin typeface="Calibri"/>
              <a:ea typeface="Calibri"/>
              <a:cs typeface="Calibri"/>
              <a:sym typeface="Calibri"/>
            </a:endParaRPr>
          </a:p>
        </p:txBody>
      </p:sp>
      <p:sp>
        <p:nvSpPr>
          <p:cNvPr id="20" name="Google Shape;20;p3"/>
          <p:cNvSpPr/>
          <p:nvPr/>
        </p:nvSpPr>
        <p:spPr>
          <a:xfrm>
            <a:off x="457200" y="3017520"/>
            <a:ext cx="548640" cy="45720"/>
          </a:xfrm>
          <a:prstGeom prst="rect">
            <a:avLst/>
          </a:prstGeom>
          <a:solidFill>
            <a:srgbClr val="ACC9CB"/>
          </a:solidFill>
          <a:ln cap="flat" cmpd="sng" w="12700">
            <a:solidFill>
              <a:srgbClr val="ACC9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3"/>
          <p:cNvSpPr/>
          <p:nvPr/>
        </p:nvSpPr>
        <p:spPr>
          <a:xfrm>
            <a:off x="457200" y="3154680"/>
            <a:ext cx="347472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CC9CB"/>
              </a:buClr>
              <a:buSzPts val="1300"/>
              <a:buFont typeface="Calibri"/>
              <a:buNone/>
            </a:pPr>
            <a:r>
              <a:rPr b="0" i="1" lang="en-US" sz="1300" u="none" cap="none" strike="noStrike">
                <a:solidFill>
                  <a:srgbClr val="ACC9CB"/>
                </a:solidFill>
                <a:latin typeface="Calibri"/>
                <a:ea typeface="Calibri"/>
                <a:cs typeface="Calibri"/>
                <a:sym typeface="Calibri"/>
              </a:rPr>
              <a:t>A short tour:  LLMs, training, the prompt stack, and sandboxes.</a:t>
            </a:r>
            <a:endParaRPr b="0" i="0" sz="1300" u="none" cap="none" strike="noStrike">
              <a:solidFill>
                <a:schemeClr val="dk1"/>
              </a:solidFill>
              <a:latin typeface="Calibri"/>
              <a:ea typeface="Calibri"/>
              <a:cs typeface="Calibri"/>
              <a:sym typeface="Calibri"/>
            </a:endParaRPr>
          </a:p>
        </p:txBody>
      </p:sp>
      <p:sp>
        <p:nvSpPr>
          <p:cNvPr id="22" name="Google Shape;22;p3"/>
          <p:cNvSpPr/>
          <p:nvPr/>
        </p:nvSpPr>
        <p:spPr>
          <a:xfrm>
            <a:off x="4480560" y="2194560"/>
            <a:ext cx="43891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2121"/>
              </a:buClr>
              <a:buSzPts val="2200"/>
              <a:buFont typeface="Georgia"/>
              <a:buNone/>
            </a:pPr>
            <a:r>
              <a:rPr b="1" i="0" lang="en-US" sz="2200" u="none" cap="none" strike="noStrike">
                <a:solidFill>
                  <a:srgbClr val="212121"/>
                </a:solidFill>
                <a:latin typeface="Georgia"/>
                <a:ea typeface="Georgia"/>
                <a:cs typeface="Georgia"/>
                <a:sym typeface="Georgia"/>
              </a:rPr>
              <a:t>Giulio Ruffini</a:t>
            </a:r>
            <a:endParaRPr b="0" i="0" sz="2200" u="none" cap="none" strike="noStrike">
              <a:solidFill>
                <a:schemeClr val="dk1"/>
              </a:solidFill>
              <a:latin typeface="Calibri"/>
              <a:ea typeface="Calibri"/>
              <a:cs typeface="Calibri"/>
              <a:sym typeface="Calibri"/>
            </a:endParaRPr>
          </a:p>
        </p:txBody>
      </p:sp>
      <p:sp>
        <p:nvSpPr>
          <p:cNvPr id="23" name="Google Shape;23;p3"/>
          <p:cNvSpPr/>
          <p:nvPr/>
        </p:nvSpPr>
        <p:spPr>
          <a:xfrm>
            <a:off x="4480560" y="2606040"/>
            <a:ext cx="43891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25258"/>
              </a:buClr>
              <a:buSzPts val="1200"/>
              <a:buFont typeface="Calibri"/>
              <a:buNone/>
            </a:pPr>
            <a:r>
              <a:rPr b="0" i="0" lang="en-US" sz="1200" u="none" cap="none" strike="noStrike">
                <a:solidFill>
                  <a:srgbClr val="525258"/>
                </a:solidFill>
                <a:latin typeface="Calibri"/>
                <a:ea typeface="Calibri"/>
                <a:cs typeface="Calibri"/>
                <a:sym typeface="Calibri"/>
              </a:rPr>
              <a:t>Neuroelectrics/BCOM/Starlab  ·  April 2026</a:t>
            </a:r>
            <a:endParaRPr b="0" i="0" sz="1200" u="none" cap="none" strike="noStrike">
              <a:solidFill>
                <a:schemeClr val="dk1"/>
              </a:solidFill>
              <a:latin typeface="Calibri"/>
              <a:ea typeface="Calibri"/>
              <a:cs typeface="Calibri"/>
              <a:sym typeface="Calibri"/>
            </a:endParaRPr>
          </a:p>
        </p:txBody>
      </p:sp>
      <p:sp>
        <p:nvSpPr>
          <p:cNvPr id="24" name="Google Shape;24;p3"/>
          <p:cNvSpPr/>
          <p:nvPr/>
        </p:nvSpPr>
        <p:spPr>
          <a:xfrm>
            <a:off x="4480560" y="3063240"/>
            <a:ext cx="73152" cy="73152"/>
          </a:xfrm>
          <a:prstGeom prst="ellipse">
            <a:avLst/>
          </a:prstGeom>
          <a:solidFill>
            <a:srgbClr val="40617A"/>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a:off x="4645152" y="3063240"/>
            <a:ext cx="73152" cy="73152"/>
          </a:xfrm>
          <a:prstGeom prst="ellipse">
            <a:avLst/>
          </a:prstGeom>
          <a:solidFill>
            <a:srgbClr val="40617A"/>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a:off x="4809744" y="3063240"/>
            <a:ext cx="73152" cy="73152"/>
          </a:xfrm>
          <a:prstGeom prst="ellipse">
            <a:avLst/>
          </a:prstGeom>
          <a:solidFill>
            <a:srgbClr val="E5E5E5"/>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a:off x="4974336" y="3063240"/>
            <a:ext cx="73152" cy="73152"/>
          </a:xfrm>
          <a:prstGeom prst="ellipse">
            <a:avLst/>
          </a:prstGeom>
          <a:solidFill>
            <a:srgbClr val="E5E5E5"/>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a:off x="5138928" y="3063240"/>
            <a:ext cx="73152" cy="73152"/>
          </a:xfrm>
          <a:prstGeom prst="ellipse">
            <a:avLst/>
          </a:prstGeom>
          <a:solidFill>
            <a:srgbClr val="E5E5E5"/>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a:off x="5303520" y="3063240"/>
            <a:ext cx="73152" cy="73152"/>
          </a:xfrm>
          <a:prstGeom prst="ellipse">
            <a:avLst/>
          </a:prstGeom>
          <a:solidFill>
            <a:srgbClr val="E5E5E5"/>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0" name="Google Shape;30;p3"/>
          <p:cNvPicPr preferRelativeResize="0"/>
          <p:nvPr/>
        </p:nvPicPr>
        <p:blipFill>
          <a:blip r:embed="rId3">
            <a:alphaModFix/>
          </a:blip>
          <a:stretch>
            <a:fillRect/>
          </a:stretch>
        </p:blipFill>
        <p:spPr>
          <a:xfrm>
            <a:off x="5233926" y="4556875"/>
            <a:ext cx="876901" cy="339450"/>
          </a:xfrm>
          <a:prstGeom prst="rect">
            <a:avLst/>
          </a:prstGeom>
          <a:noFill/>
          <a:ln>
            <a:noFill/>
          </a:ln>
        </p:spPr>
      </p:pic>
      <p:pic>
        <p:nvPicPr>
          <p:cNvPr id="31" name="Google Shape;31;p3"/>
          <p:cNvPicPr preferRelativeResize="0"/>
          <p:nvPr/>
        </p:nvPicPr>
        <p:blipFill>
          <a:blip r:embed="rId4">
            <a:alphaModFix/>
          </a:blip>
          <a:stretch>
            <a:fillRect/>
          </a:stretch>
        </p:blipFill>
        <p:spPr>
          <a:xfrm>
            <a:off x="7372583" y="4372601"/>
            <a:ext cx="1266048" cy="721425"/>
          </a:xfrm>
          <a:prstGeom prst="rect">
            <a:avLst/>
          </a:prstGeom>
          <a:noFill/>
          <a:ln>
            <a:noFill/>
          </a:ln>
        </p:spPr>
      </p:pic>
      <p:pic>
        <p:nvPicPr>
          <p:cNvPr id="32" name="Google Shape;32;p3"/>
          <p:cNvPicPr preferRelativeResize="0"/>
          <p:nvPr/>
        </p:nvPicPr>
        <p:blipFill>
          <a:blip r:embed="rId5">
            <a:alphaModFix/>
          </a:blip>
          <a:stretch>
            <a:fillRect/>
          </a:stretch>
        </p:blipFill>
        <p:spPr>
          <a:xfrm>
            <a:off x="6191616" y="4622000"/>
            <a:ext cx="1044623" cy="2743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 name="Shape 37"/>
        <p:cNvGrpSpPr/>
        <p:nvPr/>
      </p:nvGrpSpPr>
      <p:grpSpPr>
        <a:xfrm>
          <a:off x="0" y="0"/>
          <a:ext cx="0" cy="0"/>
          <a:chOff x="0" y="0"/>
          <a:chExt cx="0" cy="0"/>
        </a:xfrm>
      </p:grpSpPr>
      <p:sp>
        <p:nvSpPr>
          <p:cNvPr id="38" name="Google Shape;38;p4"/>
          <p:cNvSpPr/>
          <p:nvPr/>
        </p:nvSpPr>
        <p:spPr>
          <a:xfrm>
            <a:off x="0" y="0"/>
            <a:ext cx="73152" cy="5143500"/>
          </a:xfrm>
          <a:prstGeom prst="rect">
            <a:avLst/>
          </a:prstGeom>
          <a:solidFill>
            <a:srgbClr val="2B5672"/>
          </a:solidFill>
          <a:ln cap="flat" cmpd="sng" w="12700">
            <a:solidFill>
              <a:srgbClr val="2B56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4"/>
          <p:cNvSpPr/>
          <p:nvPr/>
        </p:nvSpPr>
        <p:spPr>
          <a:xfrm>
            <a:off x="411480" y="256032"/>
            <a:ext cx="83210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D7A8E"/>
              </a:buClr>
              <a:buSzPts val="1000"/>
              <a:buFont typeface="Calibri"/>
              <a:buNone/>
            </a:pPr>
            <a:r>
              <a:rPr b="1" i="0" lang="en-US" sz="1000" u="none" cap="none" strike="noStrike">
                <a:solidFill>
                  <a:srgbClr val="5D7A8E"/>
                </a:solidFill>
                <a:latin typeface="Calibri"/>
                <a:ea typeface="Calibri"/>
                <a:cs typeface="Calibri"/>
                <a:sym typeface="Calibri"/>
              </a:rPr>
              <a:t>LESSON 1</a:t>
            </a:r>
            <a:endParaRPr b="0" i="0" sz="1000" u="none" cap="none" strike="noStrike">
              <a:solidFill>
                <a:schemeClr val="dk1"/>
              </a:solidFill>
              <a:latin typeface="Calibri"/>
              <a:ea typeface="Calibri"/>
              <a:cs typeface="Calibri"/>
              <a:sym typeface="Calibri"/>
            </a:endParaRPr>
          </a:p>
        </p:txBody>
      </p:sp>
      <p:sp>
        <p:nvSpPr>
          <p:cNvPr id="40" name="Google Shape;40;p4"/>
          <p:cNvSpPr/>
          <p:nvPr/>
        </p:nvSpPr>
        <p:spPr>
          <a:xfrm>
            <a:off x="411480" y="502920"/>
            <a:ext cx="83210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5672"/>
              </a:buClr>
              <a:buSzPts val="2400"/>
              <a:buFont typeface="Georgia"/>
              <a:buNone/>
            </a:pPr>
            <a:r>
              <a:rPr b="1" i="0" lang="en-US" sz="2400" u="none" cap="none" strike="noStrike">
                <a:solidFill>
                  <a:srgbClr val="2B5672"/>
                </a:solidFill>
                <a:latin typeface="Georgia"/>
                <a:ea typeface="Georgia"/>
                <a:cs typeface="Georgia"/>
                <a:sym typeface="Georgia"/>
              </a:rPr>
              <a:t>What is an LLM?</a:t>
            </a:r>
            <a:endParaRPr b="0" i="0" sz="2400" u="none" cap="none" strike="noStrike">
              <a:solidFill>
                <a:schemeClr val="dk1"/>
              </a:solidFill>
              <a:latin typeface="Calibri"/>
              <a:ea typeface="Calibri"/>
              <a:cs typeface="Calibri"/>
              <a:sym typeface="Calibri"/>
            </a:endParaRPr>
          </a:p>
        </p:txBody>
      </p:sp>
      <p:sp>
        <p:nvSpPr>
          <p:cNvPr id="41" name="Google Shape;41;p4"/>
          <p:cNvSpPr/>
          <p:nvPr/>
        </p:nvSpPr>
        <p:spPr>
          <a:xfrm>
            <a:off x="411480" y="1371600"/>
            <a:ext cx="4206240" cy="1005840"/>
          </a:xfrm>
          <a:prstGeom prst="rect">
            <a:avLst/>
          </a:prstGeom>
          <a:solidFill>
            <a:srgbClr val="FFE599"/>
          </a:solidFill>
          <a:ln>
            <a:noFill/>
          </a:ln>
        </p:spPr>
        <p:txBody>
          <a:bodyPr anchorCtr="0" anchor="ctr" bIns="0" lIns="0" spcFirstLastPara="1" rIns="0" wrap="square" tIns="0">
            <a:noAutofit/>
          </a:bodyPr>
          <a:lstStyle/>
          <a:p>
            <a:pPr indent="0" lvl="0" marL="0" marR="0" rtl="0" algn="l">
              <a:spcBef>
                <a:spcPts val="0"/>
              </a:spcBef>
              <a:spcAft>
                <a:spcPts val="0"/>
              </a:spcAft>
              <a:buClr>
                <a:srgbClr val="212121"/>
              </a:buClr>
              <a:buSzPts val="1400"/>
              <a:buFont typeface="Calibri"/>
              <a:buNone/>
            </a:pPr>
            <a:r>
              <a:rPr b="0" i="0" lang="en-US" sz="1400" u="none" cap="none" strike="noStrike">
                <a:solidFill>
                  <a:srgbClr val="212121"/>
                </a:solidFill>
                <a:latin typeface="Calibri"/>
                <a:ea typeface="Calibri"/>
                <a:cs typeface="Calibri"/>
                <a:sym typeface="Calibri"/>
              </a:rPr>
              <a:t>A Large Language Model is a neural network that predicts the next token (a word piece) given everything that came before.</a:t>
            </a:r>
            <a:endParaRPr b="0" i="0" sz="1400" u="none" cap="none" strike="noStrike">
              <a:solidFill>
                <a:schemeClr val="dk1"/>
              </a:solidFill>
              <a:latin typeface="Calibri"/>
              <a:ea typeface="Calibri"/>
              <a:cs typeface="Calibri"/>
              <a:sym typeface="Calibri"/>
            </a:endParaRPr>
          </a:p>
        </p:txBody>
      </p:sp>
      <p:sp>
        <p:nvSpPr>
          <p:cNvPr id="42" name="Google Shape;42;p4"/>
          <p:cNvSpPr/>
          <p:nvPr/>
        </p:nvSpPr>
        <p:spPr>
          <a:xfrm>
            <a:off x="411480" y="2560320"/>
            <a:ext cx="4206240" cy="1828800"/>
          </a:xfrm>
          <a:prstGeom prst="rect">
            <a:avLst/>
          </a:prstGeom>
          <a:noFill/>
          <a:ln>
            <a:noFill/>
          </a:ln>
        </p:spPr>
        <p:txBody>
          <a:bodyPr anchorCtr="0" anchor="ctr" bIns="0" lIns="0" spcFirstLastPara="1" rIns="0" wrap="square" tIns="0">
            <a:noAutofit/>
          </a:bodyPr>
          <a:lstStyle/>
          <a:p>
            <a:pPr indent="-355600" lvl="0" marL="342900" marR="0" rtl="0" algn="l">
              <a:spcBef>
                <a:spcPts val="0"/>
              </a:spcBef>
              <a:spcAft>
                <a:spcPts val="0"/>
              </a:spcAft>
              <a:buClr>
                <a:srgbClr val="212121"/>
              </a:buClr>
              <a:buSzPts val="1400"/>
              <a:buFont typeface="Calibri"/>
              <a:buChar char="•"/>
            </a:pPr>
            <a:r>
              <a:rPr b="1" i="0" lang="en-US" u="none" cap="none" strike="noStrike">
                <a:solidFill>
                  <a:srgbClr val="212121"/>
                </a:solidFill>
                <a:latin typeface="Calibri"/>
                <a:ea typeface="Calibri"/>
                <a:cs typeface="Calibri"/>
                <a:sym typeface="Calibri"/>
              </a:rPr>
              <a:t>Transformer</a:t>
            </a:r>
            <a:r>
              <a:rPr b="0" i="0" lang="en-US" u="none" cap="none" strike="noStrike">
                <a:solidFill>
                  <a:srgbClr val="212121"/>
                </a:solidFill>
                <a:latin typeface="Calibri"/>
                <a:ea typeface="Calibri"/>
                <a:cs typeface="Calibri"/>
                <a:sym typeface="Calibri"/>
              </a:rPr>
              <a:t> architecture.</a:t>
            </a:r>
            <a:endParaRPr b="0" i="0" u="none" cap="none" strike="noStrike">
              <a:solidFill>
                <a:schemeClr val="dk1"/>
              </a:solidFill>
              <a:latin typeface="Calibri"/>
              <a:ea typeface="Calibri"/>
              <a:cs typeface="Calibri"/>
              <a:sym typeface="Calibri"/>
            </a:endParaRPr>
          </a:p>
          <a:p>
            <a:pPr indent="-355600" lvl="0" marL="342900" marR="0" rtl="0" algn="l">
              <a:spcBef>
                <a:spcPts val="600"/>
              </a:spcBef>
              <a:spcAft>
                <a:spcPts val="0"/>
              </a:spcAft>
              <a:buClr>
                <a:srgbClr val="212121"/>
              </a:buClr>
              <a:buSzPts val="1400"/>
              <a:buFont typeface="Calibri"/>
              <a:buChar char="•"/>
            </a:pPr>
            <a:r>
              <a:rPr b="0" i="0" lang="en-US" u="none" cap="none" strike="noStrike">
                <a:solidFill>
                  <a:srgbClr val="212121"/>
                </a:solidFill>
                <a:latin typeface="Calibri"/>
                <a:ea typeface="Calibri"/>
                <a:cs typeface="Calibri"/>
                <a:sym typeface="Calibri"/>
              </a:rPr>
              <a:t>Billions of parameters (≈ tunable numbers).</a:t>
            </a:r>
            <a:endParaRPr b="0" i="0" u="none" cap="none" strike="noStrike">
              <a:solidFill>
                <a:schemeClr val="dk1"/>
              </a:solidFill>
              <a:latin typeface="Calibri"/>
              <a:ea typeface="Calibri"/>
              <a:cs typeface="Calibri"/>
              <a:sym typeface="Calibri"/>
            </a:endParaRPr>
          </a:p>
          <a:p>
            <a:pPr indent="-355600" lvl="0" marL="342900" marR="0" rtl="0" algn="l">
              <a:spcBef>
                <a:spcPts val="600"/>
              </a:spcBef>
              <a:spcAft>
                <a:spcPts val="0"/>
              </a:spcAft>
              <a:buClr>
                <a:srgbClr val="212121"/>
              </a:buClr>
              <a:buSzPts val="1400"/>
              <a:buFont typeface="Calibri"/>
              <a:buChar char="•"/>
            </a:pPr>
            <a:r>
              <a:rPr b="0" i="0" lang="en-US" u="none" cap="none" strike="noStrike">
                <a:solidFill>
                  <a:srgbClr val="212121"/>
                </a:solidFill>
                <a:latin typeface="Calibri"/>
                <a:ea typeface="Calibri"/>
                <a:cs typeface="Calibri"/>
                <a:sym typeface="Calibri"/>
              </a:rPr>
              <a:t>Output = next-token loop, one token at a time, until a stop signal.</a:t>
            </a:r>
            <a:endParaRPr b="0" i="0" u="none" cap="none" strike="noStrike">
              <a:solidFill>
                <a:schemeClr val="dk1"/>
              </a:solidFill>
              <a:latin typeface="Calibri"/>
              <a:ea typeface="Calibri"/>
              <a:cs typeface="Calibri"/>
              <a:sym typeface="Calibri"/>
            </a:endParaRPr>
          </a:p>
        </p:txBody>
      </p:sp>
      <p:sp>
        <p:nvSpPr>
          <p:cNvPr id="43" name="Google Shape;43;p4"/>
          <p:cNvSpPr/>
          <p:nvPr/>
        </p:nvSpPr>
        <p:spPr>
          <a:xfrm>
            <a:off x="4937760" y="1207008"/>
            <a:ext cx="109728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25258"/>
              </a:buClr>
              <a:buSzPts val="900"/>
              <a:buFont typeface="Calibri"/>
              <a:buNone/>
            </a:pPr>
            <a:r>
              <a:rPr b="0" i="1" lang="en-US" sz="900" u="none" cap="none" strike="noStrike">
                <a:solidFill>
                  <a:srgbClr val="525258"/>
                </a:solidFill>
                <a:latin typeface="Calibri"/>
                <a:ea typeface="Calibri"/>
                <a:cs typeface="Calibri"/>
                <a:sym typeface="Calibri"/>
              </a:rPr>
              <a:t>input tokens</a:t>
            </a:r>
            <a:endParaRPr b="0" i="0" sz="900" u="none" cap="none" strike="noStrike">
              <a:solidFill>
                <a:schemeClr val="dk1"/>
              </a:solidFill>
              <a:latin typeface="Calibri"/>
              <a:ea typeface="Calibri"/>
              <a:cs typeface="Calibri"/>
              <a:sym typeface="Calibri"/>
            </a:endParaRPr>
          </a:p>
        </p:txBody>
      </p:sp>
      <p:sp>
        <p:nvSpPr>
          <p:cNvPr id="44" name="Google Shape;44;p4"/>
          <p:cNvSpPr/>
          <p:nvPr/>
        </p:nvSpPr>
        <p:spPr>
          <a:xfrm>
            <a:off x="6355080" y="1207008"/>
            <a:ext cx="118872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25258"/>
              </a:buClr>
              <a:buSzPts val="900"/>
              <a:buFont typeface="Calibri"/>
              <a:buNone/>
            </a:pPr>
            <a:r>
              <a:rPr b="0" i="1" lang="en-US" sz="900" u="none" cap="none" strike="noStrike">
                <a:solidFill>
                  <a:srgbClr val="525258"/>
                </a:solidFill>
                <a:latin typeface="Calibri"/>
                <a:ea typeface="Calibri"/>
                <a:cs typeface="Calibri"/>
                <a:sym typeface="Calibri"/>
              </a:rPr>
              <a:t>LLM</a:t>
            </a:r>
            <a:endParaRPr b="0" i="0" sz="900" u="none" cap="none" strike="noStrike">
              <a:solidFill>
                <a:schemeClr val="dk1"/>
              </a:solidFill>
              <a:latin typeface="Calibri"/>
              <a:ea typeface="Calibri"/>
              <a:cs typeface="Calibri"/>
              <a:sym typeface="Calibri"/>
            </a:endParaRPr>
          </a:p>
        </p:txBody>
      </p:sp>
      <p:sp>
        <p:nvSpPr>
          <p:cNvPr id="45" name="Google Shape;45;p4"/>
          <p:cNvSpPr/>
          <p:nvPr/>
        </p:nvSpPr>
        <p:spPr>
          <a:xfrm>
            <a:off x="7680960" y="1207008"/>
            <a:ext cx="14173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25258"/>
              </a:buClr>
              <a:buSzPts val="900"/>
              <a:buFont typeface="Calibri"/>
              <a:buNone/>
            </a:pPr>
            <a:r>
              <a:rPr b="0" i="1" lang="en-US" sz="900" u="none" cap="none" strike="noStrike">
                <a:solidFill>
                  <a:srgbClr val="525258"/>
                </a:solidFill>
                <a:latin typeface="Calibri"/>
                <a:ea typeface="Calibri"/>
                <a:cs typeface="Calibri"/>
                <a:sym typeface="Calibri"/>
              </a:rPr>
              <a:t>next-token probabilities</a:t>
            </a:r>
            <a:endParaRPr b="0" i="0" sz="900" u="none" cap="none" strike="noStrike">
              <a:solidFill>
                <a:schemeClr val="dk1"/>
              </a:solidFill>
              <a:latin typeface="Calibri"/>
              <a:ea typeface="Calibri"/>
              <a:cs typeface="Calibri"/>
              <a:sym typeface="Calibri"/>
            </a:endParaRPr>
          </a:p>
        </p:txBody>
      </p:sp>
      <p:sp>
        <p:nvSpPr>
          <p:cNvPr id="46" name="Google Shape;46;p4"/>
          <p:cNvSpPr/>
          <p:nvPr/>
        </p:nvSpPr>
        <p:spPr>
          <a:xfrm>
            <a:off x="4937760" y="1508760"/>
            <a:ext cx="1097280" cy="320040"/>
          </a:xfrm>
          <a:prstGeom prst="roundRect">
            <a:avLst>
              <a:gd fmla="val 14286" name="adj"/>
            </a:avLst>
          </a:prstGeom>
          <a:solidFill>
            <a:srgbClr val="F7F6F5"/>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4"/>
          <p:cNvSpPr/>
          <p:nvPr/>
        </p:nvSpPr>
        <p:spPr>
          <a:xfrm>
            <a:off x="4937760" y="1508760"/>
            <a:ext cx="109728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12121"/>
              </a:buClr>
              <a:buSzPts val="1100"/>
              <a:buFont typeface="Calibri"/>
              <a:buNone/>
            </a:pPr>
            <a:r>
              <a:rPr b="0" i="0" lang="en-US" sz="1100" u="none" cap="none" strike="noStrike">
                <a:solidFill>
                  <a:srgbClr val="212121"/>
                </a:solidFill>
                <a:latin typeface="Calibri"/>
                <a:ea typeface="Calibri"/>
                <a:cs typeface="Calibri"/>
                <a:sym typeface="Calibri"/>
              </a:rPr>
              <a:t>The</a:t>
            </a:r>
            <a:endParaRPr b="0" i="0" sz="1100" u="none" cap="none" strike="noStrike">
              <a:solidFill>
                <a:schemeClr val="dk1"/>
              </a:solidFill>
              <a:latin typeface="Calibri"/>
              <a:ea typeface="Calibri"/>
              <a:cs typeface="Calibri"/>
              <a:sym typeface="Calibri"/>
            </a:endParaRPr>
          </a:p>
        </p:txBody>
      </p:sp>
      <p:sp>
        <p:nvSpPr>
          <p:cNvPr id="48" name="Google Shape;48;p4"/>
          <p:cNvSpPr/>
          <p:nvPr/>
        </p:nvSpPr>
        <p:spPr>
          <a:xfrm>
            <a:off x="4937760" y="1920240"/>
            <a:ext cx="1097280" cy="320040"/>
          </a:xfrm>
          <a:prstGeom prst="roundRect">
            <a:avLst>
              <a:gd fmla="val 14286" name="adj"/>
            </a:avLst>
          </a:prstGeom>
          <a:solidFill>
            <a:srgbClr val="F7F6F5"/>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4"/>
          <p:cNvSpPr/>
          <p:nvPr/>
        </p:nvSpPr>
        <p:spPr>
          <a:xfrm>
            <a:off x="4937760" y="1920240"/>
            <a:ext cx="109728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12121"/>
              </a:buClr>
              <a:buSzPts val="1100"/>
              <a:buFont typeface="Calibri"/>
              <a:buNone/>
            </a:pPr>
            <a:r>
              <a:rPr b="0" i="0" lang="en-US" sz="1100" u="none" cap="none" strike="noStrike">
                <a:solidFill>
                  <a:srgbClr val="212121"/>
                </a:solidFill>
                <a:latin typeface="Calibri"/>
                <a:ea typeface="Calibri"/>
                <a:cs typeface="Calibri"/>
                <a:sym typeface="Calibri"/>
              </a:rPr>
              <a:t>brain</a:t>
            </a:r>
            <a:endParaRPr b="0" i="0" sz="1100" u="none" cap="none" strike="noStrike">
              <a:solidFill>
                <a:schemeClr val="dk1"/>
              </a:solidFill>
              <a:latin typeface="Calibri"/>
              <a:ea typeface="Calibri"/>
              <a:cs typeface="Calibri"/>
              <a:sym typeface="Calibri"/>
            </a:endParaRPr>
          </a:p>
        </p:txBody>
      </p:sp>
      <p:sp>
        <p:nvSpPr>
          <p:cNvPr id="50" name="Google Shape;50;p4"/>
          <p:cNvSpPr/>
          <p:nvPr/>
        </p:nvSpPr>
        <p:spPr>
          <a:xfrm>
            <a:off x="4937760" y="2331720"/>
            <a:ext cx="1097280" cy="320040"/>
          </a:xfrm>
          <a:prstGeom prst="roundRect">
            <a:avLst>
              <a:gd fmla="val 14286" name="adj"/>
            </a:avLst>
          </a:prstGeom>
          <a:solidFill>
            <a:srgbClr val="F7F6F5"/>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4937760" y="2331720"/>
            <a:ext cx="109728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12121"/>
              </a:buClr>
              <a:buSzPts val="1100"/>
              <a:buFont typeface="Calibri"/>
              <a:buNone/>
            </a:pPr>
            <a:r>
              <a:rPr b="0" i="0" lang="en-US" sz="1100" u="none" cap="none" strike="noStrike">
                <a:solidFill>
                  <a:srgbClr val="212121"/>
                </a:solidFill>
                <a:latin typeface="Calibri"/>
                <a:ea typeface="Calibri"/>
                <a:cs typeface="Calibri"/>
                <a:sym typeface="Calibri"/>
              </a:rPr>
              <a:t>is</a:t>
            </a:r>
            <a:endParaRPr b="0" i="0" sz="1100" u="none" cap="none" strike="noStrike">
              <a:solidFill>
                <a:schemeClr val="dk1"/>
              </a:solidFill>
              <a:latin typeface="Calibri"/>
              <a:ea typeface="Calibri"/>
              <a:cs typeface="Calibri"/>
              <a:sym typeface="Calibri"/>
            </a:endParaRPr>
          </a:p>
        </p:txBody>
      </p:sp>
      <p:sp>
        <p:nvSpPr>
          <p:cNvPr id="52" name="Google Shape;52;p4"/>
          <p:cNvSpPr/>
          <p:nvPr/>
        </p:nvSpPr>
        <p:spPr>
          <a:xfrm>
            <a:off x="4937760" y="2743200"/>
            <a:ext cx="1097280" cy="320040"/>
          </a:xfrm>
          <a:prstGeom prst="roundRect">
            <a:avLst>
              <a:gd fmla="val 14286" name="adj"/>
            </a:avLst>
          </a:prstGeom>
          <a:solidFill>
            <a:srgbClr val="F7F6F5"/>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p:nvPr/>
        </p:nvSpPr>
        <p:spPr>
          <a:xfrm>
            <a:off x="4937760" y="2743200"/>
            <a:ext cx="109728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12121"/>
              </a:buClr>
              <a:buSzPts val="1100"/>
              <a:buFont typeface="Calibri"/>
              <a:buNone/>
            </a:pPr>
            <a:r>
              <a:rPr b="0" i="0" lang="en-US" sz="1100" u="none" cap="none" strike="noStrike">
                <a:solidFill>
                  <a:srgbClr val="212121"/>
                </a:solidFill>
                <a:latin typeface="Calibri"/>
                <a:ea typeface="Calibri"/>
                <a:cs typeface="Calibri"/>
                <a:sym typeface="Calibri"/>
              </a:rPr>
              <a:t>a</a:t>
            </a:r>
            <a:endParaRPr b="0" i="0" sz="1100" u="none" cap="none" strike="noStrike">
              <a:solidFill>
                <a:schemeClr val="dk1"/>
              </a:solidFill>
              <a:latin typeface="Calibri"/>
              <a:ea typeface="Calibri"/>
              <a:cs typeface="Calibri"/>
              <a:sym typeface="Calibri"/>
            </a:endParaRPr>
          </a:p>
        </p:txBody>
      </p:sp>
      <p:cxnSp>
        <p:nvCxnSpPr>
          <p:cNvPr id="54" name="Google Shape;54;p4"/>
          <p:cNvCxnSpPr/>
          <p:nvPr/>
        </p:nvCxnSpPr>
        <p:spPr>
          <a:xfrm>
            <a:off x="6080760" y="2331720"/>
            <a:ext cx="274320" cy="0"/>
          </a:xfrm>
          <a:prstGeom prst="straightConnector1">
            <a:avLst/>
          </a:prstGeom>
          <a:noFill/>
          <a:ln cap="flat" cmpd="sng" w="19050">
            <a:solidFill>
              <a:srgbClr val="525258"/>
            </a:solidFill>
            <a:prstDash val="solid"/>
            <a:round/>
            <a:headEnd len="sm" w="sm" type="none"/>
            <a:tailEnd len="med" w="med" type="triangle"/>
          </a:ln>
        </p:spPr>
      </p:cxnSp>
      <p:sp>
        <p:nvSpPr>
          <p:cNvPr id="55" name="Google Shape;55;p4"/>
          <p:cNvSpPr/>
          <p:nvPr/>
        </p:nvSpPr>
        <p:spPr>
          <a:xfrm>
            <a:off x="6355080" y="1828800"/>
            <a:ext cx="1188720" cy="1005840"/>
          </a:xfrm>
          <a:prstGeom prst="roundRect">
            <a:avLst>
              <a:gd fmla="val 5455" name="adj"/>
            </a:avLst>
          </a:prstGeom>
          <a:solidFill>
            <a:srgbClr val="2B5672"/>
          </a:solidFill>
          <a:ln cap="flat" cmpd="sng" w="12700">
            <a:solidFill>
              <a:srgbClr val="2B56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4"/>
          <p:cNvSpPr/>
          <p:nvPr/>
        </p:nvSpPr>
        <p:spPr>
          <a:xfrm>
            <a:off x="6355080" y="1874520"/>
            <a:ext cx="118872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LLM</a:t>
            </a:r>
            <a:endParaRPr b="0" i="0" sz="1600" u="none" cap="none" strike="noStrike">
              <a:solidFill>
                <a:schemeClr val="dk1"/>
              </a:solidFill>
              <a:latin typeface="Calibri"/>
              <a:ea typeface="Calibri"/>
              <a:cs typeface="Calibri"/>
              <a:sym typeface="Calibri"/>
            </a:endParaRPr>
          </a:p>
        </p:txBody>
      </p:sp>
      <p:sp>
        <p:nvSpPr>
          <p:cNvPr id="57" name="Google Shape;57;p4"/>
          <p:cNvSpPr/>
          <p:nvPr/>
        </p:nvSpPr>
        <p:spPr>
          <a:xfrm>
            <a:off x="6355080" y="2286000"/>
            <a:ext cx="11887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D7A8E"/>
              </a:buClr>
              <a:buSzPts val="1000"/>
              <a:buFont typeface="Calibri"/>
              <a:buNone/>
            </a:pPr>
            <a:r>
              <a:rPr b="0" i="0" lang="en-US" sz="1000" u="none" cap="none" strike="noStrike">
                <a:solidFill>
                  <a:srgbClr val="5D7A8E"/>
                </a:solidFill>
                <a:latin typeface="Calibri"/>
                <a:ea typeface="Calibri"/>
                <a:cs typeface="Calibri"/>
                <a:sym typeface="Calibri"/>
              </a:rPr>
              <a:t>P(next token)</a:t>
            </a:r>
            <a:endParaRPr b="0" i="0" sz="1000" u="none" cap="none" strike="noStrike">
              <a:solidFill>
                <a:schemeClr val="dk1"/>
              </a:solidFill>
              <a:latin typeface="Calibri"/>
              <a:ea typeface="Calibri"/>
              <a:cs typeface="Calibri"/>
              <a:sym typeface="Calibri"/>
            </a:endParaRPr>
          </a:p>
        </p:txBody>
      </p:sp>
      <p:cxnSp>
        <p:nvCxnSpPr>
          <p:cNvPr id="58" name="Google Shape;58;p4"/>
          <p:cNvCxnSpPr/>
          <p:nvPr/>
        </p:nvCxnSpPr>
        <p:spPr>
          <a:xfrm>
            <a:off x="7589520" y="2331720"/>
            <a:ext cx="137160" cy="0"/>
          </a:xfrm>
          <a:prstGeom prst="straightConnector1">
            <a:avLst/>
          </a:prstGeom>
          <a:noFill/>
          <a:ln cap="flat" cmpd="sng" w="19050">
            <a:solidFill>
              <a:srgbClr val="525258"/>
            </a:solidFill>
            <a:prstDash val="solid"/>
            <a:round/>
            <a:headEnd len="sm" w="sm" type="none"/>
            <a:tailEnd len="med" w="med" type="triangle"/>
          </a:ln>
        </p:spPr>
      </p:cxnSp>
      <p:sp>
        <p:nvSpPr>
          <p:cNvPr id="59" name="Google Shape;59;p4"/>
          <p:cNvSpPr/>
          <p:nvPr/>
        </p:nvSpPr>
        <p:spPr>
          <a:xfrm>
            <a:off x="7772400" y="1517904"/>
            <a:ext cx="6400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2121"/>
              </a:buClr>
              <a:buSzPts val="1000"/>
              <a:buFont typeface="Calibri"/>
              <a:buNone/>
            </a:pPr>
            <a:r>
              <a:rPr b="0" i="0" lang="en-US" sz="1000" u="none" cap="none" strike="noStrike">
                <a:solidFill>
                  <a:srgbClr val="212121"/>
                </a:solidFill>
                <a:latin typeface="Calibri"/>
                <a:ea typeface="Calibri"/>
                <a:cs typeface="Calibri"/>
                <a:sym typeface="Calibri"/>
              </a:rPr>
              <a:t>network</a:t>
            </a:r>
            <a:endParaRPr b="0" i="0" sz="1000" u="none" cap="none" strike="noStrike">
              <a:solidFill>
                <a:schemeClr val="dk1"/>
              </a:solidFill>
              <a:latin typeface="Calibri"/>
              <a:ea typeface="Calibri"/>
              <a:cs typeface="Calibri"/>
              <a:sym typeface="Calibri"/>
            </a:endParaRPr>
          </a:p>
        </p:txBody>
      </p:sp>
      <p:sp>
        <p:nvSpPr>
          <p:cNvPr id="60" name="Google Shape;60;p4"/>
          <p:cNvSpPr/>
          <p:nvPr/>
        </p:nvSpPr>
        <p:spPr>
          <a:xfrm>
            <a:off x="8412480" y="1554480"/>
            <a:ext cx="422453" cy="182880"/>
          </a:xfrm>
          <a:prstGeom prst="rect">
            <a:avLst/>
          </a:prstGeom>
          <a:solidFill>
            <a:srgbClr val="5D7A8E">
              <a:alpha val="70196"/>
            </a:srgbClr>
          </a:solidFill>
          <a:ln cap="flat" cmpd="sng" w="12700">
            <a:solidFill>
              <a:srgbClr val="5D7A8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4"/>
          <p:cNvSpPr/>
          <p:nvPr/>
        </p:nvSpPr>
        <p:spPr>
          <a:xfrm>
            <a:off x="7772400" y="1929384"/>
            <a:ext cx="6400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2121"/>
              </a:buClr>
              <a:buSzPts val="1000"/>
              <a:buFont typeface="Calibri"/>
              <a:buNone/>
            </a:pPr>
            <a:r>
              <a:rPr b="0" i="0" lang="en-US" sz="1000" u="none" cap="none" strike="noStrike">
                <a:solidFill>
                  <a:srgbClr val="212121"/>
                </a:solidFill>
                <a:latin typeface="Calibri"/>
                <a:ea typeface="Calibri"/>
                <a:cs typeface="Calibri"/>
                <a:sym typeface="Calibri"/>
              </a:rPr>
              <a:t>machine</a:t>
            </a:r>
            <a:endParaRPr b="0" i="0" sz="1000" u="none" cap="none" strike="noStrike">
              <a:solidFill>
                <a:schemeClr val="dk1"/>
              </a:solidFill>
              <a:latin typeface="Calibri"/>
              <a:ea typeface="Calibri"/>
              <a:cs typeface="Calibri"/>
              <a:sym typeface="Calibri"/>
            </a:endParaRPr>
          </a:p>
        </p:txBody>
      </p:sp>
      <p:sp>
        <p:nvSpPr>
          <p:cNvPr id="62" name="Google Shape;62;p4"/>
          <p:cNvSpPr/>
          <p:nvPr/>
        </p:nvSpPr>
        <p:spPr>
          <a:xfrm>
            <a:off x="8412480" y="1965960"/>
            <a:ext cx="211226" cy="182880"/>
          </a:xfrm>
          <a:prstGeom prst="rect">
            <a:avLst/>
          </a:prstGeom>
          <a:solidFill>
            <a:srgbClr val="5D7A8E">
              <a:alpha val="70196"/>
            </a:srgbClr>
          </a:solidFill>
          <a:ln cap="flat" cmpd="sng" w="12700">
            <a:solidFill>
              <a:srgbClr val="5D7A8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4"/>
          <p:cNvSpPr/>
          <p:nvPr/>
        </p:nvSpPr>
        <p:spPr>
          <a:xfrm>
            <a:off x="7772400" y="2340864"/>
            <a:ext cx="6400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2121"/>
              </a:buClr>
              <a:buSzPts val="1000"/>
              <a:buFont typeface="Calibri"/>
              <a:buNone/>
            </a:pPr>
            <a:r>
              <a:rPr b="0" i="0" lang="en-US" sz="1000" u="none" cap="none" strike="noStrike">
                <a:solidFill>
                  <a:srgbClr val="212121"/>
                </a:solidFill>
                <a:latin typeface="Calibri"/>
                <a:ea typeface="Calibri"/>
                <a:cs typeface="Calibri"/>
                <a:sym typeface="Calibri"/>
              </a:rPr>
              <a:t>mystery</a:t>
            </a:r>
            <a:endParaRPr b="0" i="0" sz="1000" u="none" cap="none" strike="noStrike">
              <a:solidFill>
                <a:schemeClr val="dk1"/>
              </a:solidFill>
              <a:latin typeface="Calibri"/>
              <a:ea typeface="Calibri"/>
              <a:cs typeface="Calibri"/>
              <a:sym typeface="Calibri"/>
            </a:endParaRPr>
          </a:p>
        </p:txBody>
      </p:sp>
      <p:sp>
        <p:nvSpPr>
          <p:cNvPr id="64" name="Google Shape;64;p4"/>
          <p:cNvSpPr/>
          <p:nvPr/>
        </p:nvSpPr>
        <p:spPr>
          <a:xfrm>
            <a:off x="8412480" y="2377440"/>
            <a:ext cx="110642" cy="182880"/>
          </a:xfrm>
          <a:prstGeom prst="rect">
            <a:avLst/>
          </a:prstGeom>
          <a:solidFill>
            <a:srgbClr val="5D7A8E">
              <a:alpha val="70196"/>
            </a:srgbClr>
          </a:solidFill>
          <a:ln cap="flat" cmpd="sng" w="12700">
            <a:solidFill>
              <a:srgbClr val="5D7A8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4"/>
          <p:cNvSpPr/>
          <p:nvPr/>
        </p:nvSpPr>
        <p:spPr>
          <a:xfrm>
            <a:off x="7772400" y="2752344"/>
            <a:ext cx="6400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2121"/>
              </a:buClr>
              <a:buSzPts val="1000"/>
              <a:buFont typeface="Calibri"/>
              <a:buNone/>
            </a:pPr>
            <a:r>
              <a:rPr b="0" i="0" lang="en-US" sz="1000" u="none" cap="none" strike="noStrike">
                <a:solidFill>
                  <a:srgbClr val="212121"/>
                </a:solidFill>
                <a:latin typeface="Calibri"/>
                <a:ea typeface="Calibri"/>
                <a:cs typeface="Calibri"/>
                <a:sym typeface="Calibri"/>
              </a:rPr>
              <a:t>…</a:t>
            </a:r>
            <a:endParaRPr b="0" i="0" sz="1000" u="none" cap="none" strike="noStrike">
              <a:solidFill>
                <a:schemeClr val="dk1"/>
              </a:solidFill>
              <a:latin typeface="Calibri"/>
              <a:ea typeface="Calibri"/>
              <a:cs typeface="Calibri"/>
              <a:sym typeface="Calibri"/>
            </a:endParaRPr>
          </a:p>
        </p:txBody>
      </p:sp>
      <p:sp>
        <p:nvSpPr>
          <p:cNvPr id="66" name="Google Shape;66;p4"/>
          <p:cNvSpPr/>
          <p:nvPr/>
        </p:nvSpPr>
        <p:spPr>
          <a:xfrm>
            <a:off x="8412480" y="2788920"/>
            <a:ext cx="261518" cy="182880"/>
          </a:xfrm>
          <a:prstGeom prst="rect">
            <a:avLst/>
          </a:prstGeom>
          <a:solidFill>
            <a:srgbClr val="5D7A8E">
              <a:alpha val="70196"/>
            </a:srgbClr>
          </a:solidFill>
          <a:ln cap="flat" cmpd="sng" w="12700">
            <a:solidFill>
              <a:srgbClr val="5D7A8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4"/>
          <p:cNvSpPr/>
          <p:nvPr/>
        </p:nvSpPr>
        <p:spPr>
          <a:xfrm>
            <a:off x="411480" y="4864608"/>
            <a:ext cx="54864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25258"/>
              </a:buClr>
              <a:buSzPts val="900"/>
              <a:buFont typeface="Calibri"/>
              <a:buNone/>
            </a:pPr>
            <a:r>
              <a:rPr b="0" i="0" lang="en-US" sz="900" u="none" cap="none" strike="noStrike">
                <a:solidFill>
                  <a:srgbClr val="525258"/>
                </a:solidFill>
                <a:latin typeface="Calibri"/>
                <a:ea typeface="Calibri"/>
                <a:cs typeface="Calibri"/>
                <a:sym typeface="Calibri"/>
              </a:rPr>
              <a:t>How Claude Works  ·</a:t>
            </a:r>
            <a:r>
              <a:rPr lang="en-US" sz="900">
                <a:solidFill>
                  <a:srgbClr val="525258"/>
                </a:solidFill>
                <a:latin typeface="Calibri"/>
                <a:ea typeface="Calibri"/>
                <a:cs typeface="Calibri"/>
                <a:sym typeface="Calibri"/>
              </a:rPr>
              <a:t> Giulio Ruffini</a:t>
            </a:r>
            <a:endParaRPr b="0" i="0" sz="900" u="none" cap="none" strike="noStrike">
              <a:solidFill>
                <a:schemeClr val="dk1"/>
              </a:solidFill>
              <a:latin typeface="Calibri"/>
              <a:ea typeface="Calibri"/>
              <a:cs typeface="Calibri"/>
              <a:sym typeface="Calibri"/>
            </a:endParaRPr>
          </a:p>
        </p:txBody>
      </p:sp>
      <p:sp>
        <p:nvSpPr>
          <p:cNvPr id="68" name="Google Shape;68;p4"/>
          <p:cNvSpPr/>
          <p:nvPr/>
        </p:nvSpPr>
        <p:spPr>
          <a:xfrm>
            <a:off x="8412480" y="486460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25258"/>
              </a:buClr>
              <a:buSzPts val="900"/>
              <a:buFont typeface="Calibri"/>
              <a:buNone/>
            </a:pPr>
            <a:r>
              <a:rPr b="0" i="0" lang="en-US" sz="900" u="none" cap="none" strike="noStrike">
                <a:solidFill>
                  <a:srgbClr val="525258"/>
                </a:solidFill>
                <a:latin typeface="Calibri"/>
                <a:ea typeface="Calibri"/>
                <a:cs typeface="Calibri"/>
                <a:sym typeface="Calibri"/>
              </a:rPr>
              <a:t>2</a:t>
            </a:r>
            <a:endParaRPr b="0" i="0" sz="900" u="none" cap="none" strike="noStrike">
              <a:solidFill>
                <a:schemeClr val="dk1"/>
              </a:solidFill>
              <a:latin typeface="Calibri"/>
              <a:ea typeface="Calibri"/>
              <a:cs typeface="Calibri"/>
              <a:sym typeface="Calibri"/>
            </a:endParaRPr>
          </a:p>
        </p:txBody>
      </p:sp>
      <p:sp>
        <p:nvSpPr>
          <p:cNvPr id="69" name="Google Shape;69;p4"/>
          <p:cNvSpPr txBox="1"/>
          <p:nvPr/>
        </p:nvSpPr>
        <p:spPr>
          <a:xfrm>
            <a:off x="2584475" y="4426763"/>
            <a:ext cx="7866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solidFill>
                  <a:schemeClr val="dk1"/>
                </a:solidFill>
              </a:rPr>
              <a:t>Prediction at scale ⇒ compression ⇒ world models.</a:t>
            </a:r>
            <a:r>
              <a:rPr lang="en-US">
                <a:solidFill>
                  <a:schemeClr val="dk1"/>
                </a:solidFill>
              </a:rPr>
              <a:t>  </a:t>
            </a:r>
            <a:endParaRPr sz="17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pic>
        <p:nvPicPr>
          <p:cNvPr id="75" name="Google Shape;75;p5"/>
          <p:cNvPicPr preferRelativeResize="0"/>
          <p:nvPr/>
        </p:nvPicPr>
        <p:blipFill>
          <a:blip r:embed="rId3">
            <a:alphaModFix/>
          </a:blip>
          <a:stretch>
            <a:fillRect/>
          </a:stretch>
        </p:blipFill>
        <p:spPr>
          <a:xfrm>
            <a:off x="50716" y="-230507"/>
            <a:ext cx="9629348" cy="54165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0" name="Shape 80"/>
        <p:cNvGrpSpPr/>
        <p:nvPr/>
      </p:nvGrpSpPr>
      <p:grpSpPr>
        <a:xfrm>
          <a:off x="0" y="0"/>
          <a:ext cx="0" cy="0"/>
          <a:chOff x="0" y="0"/>
          <a:chExt cx="0" cy="0"/>
        </a:xfrm>
      </p:grpSpPr>
      <p:sp>
        <p:nvSpPr>
          <p:cNvPr id="81" name="Google Shape;81;p6"/>
          <p:cNvSpPr/>
          <p:nvPr/>
        </p:nvSpPr>
        <p:spPr>
          <a:xfrm>
            <a:off x="0" y="0"/>
            <a:ext cx="73152" cy="5143500"/>
          </a:xfrm>
          <a:prstGeom prst="rect">
            <a:avLst/>
          </a:prstGeom>
          <a:solidFill>
            <a:srgbClr val="2B5672"/>
          </a:solidFill>
          <a:ln cap="flat" cmpd="sng" w="12700">
            <a:solidFill>
              <a:srgbClr val="2B56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6"/>
          <p:cNvSpPr/>
          <p:nvPr/>
        </p:nvSpPr>
        <p:spPr>
          <a:xfrm>
            <a:off x="411480" y="256032"/>
            <a:ext cx="83210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D7A8E"/>
              </a:buClr>
              <a:buSzPts val="1000"/>
              <a:buFont typeface="Calibri"/>
              <a:buNone/>
            </a:pPr>
            <a:r>
              <a:rPr b="1" i="0" lang="en-US" sz="1000" u="none" cap="none" strike="noStrike">
                <a:solidFill>
                  <a:srgbClr val="5D7A8E"/>
                </a:solidFill>
                <a:latin typeface="Calibri"/>
                <a:ea typeface="Calibri"/>
                <a:cs typeface="Calibri"/>
                <a:sym typeface="Calibri"/>
              </a:rPr>
              <a:t>PRIMER</a:t>
            </a:r>
            <a:endParaRPr b="0" i="0" sz="1000" u="none" cap="none" strike="noStrike">
              <a:solidFill>
                <a:schemeClr val="dk1"/>
              </a:solidFill>
              <a:latin typeface="Calibri"/>
              <a:ea typeface="Calibri"/>
              <a:cs typeface="Calibri"/>
              <a:sym typeface="Calibri"/>
            </a:endParaRPr>
          </a:p>
        </p:txBody>
      </p:sp>
      <p:sp>
        <p:nvSpPr>
          <p:cNvPr id="83" name="Google Shape;83;p6"/>
          <p:cNvSpPr/>
          <p:nvPr/>
        </p:nvSpPr>
        <p:spPr>
          <a:xfrm>
            <a:off x="411480" y="502920"/>
            <a:ext cx="83210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5672"/>
              </a:buClr>
              <a:buSzPts val="2400"/>
              <a:buFont typeface="Georgia"/>
              <a:buNone/>
            </a:pPr>
            <a:r>
              <a:rPr b="1" i="0" lang="en-US" sz="2400" u="none" cap="none" strike="noStrike">
                <a:solidFill>
                  <a:srgbClr val="2B5672"/>
                </a:solidFill>
                <a:latin typeface="Georgia"/>
                <a:ea typeface="Georgia"/>
                <a:cs typeface="Georgia"/>
                <a:sym typeface="Georgia"/>
              </a:rPr>
              <a:t>What are “weights”?</a:t>
            </a:r>
            <a:endParaRPr b="0" i="0" sz="2400" u="none" cap="none" strike="noStrike">
              <a:solidFill>
                <a:schemeClr val="dk1"/>
              </a:solidFill>
              <a:latin typeface="Calibri"/>
              <a:ea typeface="Calibri"/>
              <a:cs typeface="Calibri"/>
              <a:sym typeface="Calibri"/>
            </a:endParaRPr>
          </a:p>
        </p:txBody>
      </p:sp>
      <p:sp>
        <p:nvSpPr>
          <p:cNvPr id="84" name="Google Shape;84;p6"/>
          <p:cNvSpPr/>
          <p:nvPr/>
        </p:nvSpPr>
        <p:spPr>
          <a:xfrm>
            <a:off x="411480" y="960120"/>
            <a:ext cx="83210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25258"/>
              </a:buClr>
              <a:buSzPts val="1300"/>
              <a:buFont typeface="Calibri"/>
              <a:buNone/>
            </a:pPr>
            <a:r>
              <a:rPr b="0" i="1" lang="en-US" sz="1300" u="none" cap="none" strike="noStrike">
                <a:solidFill>
                  <a:srgbClr val="525258"/>
                </a:solidFill>
                <a:latin typeface="Calibri"/>
                <a:ea typeface="Calibri"/>
                <a:cs typeface="Calibri"/>
                <a:sym typeface="Calibri"/>
              </a:rPr>
              <a:t>A neural network is a graph of connections with</a:t>
            </a:r>
            <a:r>
              <a:rPr i="1" lang="en-US" sz="1300">
                <a:solidFill>
                  <a:srgbClr val="525258"/>
                </a:solidFill>
                <a:latin typeface="Calibri"/>
                <a:ea typeface="Calibri"/>
                <a:cs typeface="Calibri"/>
                <a:sym typeface="Calibri"/>
              </a:rPr>
              <a:t> numbers</a:t>
            </a:r>
            <a:r>
              <a:rPr b="0" i="1" lang="en-US" sz="1300" u="none" cap="none" strike="noStrike">
                <a:solidFill>
                  <a:srgbClr val="525258"/>
                </a:solidFill>
                <a:latin typeface="Calibri"/>
                <a:ea typeface="Calibri"/>
                <a:cs typeface="Calibri"/>
                <a:sym typeface="Calibri"/>
              </a:rPr>
              <a:t>. The weights are those numbers — and training is how they're learned.</a:t>
            </a:r>
            <a:endParaRPr b="0" i="0" sz="1300" u="none" cap="none" strike="noStrike">
              <a:solidFill>
                <a:schemeClr val="dk1"/>
              </a:solidFill>
              <a:latin typeface="Calibri"/>
              <a:ea typeface="Calibri"/>
              <a:cs typeface="Calibri"/>
              <a:sym typeface="Calibri"/>
            </a:endParaRPr>
          </a:p>
        </p:txBody>
      </p:sp>
      <p:cxnSp>
        <p:nvCxnSpPr>
          <p:cNvPr id="85" name="Google Shape;85;p6"/>
          <p:cNvCxnSpPr/>
          <p:nvPr/>
        </p:nvCxnSpPr>
        <p:spPr>
          <a:xfrm>
            <a:off x="1261872" y="1828800"/>
            <a:ext cx="1011936" cy="0"/>
          </a:xfrm>
          <a:prstGeom prst="straightConnector1">
            <a:avLst/>
          </a:prstGeom>
          <a:noFill/>
          <a:ln cap="flat" cmpd="sng" w="9525">
            <a:solidFill>
              <a:srgbClr val="E5E5E5"/>
            </a:solidFill>
            <a:prstDash val="solid"/>
            <a:round/>
            <a:headEnd len="sm" w="sm" type="none"/>
            <a:tailEnd len="sm" w="sm" type="none"/>
          </a:ln>
        </p:spPr>
      </p:cxnSp>
      <p:cxnSp>
        <p:nvCxnSpPr>
          <p:cNvPr id="86" name="Google Shape;86;p6"/>
          <p:cNvCxnSpPr/>
          <p:nvPr/>
        </p:nvCxnSpPr>
        <p:spPr>
          <a:xfrm>
            <a:off x="1261872" y="1828800"/>
            <a:ext cx="1011936" cy="480060"/>
          </a:xfrm>
          <a:prstGeom prst="straightConnector1">
            <a:avLst/>
          </a:prstGeom>
          <a:noFill/>
          <a:ln cap="flat" cmpd="sng" w="9525">
            <a:solidFill>
              <a:srgbClr val="E5E5E5"/>
            </a:solidFill>
            <a:prstDash val="solid"/>
            <a:round/>
            <a:headEnd len="sm" w="sm" type="none"/>
            <a:tailEnd len="sm" w="sm" type="none"/>
          </a:ln>
        </p:spPr>
      </p:cxnSp>
      <p:cxnSp>
        <p:nvCxnSpPr>
          <p:cNvPr id="87" name="Google Shape;87;p6"/>
          <p:cNvCxnSpPr/>
          <p:nvPr/>
        </p:nvCxnSpPr>
        <p:spPr>
          <a:xfrm>
            <a:off x="1261872" y="1828800"/>
            <a:ext cx="1011936" cy="960120"/>
          </a:xfrm>
          <a:prstGeom prst="straightConnector1">
            <a:avLst/>
          </a:prstGeom>
          <a:noFill/>
          <a:ln cap="flat" cmpd="sng" w="9525">
            <a:solidFill>
              <a:srgbClr val="E5E5E5"/>
            </a:solidFill>
            <a:prstDash val="solid"/>
            <a:round/>
            <a:headEnd len="sm" w="sm" type="none"/>
            <a:tailEnd len="sm" w="sm" type="none"/>
          </a:ln>
        </p:spPr>
      </p:cxnSp>
      <p:cxnSp>
        <p:nvCxnSpPr>
          <p:cNvPr id="88" name="Google Shape;88;p6"/>
          <p:cNvCxnSpPr/>
          <p:nvPr/>
        </p:nvCxnSpPr>
        <p:spPr>
          <a:xfrm>
            <a:off x="1261872" y="1828800"/>
            <a:ext cx="1011936" cy="1440180"/>
          </a:xfrm>
          <a:prstGeom prst="straightConnector1">
            <a:avLst/>
          </a:prstGeom>
          <a:noFill/>
          <a:ln cap="flat" cmpd="sng" w="9525">
            <a:solidFill>
              <a:srgbClr val="E5E5E5"/>
            </a:solidFill>
            <a:prstDash val="solid"/>
            <a:round/>
            <a:headEnd len="sm" w="sm" type="none"/>
            <a:tailEnd len="sm" w="sm" type="none"/>
          </a:ln>
        </p:spPr>
      </p:cxnSp>
      <p:cxnSp>
        <p:nvCxnSpPr>
          <p:cNvPr id="89" name="Google Shape;89;p6"/>
          <p:cNvCxnSpPr/>
          <p:nvPr/>
        </p:nvCxnSpPr>
        <p:spPr>
          <a:xfrm>
            <a:off x="1261872" y="1828800"/>
            <a:ext cx="1011936" cy="1920240"/>
          </a:xfrm>
          <a:prstGeom prst="straightConnector1">
            <a:avLst/>
          </a:prstGeom>
          <a:noFill/>
          <a:ln cap="flat" cmpd="sng" w="9525">
            <a:solidFill>
              <a:srgbClr val="E5E5E5"/>
            </a:solidFill>
            <a:prstDash val="solid"/>
            <a:round/>
            <a:headEnd len="sm" w="sm" type="none"/>
            <a:tailEnd len="sm" w="sm" type="none"/>
          </a:ln>
        </p:spPr>
      </p:cxnSp>
      <p:cxnSp>
        <p:nvCxnSpPr>
          <p:cNvPr id="90" name="Google Shape;90;p6"/>
          <p:cNvCxnSpPr/>
          <p:nvPr/>
        </p:nvCxnSpPr>
        <p:spPr>
          <a:xfrm flipH="1" rot="10800000">
            <a:off x="1261872" y="1828800"/>
            <a:ext cx="1011936" cy="640080"/>
          </a:xfrm>
          <a:prstGeom prst="straightConnector1">
            <a:avLst/>
          </a:prstGeom>
          <a:noFill/>
          <a:ln cap="flat" cmpd="sng" w="9525">
            <a:solidFill>
              <a:srgbClr val="E5E5E5"/>
            </a:solidFill>
            <a:prstDash val="solid"/>
            <a:round/>
            <a:headEnd len="sm" w="sm" type="none"/>
            <a:tailEnd len="sm" w="sm" type="none"/>
          </a:ln>
        </p:spPr>
      </p:cxnSp>
      <p:cxnSp>
        <p:nvCxnSpPr>
          <p:cNvPr id="91" name="Google Shape;91;p6"/>
          <p:cNvCxnSpPr/>
          <p:nvPr/>
        </p:nvCxnSpPr>
        <p:spPr>
          <a:xfrm flipH="1" rot="10800000">
            <a:off x="1261872" y="2308860"/>
            <a:ext cx="1011936" cy="160020"/>
          </a:xfrm>
          <a:prstGeom prst="straightConnector1">
            <a:avLst/>
          </a:prstGeom>
          <a:noFill/>
          <a:ln cap="flat" cmpd="sng" w="9525">
            <a:solidFill>
              <a:srgbClr val="E5E5E5"/>
            </a:solidFill>
            <a:prstDash val="solid"/>
            <a:round/>
            <a:headEnd len="sm" w="sm" type="none"/>
            <a:tailEnd len="sm" w="sm" type="none"/>
          </a:ln>
        </p:spPr>
      </p:cxnSp>
      <p:cxnSp>
        <p:nvCxnSpPr>
          <p:cNvPr id="92" name="Google Shape;92;p6"/>
          <p:cNvCxnSpPr/>
          <p:nvPr/>
        </p:nvCxnSpPr>
        <p:spPr>
          <a:xfrm>
            <a:off x="1261872" y="2468880"/>
            <a:ext cx="1011936" cy="320040"/>
          </a:xfrm>
          <a:prstGeom prst="straightConnector1">
            <a:avLst/>
          </a:prstGeom>
          <a:noFill/>
          <a:ln cap="flat" cmpd="sng" w="9525">
            <a:solidFill>
              <a:srgbClr val="E5E5E5"/>
            </a:solidFill>
            <a:prstDash val="solid"/>
            <a:round/>
            <a:headEnd len="sm" w="sm" type="none"/>
            <a:tailEnd len="sm" w="sm" type="none"/>
          </a:ln>
        </p:spPr>
      </p:cxnSp>
      <p:cxnSp>
        <p:nvCxnSpPr>
          <p:cNvPr id="93" name="Google Shape;93;p6"/>
          <p:cNvCxnSpPr/>
          <p:nvPr/>
        </p:nvCxnSpPr>
        <p:spPr>
          <a:xfrm>
            <a:off x="1261872" y="2468880"/>
            <a:ext cx="1011936" cy="800100"/>
          </a:xfrm>
          <a:prstGeom prst="straightConnector1">
            <a:avLst/>
          </a:prstGeom>
          <a:noFill/>
          <a:ln cap="flat" cmpd="sng" w="9525">
            <a:solidFill>
              <a:srgbClr val="E5E5E5"/>
            </a:solidFill>
            <a:prstDash val="solid"/>
            <a:round/>
            <a:headEnd len="sm" w="sm" type="none"/>
            <a:tailEnd len="sm" w="sm" type="none"/>
          </a:ln>
        </p:spPr>
      </p:cxnSp>
      <p:cxnSp>
        <p:nvCxnSpPr>
          <p:cNvPr id="94" name="Google Shape;94;p6"/>
          <p:cNvCxnSpPr/>
          <p:nvPr/>
        </p:nvCxnSpPr>
        <p:spPr>
          <a:xfrm>
            <a:off x="1261872" y="2468880"/>
            <a:ext cx="1011936" cy="1280160"/>
          </a:xfrm>
          <a:prstGeom prst="straightConnector1">
            <a:avLst/>
          </a:prstGeom>
          <a:noFill/>
          <a:ln cap="flat" cmpd="sng" w="9525">
            <a:solidFill>
              <a:srgbClr val="E5E5E5"/>
            </a:solidFill>
            <a:prstDash val="solid"/>
            <a:round/>
            <a:headEnd len="sm" w="sm" type="none"/>
            <a:tailEnd len="sm" w="sm" type="none"/>
          </a:ln>
        </p:spPr>
      </p:cxnSp>
      <p:cxnSp>
        <p:nvCxnSpPr>
          <p:cNvPr id="95" name="Google Shape;95;p6"/>
          <p:cNvCxnSpPr/>
          <p:nvPr/>
        </p:nvCxnSpPr>
        <p:spPr>
          <a:xfrm flipH="1" rot="10800000">
            <a:off x="1261872" y="1828800"/>
            <a:ext cx="1011936" cy="1280160"/>
          </a:xfrm>
          <a:prstGeom prst="straightConnector1">
            <a:avLst/>
          </a:prstGeom>
          <a:noFill/>
          <a:ln cap="flat" cmpd="sng" w="9525">
            <a:solidFill>
              <a:srgbClr val="E5E5E5"/>
            </a:solidFill>
            <a:prstDash val="solid"/>
            <a:round/>
            <a:headEnd len="sm" w="sm" type="none"/>
            <a:tailEnd len="sm" w="sm" type="none"/>
          </a:ln>
        </p:spPr>
      </p:cxnSp>
      <p:cxnSp>
        <p:nvCxnSpPr>
          <p:cNvPr id="96" name="Google Shape;96;p6"/>
          <p:cNvCxnSpPr/>
          <p:nvPr/>
        </p:nvCxnSpPr>
        <p:spPr>
          <a:xfrm flipH="1" rot="10800000">
            <a:off x="1261872" y="2308860"/>
            <a:ext cx="1011936" cy="800100"/>
          </a:xfrm>
          <a:prstGeom prst="straightConnector1">
            <a:avLst/>
          </a:prstGeom>
          <a:noFill/>
          <a:ln cap="flat" cmpd="sng" w="9525">
            <a:solidFill>
              <a:srgbClr val="E5E5E5"/>
            </a:solidFill>
            <a:prstDash val="solid"/>
            <a:round/>
            <a:headEnd len="sm" w="sm" type="none"/>
            <a:tailEnd len="sm" w="sm" type="none"/>
          </a:ln>
        </p:spPr>
      </p:cxnSp>
      <p:cxnSp>
        <p:nvCxnSpPr>
          <p:cNvPr id="97" name="Google Shape;97;p6"/>
          <p:cNvCxnSpPr/>
          <p:nvPr/>
        </p:nvCxnSpPr>
        <p:spPr>
          <a:xfrm flipH="1" rot="10800000">
            <a:off x="1261872" y="2788920"/>
            <a:ext cx="1011936" cy="320040"/>
          </a:xfrm>
          <a:prstGeom prst="straightConnector1">
            <a:avLst/>
          </a:prstGeom>
          <a:noFill/>
          <a:ln cap="flat" cmpd="sng" w="9525">
            <a:solidFill>
              <a:srgbClr val="E5E5E5"/>
            </a:solidFill>
            <a:prstDash val="solid"/>
            <a:round/>
            <a:headEnd len="sm" w="sm" type="none"/>
            <a:tailEnd len="sm" w="sm" type="none"/>
          </a:ln>
        </p:spPr>
      </p:cxnSp>
      <p:cxnSp>
        <p:nvCxnSpPr>
          <p:cNvPr id="98" name="Google Shape;98;p6"/>
          <p:cNvCxnSpPr/>
          <p:nvPr/>
        </p:nvCxnSpPr>
        <p:spPr>
          <a:xfrm>
            <a:off x="1261872" y="3108960"/>
            <a:ext cx="1011936" cy="160020"/>
          </a:xfrm>
          <a:prstGeom prst="straightConnector1">
            <a:avLst/>
          </a:prstGeom>
          <a:noFill/>
          <a:ln cap="flat" cmpd="sng" w="9525">
            <a:solidFill>
              <a:srgbClr val="E5E5E5"/>
            </a:solidFill>
            <a:prstDash val="solid"/>
            <a:round/>
            <a:headEnd len="sm" w="sm" type="none"/>
            <a:tailEnd len="sm" w="sm" type="none"/>
          </a:ln>
        </p:spPr>
      </p:cxnSp>
      <p:cxnSp>
        <p:nvCxnSpPr>
          <p:cNvPr id="99" name="Google Shape;99;p6"/>
          <p:cNvCxnSpPr/>
          <p:nvPr/>
        </p:nvCxnSpPr>
        <p:spPr>
          <a:xfrm>
            <a:off x="1261872" y="3108960"/>
            <a:ext cx="1011936" cy="640080"/>
          </a:xfrm>
          <a:prstGeom prst="straightConnector1">
            <a:avLst/>
          </a:prstGeom>
          <a:noFill/>
          <a:ln cap="flat" cmpd="sng" w="9525">
            <a:solidFill>
              <a:srgbClr val="E5E5E5"/>
            </a:solidFill>
            <a:prstDash val="solid"/>
            <a:round/>
            <a:headEnd len="sm" w="sm" type="none"/>
            <a:tailEnd len="sm" w="sm" type="none"/>
          </a:ln>
        </p:spPr>
      </p:cxnSp>
      <p:cxnSp>
        <p:nvCxnSpPr>
          <p:cNvPr id="100" name="Google Shape;100;p6"/>
          <p:cNvCxnSpPr/>
          <p:nvPr/>
        </p:nvCxnSpPr>
        <p:spPr>
          <a:xfrm flipH="1" rot="10800000">
            <a:off x="1261872" y="1828800"/>
            <a:ext cx="1011936" cy="1920240"/>
          </a:xfrm>
          <a:prstGeom prst="straightConnector1">
            <a:avLst/>
          </a:prstGeom>
          <a:noFill/>
          <a:ln cap="flat" cmpd="sng" w="9525">
            <a:solidFill>
              <a:srgbClr val="E5E5E5"/>
            </a:solidFill>
            <a:prstDash val="solid"/>
            <a:round/>
            <a:headEnd len="sm" w="sm" type="none"/>
            <a:tailEnd len="sm" w="sm" type="none"/>
          </a:ln>
        </p:spPr>
      </p:cxnSp>
      <p:cxnSp>
        <p:nvCxnSpPr>
          <p:cNvPr id="101" name="Google Shape;101;p6"/>
          <p:cNvCxnSpPr/>
          <p:nvPr/>
        </p:nvCxnSpPr>
        <p:spPr>
          <a:xfrm flipH="1" rot="10800000">
            <a:off x="1261872" y="2308860"/>
            <a:ext cx="1011936" cy="1440180"/>
          </a:xfrm>
          <a:prstGeom prst="straightConnector1">
            <a:avLst/>
          </a:prstGeom>
          <a:noFill/>
          <a:ln cap="flat" cmpd="sng" w="9525">
            <a:solidFill>
              <a:srgbClr val="E5E5E5"/>
            </a:solidFill>
            <a:prstDash val="solid"/>
            <a:round/>
            <a:headEnd len="sm" w="sm" type="none"/>
            <a:tailEnd len="sm" w="sm" type="none"/>
          </a:ln>
        </p:spPr>
      </p:cxnSp>
      <p:cxnSp>
        <p:nvCxnSpPr>
          <p:cNvPr id="102" name="Google Shape;102;p6"/>
          <p:cNvCxnSpPr/>
          <p:nvPr/>
        </p:nvCxnSpPr>
        <p:spPr>
          <a:xfrm flipH="1" rot="10800000">
            <a:off x="1261872" y="2788920"/>
            <a:ext cx="1011936" cy="960120"/>
          </a:xfrm>
          <a:prstGeom prst="straightConnector1">
            <a:avLst/>
          </a:prstGeom>
          <a:noFill/>
          <a:ln cap="flat" cmpd="sng" w="9525">
            <a:solidFill>
              <a:srgbClr val="E5E5E5"/>
            </a:solidFill>
            <a:prstDash val="solid"/>
            <a:round/>
            <a:headEnd len="sm" w="sm" type="none"/>
            <a:tailEnd len="sm" w="sm" type="none"/>
          </a:ln>
        </p:spPr>
      </p:cxnSp>
      <p:cxnSp>
        <p:nvCxnSpPr>
          <p:cNvPr id="103" name="Google Shape;103;p6"/>
          <p:cNvCxnSpPr/>
          <p:nvPr/>
        </p:nvCxnSpPr>
        <p:spPr>
          <a:xfrm flipH="1" rot="10800000">
            <a:off x="1261872" y="3268980"/>
            <a:ext cx="1011936" cy="480060"/>
          </a:xfrm>
          <a:prstGeom prst="straightConnector1">
            <a:avLst/>
          </a:prstGeom>
          <a:noFill/>
          <a:ln cap="flat" cmpd="sng" w="9525">
            <a:solidFill>
              <a:srgbClr val="E5E5E5"/>
            </a:solidFill>
            <a:prstDash val="solid"/>
            <a:round/>
            <a:headEnd len="sm" w="sm" type="none"/>
            <a:tailEnd len="sm" w="sm" type="none"/>
          </a:ln>
        </p:spPr>
      </p:cxnSp>
      <p:cxnSp>
        <p:nvCxnSpPr>
          <p:cNvPr id="104" name="Google Shape;104;p6"/>
          <p:cNvCxnSpPr/>
          <p:nvPr/>
        </p:nvCxnSpPr>
        <p:spPr>
          <a:xfrm>
            <a:off x="1261872" y="3749040"/>
            <a:ext cx="1011936" cy="0"/>
          </a:xfrm>
          <a:prstGeom prst="straightConnector1">
            <a:avLst/>
          </a:prstGeom>
          <a:noFill/>
          <a:ln cap="flat" cmpd="sng" w="9525">
            <a:solidFill>
              <a:srgbClr val="E5E5E5"/>
            </a:solidFill>
            <a:prstDash val="solid"/>
            <a:round/>
            <a:headEnd len="sm" w="sm" type="none"/>
            <a:tailEnd len="sm" w="sm" type="none"/>
          </a:ln>
        </p:spPr>
      </p:cxnSp>
      <p:cxnSp>
        <p:nvCxnSpPr>
          <p:cNvPr id="105" name="Google Shape;105;p6"/>
          <p:cNvCxnSpPr/>
          <p:nvPr/>
        </p:nvCxnSpPr>
        <p:spPr>
          <a:xfrm>
            <a:off x="2602992" y="1828800"/>
            <a:ext cx="1011936" cy="0"/>
          </a:xfrm>
          <a:prstGeom prst="straightConnector1">
            <a:avLst/>
          </a:prstGeom>
          <a:noFill/>
          <a:ln cap="flat" cmpd="sng" w="9525">
            <a:solidFill>
              <a:srgbClr val="E5E5E5"/>
            </a:solidFill>
            <a:prstDash val="solid"/>
            <a:round/>
            <a:headEnd len="sm" w="sm" type="none"/>
            <a:tailEnd len="sm" w="sm" type="none"/>
          </a:ln>
        </p:spPr>
      </p:cxnSp>
      <p:cxnSp>
        <p:nvCxnSpPr>
          <p:cNvPr id="106" name="Google Shape;106;p6"/>
          <p:cNvCxnSpPr/>
          <p:nvPr/>
        </p:nvCxnSpPr>
        <p:spPr>
          <a:xfrm>
            <a:off x="2602992" y="1828800"/>
            <a:ext cx="1011936" cy="480060"/>
          </a:xfrm>
          <a:prstGeom prst="straightConnector1">
            <a:avLst/>
          </a:prstGeom>
          <a:noFill/>
          <a:ln cap="flat" cmpd="sng" w="9525">
            <a:solidFill>
              <a:srgbClr val="E5E5E5"/>
            </a:solidFill>
            <a:prstDash val="solid"/>
            <a:round/>
            <a:headEnd len="sm" w="sm" type="none"/>
            <a:tailEnd len="sm" w="sm" type="none"/>
          </a:ln>
        </p:spPr>
      </p:cxnSp>
      <p:cxnSp>
        <p:nvCxnSpPr>
          <p:cNvPr id="107" name="Google Shape;107;p6"/>
          <p:cNvCxnSpPr/>
          <p:nvPr/>
        </p:nvCxnSpPr>
        <p:spPr>
          <a:xfrm>
            <a:off x="2602992" y="1828800"/>
            <a:ext cx="1011936" cy="960120"/>
          </a:xfrm>
          <a:prstGeom prst="straightConnector1">
            <a:avLst/>
          </a:prstGeom>
          <a:noFill/>
          <a:ln cap="flat" cmpd="sng" w="9525">
            <a:solidFill>
              <a:srgbClr val="E5E5E5"/>
            </a:solidFill>
            <a:prstDash val="solid"/>
            <a:round/>
            <a:headEnd len="sm" w="sm" type="none"/>
            <a:tailEnd len="sm" w="sm" type="none"/>
          </a:ln>
        </p:spPr>
      </p:cxnSp>
      <p:cxnSp>
        <p:nvCxnSpPr>
          <p:cNvPr id="108" name="Google Shape;108;p6"/>
          <p:cNvCxnSpPr/>
          <p:nvPr/>
        </p:nvCxnSpPr>
        <p:spPr>
          <a:xfrm>
            <a:off x="2602992" y="1828800"/>
            <a:ext cx="1011936" cy="1440180"/>
          </a:xfrm>
          <a:prstGeom prst="straightConnector1">
            <a:avLst/>
          </a:prstGeom>
          <a:noFill/>
          <a:ln cap="flat" cmpd="sng" w="9525">
            <a:solidFill>
              <a:srgbClr val="E5E5E5"/>
            </a:solidFill>
            <a:prstDash val="solid"/>
            <a:round/>
            <a:headEnd len="sm" w="sm" type="none"/>
            <a:tailEnd len="sm" w="sm" type="none"/>
          </a:ln>
        </p:spPr>
      </p:cxnSp>
      <p:cxnSp>
        <p:nvCxnSpPr>
          <p:cNvPr id="109" name="Google Shape;109;p6"/>
          <p:cNvCxnSpPr/>
          <p:nvPr/>
        </p:nvCxnSpPr>
        <p:spPr>
          <a:xfrm>
            <a:off x="2602992" y="1828800"/>
            <a:ext cx="1011936" cy="1920240"/>
          </a:xfrm>
          <a:prstGeom prst="straightConnector1">
            <a:avLst/>
          </a:prstGeom>
          <a:noFill/>
          <a:ln cap="flat" cmpd="sng" w="9525">
            <a:solidFill>
              <a:srgbClr val="E5E5E5"/>
            </a:solidFill>
            <a:prstDash val="solid"/>
            <a:round/>
            <a:headEnd len="sm" w="sm" type="none"/>
            <a:tailEnd len="sm" w="sm" type="none"/>
          </a:ln>
        </p:spPr>
      </p:cxnSp>
      <p:cxnSp>
        <p:nvCxnSpPr>
          <p:cNvPr id="110" name="Google Shape;110;p6"/>
          <p:cNvCxnSpPr/>
          <p:nvPr/>
        </p:nvCxnSpPr>
        <p:spPr>
          <a:xfrm flipH="1" rot="10800000">
            <a:off x="2602992" y="1828800"/>
            <a:ext cx="1011936" cy="480060"/>
          </a:xfrm>
          <a:prstGeom prst="straightConnector1">
            <a:avLst/>
          </a:prstGeom>
          <a:noFill/>
          <a:ln cap="flat" cmpd="sng" w="9525">
            <a:solidFill>
              <a:srgbClr val="E5E5E5"/>
            </a:solidFill>
            <a:prstDash val="solid"/>
            <a:round/>
            <a:headEnd len="sm" w="sm" type="none"/>
            <a:tailEnd len="sm" w="sm" type="none"/>
          </a:ln>
        </p:spPr>
      </p:cxnSp>
      <p:cxnSp>
        <p:nvCxnSpPr>
          <p:cNvPr id="111" name="Google Shape;111;p6"/>
          <p:cNvCxnSpPr/>
          <p:nvPr/>
        </p:nvCxnSpPr>
        <p:spPr>
          <a:xfrm>
            <a:off x="2602992" y="2308860"/>
            <a:ext cx="1011936" cy="0"/>
          </a:xfrm>
          <a:prstGeom prst="straightConnector1">
            <a:avLst/>
          </a:prstGeom>
          <a:noFill/>
          <a:ln cap="flat" cmpd="sng" w="9525">
            <a:solidFill>
              <a:srgbClr val="E5E5E5"/>
            </a:solidFill>
            <a:prstDash val="solid"/>
            <a:round/>
            <a:headEnd len="sm" w="sm" type="none"/>
            <a:tailEnd len="sm" w="sm" type="none"/>
          </a:ln>
        </p:spPr>
      </p:cxnSp>
      <p:cxnSp>
        <p:nvCxnSpPr>
          <p:cNvPr id="112" name="Google Shape;112;p6"/>
          <p:cNvCxnSpPr/>
          <p:nvPr/>
        </p:nvCxnSpPr>
        <p:spPr>
          <a:xfrm>
            <a:off x="2602992" y="2308860"/>
            <a:ext cx="1011936" cy="480060"/>
          </a:xfrm>
          <a:prstGeom prst="straightConnector1">
            <a:avLst/>
          </a:prstGeom>
          <a:noFill/>
          <a:ln cap="flat" cmpd="sng" w="9525">
            <a:solidFill>
              <a:srgbClr val="E5E5E5"/>
            </a:solidFill>
            <a:prstDash val="solid"/>
            <a:round/>
            <a:headEnd len="sm" w="sm" type="none"/>
            <a:tailEnd len="sm" w="sm" type="none"/>
          </a:ln>
        </p:spPr>
      </p:cxnSp>
      <p:cxnSp>
        <p:nvCxnSpPr>
          <p:cNvPr id="113" name="Google Shape;113;p6"/>
          <p:cNvCxnSpPr/>
          <p:nvPr/>
        </p:nvCxnSpPr>
        <p:spPr>
          <a:xfrm>
            <a:off x="2602992" y="2308860"/>
            <a:ext cx="1011936" cy="960120"/>
          </a:xfrm>
          <a:prstGeom prst="straightConnector1">
            <a:avLst/>
          </a:prstGeom>
          <a:noFill/>
          <a:ln cap="flat" cmpd="sng" w="9525">
            <a:solidFill>
              <a:srgbClr val="E5E5E5"/>
            </a:solidFill>
            <a:prstDash val="solid"/>
            <a:round/>
            <a:headEnd len="sm" w="sm" type="none"/>
            <a:tailEnd len="sm" w="sm" type="none"/>
          </a:ln>
        </p:spPr>
      </p:cxnSp>
      <p:cxnSp>
        <p:nvCxnSpPr>
          <p:cNvPr id="114" name="Google Shape;114;p6"/>
          <p:cNvCxnSpPr/>
          <p:nvPr/>
        </p:nvCxnSpPr>
        <p:spPr>
          <a:xfrm>
            <a:off x="2602992" y="2308860"/>
            <a:ext cx="1011936" cy="1440180"/>
          </a:xfrm>
          <a:prstGeom prst="straightConnector1">
            <a:avLst/>
          </a:prstGeom>
          <a:noFill/>
          <a:ln cap="flat" cmpd="sng" w="9525">
            <a:solidFill>
              <a:srgbClr val="E5E5E5"/>
            </a:solidFill>
            <a:prstDash val="solid"/>
            <a:round/>
            <a:headEnd len="sm" w="sm" type="none"/>
            <a:tailEnd len="sm" w="sm" type="none"/>
          </a:ln>
        </p:spPr>
      </p:cxnSp>
      <p:cxnSp>
        <p:nvCxnSpPr>
          <p:cNvPr id="115" name="Google Shape;115;p6"/>
          <p:cNvCxnSpPr/>
          <p:nvPr/>
        </p:nvCxnSpPr>
        <p:spPr>
          <a:xfrm flipH="1" rot="10800000">
            <a:off x="2602992" y="1828800"/>
            <a:ext cx="1011936" cy="960120"/>
          </a:xfrm>
          <a:prstGeom prst="straightConnector1">
            <a:avLst/>
          </a:prstGeom>
          <a:noFill/>
          <a:ln cap="flat" cmpd="sng" w="9525">
            <a:solidFill>
              <a:srgbClr val="E5E5E5"/>
            </a:solidFill>
            <a:prstDash val="solid"/>
            <a:round/>
            <a:headEnd len="sm" w="sm" type="none"/>
            <a:tailEnd len="sm" w="sm" type="none"/>
          </a:ln>
        </p:spPr>
      </p:cxnSp>
      <p:cxnSp>
        <p:nvCxnSpPr>
          <p:cNvPr id="116" name="Google Shape;116;p6"/>
          <p:cNvCxnSpPr/>
          <p:nvPr/>
        </p:nvCxnSpPr>
        <p:spPr>
          <a:xfrm flipH="1" rot="10800000">
            <a:off x="2602992" y="2308860"/>
            <a:ext cx="1011936" cy="480060"/>
          </a:xfrm>
          <a:prstGeom prst="straightConnector1">
            <a:avLst/>
          </a:prstGeom>
          <a:noFill/>
          <a:ln cap="flat" cmpd="sng" w="9525">
            <a:solidFill>
              <a:srgbClr val="E5E5E5"/>
            </a:solidFill>
            <a:prstDash val="solid"/>
            <a:round/>
            <a:headEnd len="sm" w="sm" type="none"/>
            <a:tailEnd len="sm" w="sm" type="none"/>
          </a:ln>
        </p:spPr>
      </p:cxnSp>
      <p:cxnSp>
        <p:nvCxnSpPr>
          <p:cNvPr id="117" name="Google Shape;117;p6"/>
          <p:cNvCxnSpPr/>
          <p:nvPr/>
        </p:nvCxnSpPr>
        <p:spPr>
          <a:xfrm>
            <a:off x="2602992" y="2788920"/>
            <a:ext cx="1011936" cy="0"/>
          </a:xfrm>
          <a:prstGeom prst="straightConnector1">
            <a:avLst/>
          </a:prstGeom>
          <a:noFill/>
          <a:ln cap="flat" cmpd="sng" w="9525">
            <a:solidFill>
              <a:srgbClr val="E5E5E5"/>
            </a:solidFill>
            <a:prstDash val="solid"/>
            <a:round/>
            <a:headEnd len="sm" w="sm" type="none"/>
            <a:tailEnd len="sm" w="sm" type="none"/>
          </a:ln>
        </p:spPr>
      </p:cxnSp>
      <p:cxnSp>
        <p:nvCxnSpPr>
          <p:cNvPr id="118" name="Google Shape;118;p6"/>
          <p:cNvCxnSpPr/>
          <p:nvPr/>
        </p:nvCxnSpPr>
        <p:spPr>
          <a:xfrm>
            <a:off x="2602992" y="2788920"/>
            <a:ext cx="1011936" cy="480060"/>
          </a:xfrm>
          <a:prstGeom prst="straightConnector1">
            <a:avLst/>
          </a:prstGeom>
          <a:noFill/>
          <a:ln cap="flat" cmpd="sng" w="9525">
            <a:solidFill>
              <a:srgbClr val="E5E5E5"/>
            </a:solidFill>
            <a:prstDash val="solid"/>
            <a:round/>
            <a:headEnd len="sm" w="sm" type="none"/>
            <a:tailEnd len="sm" w="sm" type="none"/>
          </a:ln>
        </p:spPr>
      </p:cxnSp>
      <p:cxnSp>
        <p:nvCxnSpPr>
          <p:cNvPr id="119" name="Google Shape;119;p6"/>
          <p:cNvCxnSpPr/>
          <p:nvPr/>
        </p:nvCxnSpPr>
        <p:spPr>
          <a:xfrm>
            <a:off x="2602992" y="2788920"/>
            <a:ext cx="1011936" cy="960120"/>
          </a:xfrm>
          <a:prstGeom prst="straightConnector1">
            <a:avLst/>
          </a:prstGeom>
          <a:noFill/>
          <a:ln cap="flat" cmpd="sng" w="9525">
            <a:solidFill>
              <a:srgbClr val="E5E5E5"/>
            </a:solidFill>
            <a:prstDash val="solid"/>
            <a:round/>
            <a:headEnd len="sm" w="sm" type="none"/>
            <a:tailEnd len="sm" w="sm" type="none"/>
          </a:ln>
        </p:spPr>
      </p:cxnSp>
      <p:cxnSp>
        <p:nvCxnSpPr>
          <p:cNvPr id="120" name="Google Shape;120;p6"/>
          <p:cNvCxnSpPr/>
          <p:nvPr/>
        </p:nvCxnSpPr>
        <p:spPr>
          <a:xfrm flipH="1" rot="10800000">
            <a:off x="2602992" y="1828800"/>
            <a:ext cx="1011936" cy="1440180"/>
          </a:xfrm>
          <a:prstGeom prst="straightConnector1">
            <a:avLst/>
          </a:prstGeom>
          <a:noFill/>
          <a:ln cap="flat" cmpd="sng" w="9525">
            <a:solidFill>
              <a:srgbClr val="E5E5E5"/>
            </a:solidFill>
            <a:prstDash val="solid"/>
            <a:round/>
            <a:headEnd len="sm" w="sm" type="none"/>
            <a:tailEnd len="sm" w="sm" type="none"/>
          </a:ln>
        </p:spPr>
      </p:cxnSp>
      <p:cxnSp>
        <p:nvCxnSpPr>
          <p:cNvPr id="121" name="Google Shape;121;p6"/>
          <p:cNvCxnSpPr/>
          <p:nvPr/>
        </p:nvCxnSpPr>
        <p:spPr>
          <a:xfrm flipH="1" rot="10800000">
            <a:off x="2602992" y="2308860"/>
            <a:ext cx="1011936" cy="960120"/>
          </a:xfrm>
          <a:prstGeom prst="straightConnector1">
            <a:avLst/>
          </a:prstGeom>
          <a:noFill/>
          <a:ln cap="flat" cmpd="sng" w="9525">
            <a:solidFill>
              <a:srgbClr val="E5E5E5"/>
            </a:solidFill>
            <a:prstDash val="solid"/>
            <a:round/>
            <a:headEnd len="sm" w="sm" type="none"/>
            <a:tailEnd len="sm" w="sm" type="none"/>
          </a:ln>
        </p:spPr>
      </p:cxnSp>
      <p:cxnSp>
        <p:nvCxnSpPr>
          <p:cNvPr id="122" name="Google Shape;122;p6"/>
          <p:cNvCxnSpPr/>
          <p:nvPr/>
        </p:nvCxnSpPr>
        <p:spPr>
          <a:xfrm flipH="1" rot="10800000">
            <a:off x="2602992" y="2788920"/>
            <a:ext cx="1011936" cy="480060"/>
          </a:xfrm>
          <a:prstGeom prst="straightConnector1">
            <a:avLst/>
          </a:prstGeom>
          <a:noFill/>
          <a:ln cap="flat" cmpd="sng" w="9525">
            <a:solidFill>
              <a:srgbClr val="E5E5E5"/>
            </a:solidFill>
            <a:prstDash val="solid"/>
            <a:round/>
            <a:headEnd len="sm" w="sm" type="none"/>
            <a:tailEnd len="sm" w="sm" type="none"/>
          </a:ln>
        </p:spPr>
      </p:cxnSp>
      <p:cxnSp>
        <p:nvCxnSpPr>
          <p:cNvPr id="123" name="Google Shape;123;p6"/>
          <p:cNvCxnSpPr/>
          <p:nvPr/>
        </p:nvCxnSpPr>
        <p:spPr>
          <a:xfrm>
            <a:off x="2602992" y="3268980"/>
            <a:ext cx="1011936" cy="0"/>
          </a:xfrm>
          <a:prstGeom prst="straightConnector1">
            <a:avLst/>
          </a:prstGeom>
          <a:noFill/>
          <a:ln cap="flat" cmpd="sng" w="9525">
            <a:solidFill>
              <a:srgbClr val="E5E5E5"/>
            </a:solidFill>
            <a:prstDash val="solid"/>
            <a:round/>
            <a:headEnd len="sm" w="sm" type="none"/>
            <a:tailEnd len="sm" w="sm" type="none"/>
          </a:ln>
        </p:spPr>
      </p:cxnSp>
      <p:cxnSp>
        <p:nvCxnSpPr>
          <p:cNvPr id="124" name="Google Shape;124;p6"/>
          <p:cNvCxnSpPr/>
          <p:nvPr/>
        </p:nvCxnSpPr>
        <p:spPr>
          <a:xfrm>
            <a:off x="2602992" y="3268980"/>
            <a:ext cx="1011936" cy="480060"/>
          </a:xfrm>
          <a:prstGeom prst="straightConnector1">
            <a:avLst/>
          </a:prstGeom>
          <a:noFill/>
          <a:ln cap="flat" cmpd="sng" w="9525">
            <a:solidFill>
              <a:srgbClr val="E5E5E5"/>
            </a:solidFill>
            <a:prstDash val="solid"/>
            <a:round/>
            <a:headEnd len="sm" w="sm" type="none"/>
            <a:tailEnd len="sm" w="sm" type="none"/>
          </a:ln>
        </p:spPr>
      </p:cxnSp>
      <p:cxnSp>
        <p:nvCxnSpPr>
          <p:cNvPr id="125" name="Google Shape;125;p6"/>
          <p:cNvCxnSpPr/>
          <p:nvPr/>
        </p:nvCxnSpPr>
        <p:spPr>
          <a:xfrm flipH="1" rot="10800000">
            <a:off x="2602992" y="1828800"/>
            <a:ext cx="1011936" cy="1920240"/>
          </a:xfrm>
          <a:prstGeom prst="straightConnector1">
            <a:avLst/>
          </a:prstGeom>
          <a:noFill/>
          <a:ln cap="flat" cmpd="sng" w="9525">
            <a:solidFill>
              <a:srgbClr val="E5E5E5"/>
            </a:solidFill>
            <a:prstDash val="solid"/>
            <a:round/>
            <a:headEnd len="sm" w="sm" type="none"/>
            <a:tailEnd len="sm" w="sm" type="none"/>
          </a:ln>
        </p:spPr>
      </p:cxnSp>
      <p:cxnSp>
        <p:nvCxnSpPr>
          <p:cNvPr id="126" name="Google Shape;126;p6"/>
          <p:cNvCxnSpPr/>
          <p:nvPr/>
        </p:nvCxnSpPr>
        <p:spPr>
          <a:xfrm flipH="1" rot="10800000">
            <a:off x="2602992" y="2308860"/>
            <a:ext cx="1011936" cy="1440180"/>
          </a:xfrm>
          <a:prstGeom prst="straightConnector1">
            <a:avLst/>
          </a:prstGeom>
          <a:noFill/>
          <a:ln cap="flat" cmpd="sng" w="9525">
            <a:solidFill>
              <a:srgbClr val="E5E5E5"/>
            </a:solidFill>
            <a:prstDash val="solid"/>
            <a:round/>
            <a:headEnd len="sm" w="sm" type="none"/>
            <a:tailEnd len="sm" w="sm" type="none"/>
          </a:ln>
        </p:spPr>
      </p:cxnSp>
      <p:cxnSp>
        <p:nvCxnSpPr>
          <p:cNvPr id="127" name="Google Shape;127;p6"/>
          <p:cNvCxnSpPr/>
          <p:nvPr/>
        </p:nvCxnSpPr>
        <p:spPr>
          <a:xfrm flipH="1" rot="10800000">
            <a:off x="2602992" y="2788920"/>
            <a:ext cx="1011936" cy="960120"/>
          </a:xfrm>
          <a:prstGeom prst="straightConnector1">
            <a:avLst/>
          </a:prstGeom>
          <a:noFill/>
          <a:ln cap="flat" cmpd="sng" w="9525">
            <a:solidFill>
              <a:srgbClr val="E5E5E5"/>
            </a:solidFill>
            <a:prstDash val="solid"/>
            <a:round/>
            <a:headEnd len="sm" w="sm" type="none"/>
            <a:tailEnd len="sm" w="sm" type="none"/>
          </a:ln>
        </p:spPr>
      </p:cxnSp>
      <p:cxnSp>
        <p:nvCxnSpPr>
          <p:cNvPr id="128" name="Google Shape;128;p6"/>
          <p:cNvCxnSpPr/>
          <p:nvPr/>
        </p:nvCxnSpPr>
        <p:spPr>
          <a:xfrm flipH="1" rot="10800000">
            <a:off x="2602992" y="3268980"/>
            <a:ext cx="1011936" cy="480060"/>
          </a:xfrm>
          <a:prstGeom prst="straightConnector1">
            <a:avLst/>
          </a:prstGeom>
          <a:noFill/>
          <a:ln cap="flat" cmpd="sng" w="9525">
            <a:solidFill>
              <a:srgbClr val="E5E5E5"/>
            </a:solidFill>
            <a:prstDash val="solid"/>
            <a:round/>
            <a:headEnd len="sm" w="sm" type="none"/>
            <a:tailEnd len="sm" w="sm" type="none"/>
          </a:ln>
        </p:spPr>
      </p:cxnSp>
      <p:cxnSp>
        <p:nvCxnSpPr>
          <p:cNvPr id="129" name="Google Shape;129;p6"/>
          <p:cNvCxnSpPr/>
          <p:nvPr/>
        </p:nvCxnSpPr>
        <p:spPr>
          <a:xfrm>
            <a:off x="2602992" y="3749040"/>
            <a:ext cx="1011936" cy="0"/>
          </a:xfrm>
          <a:prstGeom prst="straightConnector1">
            <a:avLst/>
          </a:prstGeom>
          <a:noFill/>
          <a:ln cap="flat" cmpd="sng" w="9525">
            <a:solidFill>
              <a:srgbClr val="E5E5E5"/>
            </a:solidFill>
            <a:prstDash val="solid"/>
            <a:round/>
            <a:headEnd len="sm" w="sm" type="none"/>
            <a:tailEnd len="sm" w="sm" type="none"/>
          </a:ln>
        </p:spPr>
      </p:cxnSp>
      <p:cxnSp>
        <p:nvCxnSpPr>
          <p:cNvPr id="130" name="Google Shape;130;p6"/>
          <p:cNvCxnSpPr/>
          <p:nvPr/>
        </p:nvCxnSpPr>
        <p:spPr>
          <a:xfrm>
            <a:off x="3944112" y="1828800"/>
            <a:ext cx="1011936" cy="0"/>
          </a:xfrm>
          <a:prstGeom prst="straightConnector1">
            <a:avLst/>
          </a:prstGeom>
          <a:noFill/>
          <a:ln cap="flat" cmpd="sng" w="9525">
            <a:solidFill>
              <a:srgbClr val="E5E5E5"/>
            </a:solidFill>
            <a:prstDash val="solid"/>
            <a:round/>
            <a:headEnd len="sm" w="sm" type="none"/>
            <a:tailEnd len="sm" w="sm" type="none"/>
          </a:ln>
        </p:spPr>
      </p:cxnSp>
      <p:cxnSp>
        <p:nvCxnSpPr>
          <p:cNvPr id="131" name="Google Shape;131;p6"/>
          <p:cNvCxnSpPr/>
          <p:nvPr/>
        </p:nvCxnSpPr>
        <p:spPr>
          <a:xfrm>
            <a:off x="3944112" y="1828800"/>
            <a:ext cx="1011936" cy="640080"/>
          </a:xfrm>
          <a:prstGeom prst="straightConnector1">
            <a:avLst/>
          </a:prstGeom>
          <a:noFill/>
          <a:ln cap="flat" cmpd="sng" w="9525">
            <a:solidFill>
              <a:srgbClr val="E5E5E5"/>
            </a:solidFill>
            <a:prstDash val="solid"/>
            <a:round/>
            <a:headEnd len="sm" w="sm" type="none"/>
            <a:tailEnd len="sm" w="sm" type="none"/>
          </a:ln>
        </p:spPr>
      </p:cxnSp>
      <p:cxnSp>
        <p:nvCxnSpPr>
          <p:cNvPr id="132" name="Google Shape;132;p6"/>
          <p:cNvCxnSpPr/>
          <p:nvPr/>
        </p:nvCxnSpPr>
        <p:spPr>
          <a:xfrm>
            <a:off x="3944112" y="1828800"/>
            <a:ext cx="1011936" cy="1280160"/>
          </a:xfrm>
          <a:prstGeom prst="straightConnector1">
            <a:avLst/>
          </a:prstGeom>
          <a:noFill/>
          <a:ln cap="flat" cmpd="sng" w="9525">
            <a:solidFill>
              <a:srgbClr val="E5E5E5"/>
            </a:solidFill>
            <a:prstDash val="solid"/>
            <a:round/>
            <a:headEnd len="sm" w="sm" type="none"/>
            <a:tailEnd len="sm" w="sm" type="none"/>
          </a:ln>
        </p:spPr>
      </p:cxnSp>
      <p:cxnSp>
        <p:nvCxnSpPr>
          <p:cNvPr id="133" name="Google Shape;133;p6"/>
          <p:cNvCxnSpPr/>
          <p:nvPr/>
        </p:nvCxnSpPr>
        <p:spPr>
          <a:xfrm>
            <a:off x="3944112" y="1828800"/>
            <a:ext cx="1011936" cy="1920240"/>
          </a:xfrm>
          <a:prstGeom prst="straightConnector1">
            <a:avLst/>
          </a:prstGeom>
          <a:noFill/>
          <a:ln cap="flat" cmpd="sng" w="9525">
            <a:solidFill>
              <a:srgbClr val="E5E5E5"/>
            </a:solidFill>
            <a:prstDash val="solid"/>
            <a:round/>
            <a:headEnd len="sm" w="sm" type="none"/>
            <a:tailEnd len="sm" w="sm" type="none"/>
          </a:ln>
        </p:spPr>
      </p:cxnSp>
      <p:cxnSp>
        <p:nvCxnSpPr>
          <p:cNvPr id="134" name="Google Shape;134;p6"/>
          <p:cNvCxnSpPr/>
          <p:nvPr/>
        </p:nvCxnSpPr>
        <p:spPr>
          <a:xfrm flipH="1" rot="10800000">
            <a:off x="3944112" y="1828800"/>
            <a:ext cx="1011936" cy="480060"/>
          </a:xfrm>
          <a:prstGeom prst="straightConnector1">
            <a:avLst/>
          </a:prstGeom>
          <a:noFill/>
          <a:ln cap="flat" cmpd="sng" w="9525">
            <a:solidFill>
              <a:srgbClr val="E5E5E5"/>
            </a:solidFill>
            <a:prstDash val="solid"/>
            <a:round/>
            <a:headEnd len="sm" w="sm" type="none"/>
            <a:tailEnd len="sm" w="sm" type="none"/>
          </a:ln>
        </p:spPr>
      </p:cxnSp>
      <p:cxnSp>
        <p:nvCxnSpPr>
          <p:cNvPr id="135" name="Google Shape;135;p6"/>
          <p:cNvCxnSpPr/>
          <p:nvPr/>
        </p:nvCxnSpPr>
        <p:spPr>
          <a:xfrm>
            <a:off x="3944112" y="2308860"/>
            <a:ext cx="1011936" cy="160020"/>
          </a:xfrm>
          <a:prstGeom prst="straightConnector1">
            <a:avLst/>
          </a:prstGeom>
          <a:noFill/>
          <a:ln cap="flat" cmpd="sng" w="9525">
            <a:solidFill>
              <a:srgbClr val="E5E5E5"/>
            </a:solidFill>
            <a:prstDash val="solid"/>
            <a:round/>
            <a:headEnd len="sm" w="sm" type="none"/>
            <a:tailEnd len="sm" w="sm" type="none"/>
          </a:ln>
        </p:spPr>
      </p:cxnSp>
      <p:cxnSp>
        <p:nvCxnSpPr>
          <p:cNvPr id="136" name="Google Shape;136;p6"/>
          <p:cNvCxnSpPr/>
          <p:nvPr/>
        </p:nvCxnSpPr>
        <p:spPr>
          <a:xfrm>
            <a:off x="3944112" y="2308860"/>
            <a:ext cx="1011936" cy="800100"/>
          </a:xfrm>
          <a:prstGeom prst="straightConnector1">
            <a:avLst/>
          </a:prstGeom>
          <a:noFill/>
          <a:ln cap="flat" cmpd="sng" w="9525">
            <a:solidFill>
              <a:srgbClr val="E5E5E5"/>
            </a:solidFill>
            <a:prstDash val="solid"/>
            <a:round/>
            <a:headEnd len="sm" w="sm" type="none"/>
            <a:tailEnd len="sm" w="sm" type="none"/>
          </a:ln>
        </p:spPr>
      </p:cxnSp>
      <p:cxnSp>
        <p:nvCxnSpPr>
          <p:cNvPr id="137" name="Google Shape;137;p6"/>
          <p:cNvCxnSpPr/>
          <p:nvPr/>
        </p:nvCxnSpPr>
        <p:spPr>
          <a:xfrm>
            <a:off x="3944112" y="2308860"/>
            <a:ext cx="1011936" cy="1440180"/>
          </a:xfrm>
          <a:prstGeom prst="straightConnector1">
            <a:avLst/>
          </a:prstGeom>
          <a:noFill/>
          <a:ln cap="flat" cmpd="sng" w="9525">
            <a:solidFill>
              <a:srgbClr val="E5E5E5"/>
            </a:solidFill>
            <a:prstDash val="solid"/>
            <a:round/>
            <a:headEnd len="sm" w="sm" type="none"/>
            <a:tailEnd len="sm" w="sm" type="none"/>
          </a:ln>
        </p:spPr>
      </p:cxnSp>
      <p:cxnSp>
        <p:nvCxnSpPr>
          <p:cNvPr id="138" name="Google Shape;138;p6"/>
          <p:cNvCxnSpPr/>
          <p:nvPr/>
        </p:nvCxnSpPr>
        <p:spPr>
          <a:xfrm flipH="1" rot="10800000">
            <a:off x="3944112" y="1828800"/>
            <a:ext cx="1011936" cy="960120"/>
          </a:xfrm>
          <a:prstGeom prst="straightConnector1">
            <a:avLst/>
          </a:prstGeom>
          <a:noFill/>
          <a:ln cap="flat" cmpd="sng" w="9525">
            <a:solidFill>
              <a:srgbClr val="E5E5E5"/>
            </a:solidFill>
            <a:prstDash val="solid"/>
            <a:round/>
            <a:headEnd len="sm" w="sm" type="none"/>
            <a:tailEnd len="sm" w="sm" type="none"/>
          </a:ln>
        </p:spPr>
      </p:cxnSp>
      <p:cxnSp>
        <p:nvCxnSpPr>
          <p:cNvPr id="139" name="Google Shape;139;p6"/>
          <p:cNvCxnSpPr/>
          <p:nvPr/>
        </p:nvCxnSpPr>
        <p:spPr>
          <a:xfrm flipH="1" rot="10800000">
            <a:off x="3944112" y="2468880"/>
            <a:ext cx="1011936" cy="320040"/>
          </a:xfrm>
          <a:prstGeom prst="straightConnector1">
            <a:avLst/>
          </a:prstGeom>
          <a:noFill/>
          <a:ln cap="flat" cmpd="sng" w="9525">
            <a:solidFill>
              <a:srgbClr val="E5E5E5"/>
            </a:solidFill>
            <a:prstDash val="solid"/>
            <a:round/>
            <a:headEnd len="sm" w="sm" type="none"/>
            <a:tailEnd len="sm" w="sm" type="none"/>
          </a:ln>
        </p:spPr>
      </p:cxnSp>
      <p:cxnSp>
        <p:nvCxnSpPr>
          <p:cNvPr id="140" name="Google Shape;140;p6"/>
          <p:cNvCxnSpPr/>
          <p:nvPr/>
        </p:nvCxnSpPr>
        <p:spPr>
          <a:xfrm>
            <a:off x="3944112" y="2788920"/>
            <a:ext cx="1011936" cy="320040"/>
          </a:xfrm>
          <a:prstGeom prst="straightConnector1">
            <a:avLst/>
          </a:prstGeom>
          <a:noFill/>
          <a:ln cap="flat" cmpd="sng" w="9525">
            <a:solidFill>
              <a:srgbClr val="E5E5E5"/>
            </a:solidFill>
            <a:prstDash val="solid"/>
            <a:round/>
            <a:headEnd len="sm" w="sm" type="none"/>
            <a:tailEnd len="sm" w="sm" type="none"/>
          </a:ln>
        </p:spPr>
      </p:cxnSp>
      <p:cxnSp>
        <p:nvCxnSpPr>
          <p:cNvPr id="141" name="Google Shape;141;p6"/>
          <p:cNvCxnSpPr/>
          <p:nvPr/>
        </p:nvCxnSpPr>
        <p:spPr>
          <a:xfrm>
            <a:off x="3944112" y="2788920"/>
            <a:ext cx="1011936" cy="960120"/>
          </a:xfrm>
          <a:prstGeom prst="straightConnector1">
            <a:avLst/>
          </a:prstGeom>
          <a:noFill/>
          <a:ln cap="flat" cmpd="sng" w="9525">
            <a:solidFill>
              <a:srgbClr val="E5E5E5"/>
            </a:solidFill>
            <a:prstDash val="solid"/>
            <a:round/>
            <a:headEnd len="sm" w="sm" type="none"/>
            <a:tailEnd len="sm" w="sm" type="none"/>
          </a:ln>
        </p:spPr>
      </p:cxnSp>
      <p:cxnSp>
        <p:nvCxnSpPr>
          <p:cNvPr id="142" name="Google Shape;142;p6"/>
          <p:cNvCxnSpPr/>
          <p:nvPr/>
        </p:nvCxnSpPr>
        <p:spPr>
          <a:xfrm flipH="1" rot="10800000">
            <a:off x="3944112" y="1828800"/>
            <a:ext cx="1011936" cy="1440180"/>
          </a:xfrm>
          <a:prstGeom prst="straightConnector1">
            <a:avLst/>
          </a:prstGeom>
          <a:noFill/>
          <a:ln cap="flat" cmpd="sng" w="9525">
            <a:solidFill>
              <a:srgbClr val="E5E5E5"/>
            </a:solidFill>
            <a:prstDash val="solid"/>
            <a:round/>
            <a:headEnd len="sm" w="sm" type="none"/>
            <a:tailEnd len="sm" w="sm" type="none"/>
          </a:ln>
        </p:spPr>
      </p:cxnSp>
      <p:cxnSp>
        <p:nvCxnSpPr>
          <p:cNvPr id="143" name="Google Shape;143;p6"/>
          <p:cNvCxnSpPr/>
          <p:nvPr/>
        </p:nvCxnSpPr>
        <p:spPr>
          <a:xfrm flipH="1" rot="10800000">
            <a:off x="3944112" y="2468880"/>
            <a:ext cx="1011936" cy="800100"/>
          </a:xfrm>
          <a:prstGeom prst="straightConnector1">
            <a:avLst/>
          </a:prstGeom>
          <a:noFill/>
          <a:ln cap="flat" cmpd="sng" w="9525">
            <a:solidFill>
              <a:srgbClr val="E5E5E5"/>
            </a:solidFill>
            <a:prstDash val="solid"/>
            <a:round/>
            <a:headEnd len="sm" w="sm" type="none"/>
            <a:tailEnd len="sm" w="sm" type="none"/>
          </a:ln>
        </p:spPr>
      </p:cxnSp>
      <p:cxnSp>
        <p:nvCxnSpPr>
          <p:cNvPr id="144" name="Google Shape;144;p6"/>
          <p:cNvCxnSpPr/>
          <p:nvPr/>
        </p:nvCxnSpPr>
        <p:spPr>
          <a:xfrm flipH="1" rot="10800000">
            <a:off x="3944112" y="3108960"/>
            <a:ext cx="1011936" cy="160020"/>
          </a:xfrm>
          <a:prstGeom prst="straightConnector1">
            <a:avLst/>
          </a:prstGeom>
          <a:noFill/>
          <a:ln cap="flat" cmpd="sng" w="9525">
            <a:solidFill>
              <a:srgbClr val="E5E5E5"/>
            </a:solidFill>
            <a:prstDash val="solid"/>
            <a:round/>
            <a:headEnd len="sm" w="sm" type="none"/>
            <a:tailEnd len="sm" w="sm" type="none"/>
          </a:ln>
        </p:spPr>
      </p:cxnSp>
      <p:cxnSp>
        <p:nvCxnSpPr>
          <p:cNvPr id="145" name="Google Shape;145;p6"/>
          <p:cNvCxnSpPr/>
          <p:nvPr/>
        </p:nvCxnSpPr>
        <p:spPr>
          <a:xfrm>
            <a:off x="3944112" y="3268980"/>
            <a:ext cx="1011936" cy="480060"/>
          </a:xfrm>
          <a:prstGeom prst="straightConnector1">
            <a:avLst/>
          </a:prstGeom>
          <a:noFill/>
          <a:ln cap="flat" cmpd="sng" w="9525">
            <a:solidFill>
              <a:srgbClr val="E5E5E5"/>
            </a:solidFill>
            <a:prstDash val="solid"/>
            <a:round/>
            <a:headEnd len="sm" w="sm" type="none"/>
            <a:tailEnd len="sm" w="sm" type="none"/>
          </a:ln>
        </p:spPr>
      </p:cxnSp>
      <p:cxnSp>
        <p:nvCxnSpPr>
          <p:cNvPr id="146" name="Google Shape;146;p6"/>
          <p:cNvCxnSpPr/>
          <p:nvPr/>
        </p:nvCxnSpPr>
        <p:spPr>
          <a:xfrm flipH="1" rot="10800000">
            <a:off x="3944112" y="1828800"/>
            <a:ext cx="1011936" cy="1920240"/>
          </a:xfrm>
          <a:prstGeom prst="straightConnector1">
            <a:avLst/>
          </a:prstGeom>
          <a:noFill/>
          <a:ln cap="flat" cmpd="sng" w="9525">
            <a:solidFill>
              <a:srgbClr val="E5E5E5"/>
            </a:solidFill>
            <a:prstDash val="solid"/>
            <a:round/>
            <a:headEnd len="sm" w="sm" type="none"/>
            <a:tailEnd len="sm" w="sm" type="none"/>
          </a:ln>
        </p:spPr>
      </p:cxnSp>
      <p:cxnSp>
        <p:nvCxnSpPr>
          <p:cNvPr id="147" name="Google Shape;147;p6"/>
          <p:cNvCxnSpPr/>
          <p:nvPr/>
        </p:nvCxnSpPr>
        <p:spPr>
          <a:xfrm flipH="1" rot="10800000">
            <a:off x="3944112" y="2468880"/>
            <a:ext cx="1011936" cy="1280160"/>
          </a:xfrm>
          <a:prstGeom prst="straightConnector1">
            <a:avLst/>
          </a:prstGeom>
          <a:noFill/>
          <a:ln cap="flat" cmpd="sng" w="9525">
            <a:solidFill>
              <a:srgbClr val="E5E5E5"/>
            </a:solidFill>
            <a:prstDash val="solid"/>
            <a:round/>
            <a:headEnd len="sm" w="sm" type="none"/>
            <a:tailEnd len="sm" w="sm" type="none"/>
          </a:ln>
        </p:spPr>
      </p:cxnSp>
      <p:cxnSp>
        <p:nvCxnSpPr>
          <p:cNvPr id="148" name="Google Shape;148;p6"/>
          <p:cNvCxnSpPr/>
          <p:nvPr/>
        </p:nvCxnSpPr>
        <p:spPr>
          <a:xfrm flipH="1" rot="10800000">
            <a:off x="3944112" y="3108960"/>
            <a:ext cx="1011936" cy="640080"/>
          </a:xfrm>
          <a:prstGeom prst="straightConnector1">
            <a:avLst/>
          </a:prstGeom>
          <a:noFill/>
          <a:ln cap="flat" cmpd="sng" w="9525">
            <a:solidFill>
              <a:srgbClr val="E5E5E5"/>
            </a:solidFill>
            <a:prstDash val="solid"/>
            <a:round/>
            <a:headEnd len="sm" w="sm" type="none"/>
            <a:tailEnd len="sm" w="sm" type="none"/>
          </a:ln>
        </p:spPr>
      </p:cxnSp>
      <p:cxnSp>
        <p:nvCxnSpPr>
          <p:cNvPr id="149" name="Google Shape;149;p6"/>
          <p:cNvCxnSpPr/>
          <p:nvPr/>
        </p:nvCxnSpPr>
        <p:spPr>
          <a:xfrm>
            <a:off x="3944112" y="3749040"/>
            <a:ext cx="1011936" cy="0"/>
          </a:xfrm>
          <a:prstGeom prst="straightConnector1">
            <a:avLst/>
          </a:prstGeom>
          <a:noFill/>
          <a:ln cap="flat" cmpd="sng" w="9525">
            <a:solidFill>
              <a:srgbClr val="E5E5E5"/>
            </a:solidFill>
            <a:prstDash val="solid"/>
            <a:round/>
            <a:headEnd len="sm" w="sm" type="none"/>
            <a:tailEnd len="sm" w="sm" type="none"/>
          </a:ln>
        </p:spPr>
      </p:cxnSp>
      <p:cxnSp>
        <p:nvCxnSpPr>
          <p:cNvPr id="150" name="Google Shape;150;p6"/>
          <p:cNvCxnSpPr/>
          <p:nvPr/>
        </p:nvCxnSpPr>
        <p:spPr>
          <a:xfrm>
            <a:off x="1261872" y="1828800"/>
            <a:ext cx="1011936" cy="960120"/>
          </a:xfrm>
          <a:prstGeom prst="straightConnector1">
            <a:avLst/>
          </a:prstGeom>
          <a:noFill/>
          <a:ln cap="flat" cmpd="sng" w="31750">
            <a:solidFill>
              <a:srgbClr val="40617A"/>
            </a:solidFill>
            <a:prstDash val="solid"/>
            <a:round/>
            <a:headEnd len="sm" w="sm" type="none"/>
            <a:tailEnd len="sm" w="sm" type="none"/>
          </a:ln>
        </p:spPr>
      </p:cxnSp>
      <p:sp>
        <p:nvSpPr>
          <p:cNvPr id="151" name="Google Shape;151;p6"/>
          <p:cNvSpPr/>
          <p:nvPr/>
        </p:nvSpPr>
        <p:spPr>
          <a:xfrm>
            <a:off x="1402080" y="2189988"/>
            <a:ext cx="731520" cy="237744"/>
          </a:xfrm>
          <a:prstGeom prst="rect">
            <a:avLst/>
          </a:prstGeom>
          <a:solidFill>
            <a:srgbClr val="FFFFFF"/>
          </a:solidFill>
          <a:ln cap="flat" cmpd="sng" w="12700">
            <a:solidFill>
              <a:srgbClr val="4061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6"/>
          <p:cNvSpPr/>
          <p:nvPr/>
        </p:nvSpPr>
        <p:spPr>
          <a:xfrm>
            <a:off x="1402080" y="2189988"/>
            <a:ext cx="73152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0617A"/>
              </a:buClr>
              <a:buSzPts val="1000"/>
              <a:buFont typeface="Calibri"/>
              <a:buNone/>
            </a:pPr>
            <a:r>
              <a:rPr b="1" i="0" lang="en-US" sz="1000" u="none" cap="none" strike="noStrike">
                <a:solidFill>
                  <a:srgbClr val="40617A"/>
                </a:solidFill>
                <a:latin typeface="Calibri"/>
                <a:ea typeface="Calibri"/>
                <a:cs typeface="Calibri"/>
                <a:sym typeface="Calibri"/>
              </a:rPr>
              <a:t>w = 0.42</a:t>
            </a:r>
            <a:endParaRPr b="0" i="0" sz="1000" u="none" cap="none" strike="noStrike">
              <a:solidFill>
                <a:schemeClr val="dk1"/>
              </a:solidFill>
              <a:latin typeface="Calibri"/>
              <a:ea typeface="Calibri"/>
              <a:cs typeface="Calibri"/>
              <a:sym typeface="Calibri"/>
            </a:endParaRPr>
          </a:p>
        </p:txBody>
      </p:sp>
      <p:sp>
        <p:nvSpPr>
          <p:cNvPr id="153" name="Google Shape;153;p6"/>
          <p:cNvSpPr/>
          <p:nvPr/>
        </p:nvSpPr>
        <p:spPr>
          <a:xfrm>
            <a:off x="932688" y="1664208"/>
            <a:ext cx="329184" cy="329184"/>
          </a:xfrm>
          <a:prstGeom prst="ellipse">
            <a:avLst/>
          </a:prstGeom>
          <a:solidFill>
            <a:srgbClr val="ACC9CB"/>
          </a:solidFill>
          <a:ln cap="flat" cmpd="sng" w="15225">
            <a:solidFill>
              <a:srgbClr val="2B56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6"/>
          <p:cNvSpPr/>
          <p:nvPr/>
        </p:nvSpPr>
        <p:spPr>
          <a:xfrm>
            <a:off x="932688" y="2304288"/>
            <a:ext cx="329184" cy="329184"/>
          </a:xfrm>
          <a:prstGeom prst="ellipse">
            <a:avLst/>
          </a:prstGeom>
          <a:solidFill>
            <a:srgbClr val="ACC9CB"/>
          </a:solidFill>
          <a:ln cap="flat" cmpd="sng" w="15225">
            <a:solidFill>
              <a:srgbClr val="2B56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6"/>
          <p:cNvSpPr/>
          <p:nvPr/>
        </p:nvSpPr>
        <p:spPr>
          <a:xfrm>
            <a:off x="932688" y="2944368"/>
            <a:ext cx="329184" cy="329184"/>
          </a:xfrm>
          <a:prstGeom prst="ellipse">
            <a:avLst/>
          </a:prstGeom>
          <a:solidFill>
            <a:srgbClr val="ACC9CB"/>
          </a:solidFill>
          <a:ln cap="flat" cmpd="sng" w="15225">
            <a:solidFill>
              <a:srgbClr val="2B56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6"/>
          <p:cNvSpPr/>
          <p:nvPr/>
        </p:nvSpPr>
        <p:spPr>
          <a:xfrm>
            <a:off x="932688" y="3584448"/>
            <a:ext cx="329184" cy="329184"/>
          </a:xfrm>
          <a:prstGeom prst="ellipse">
            <a:avLst/>
          </a:prstGeom>
          <a:solidFill>
            <a:srgbClr val="ACC9CB"/>
          </a:solidFill>
          <a:ln cap="flat" cmpd="sng" w="15225">
            <a:solidFill>
              <a:srgbClr val="2B56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6"/>
          <p:cNvSpPr/>
          <p:nvPr/>
        </p:nvSpPr>
        <p:spPr>
          <a:xfrm>
            <a:off x="2273808" y="1664208"/>
            <a:ext cx="329184" cy="329184"/>
          </a:xfrm>
          <a:prstGeom prst="ellipse">
            <a:avLst/>
          </a:prstGeom>
          <a:solidFill>
            <a:srgbClr val="FFFFFF"/>
          </a:solidFill>
          <a:ln cap="flat" cmpd="sng" w="15225">
            <a:solidFill>
              <a:srgbClr val="2B56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6"/>
          <p:cNvSpPr/>
          <p:nvPr/>
        </p:nvSpPr>
        <p:spPr>
          <a:xfrm>
            <a:off x="2273808" y="2144268"/>
            <a:ext cx="329184" cy="329184"/>
          </a:xfrm>
          <a:prstGeom prst="ellipse">
            <a:avLst/>
          </a:prstGeom>
          <a:solidFill>
            <a:srgbClr val="FFFFFF"/>
          </a:solidFill>
          <a:ln cap="flat" cmpd="sng" w="15225">
            <a:solidFill>
              <a:srgbClr val="2B56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6"/>
          <p:cNvSpPr/>
          <p:nvPr/>
        </p:nvSpPr>
        <p:spPr>
          <a:xfrm>
            <a:off x="2273808" y="2624328"/>
            <a:ext cx="329184" cy="329184"/>
          </a:xfrm>
          <a:prstGeom prst="ellipse">
            <a:avLst/>
          </a:prstGeom>
          <a:solidFill>
            <a:srgbClr val="FFFFFF"/>
          </a:solidFill>
          <a:ln cap="flat" cmpd="sng" w="15225">
            <a:solidFill>
              <a:srgbClr val="2B56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6"/>
          <p:cNvSpPr/>
          <p:nvPr/>
        </p:nvSpPr>
        <p:spPr>
          <a:xfrm>
            <a:off x="2273808" y="3104388"/>
            <a:ext cx="329184" cy="329184"/>
          </a:xfrm>
          <a:prstGeom prst="ellipse">
            <a:avLst/>
          </a:prstGeom>
          <a:solidFill>
            <a:srgbClr val="FFFFFF"/>
          </a:solidFill>
          <a:ln cap="flat" cmpd="sng" w="15225">
            <a:solidFill>
              <a:srgbClr val="2B56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6"/>
          <p:cNvSpPr/>
          <p:nvPr/>
        </p:nvSpPr>
        <p:spPr>
          <a:xfrm>
            <a:off x="2273808" y="3584448"/>
            <a:ext cx="329184" cy="329184"/>
          </a:xfrm>
          <a:prstGeom prst="ellipse">
            <a:avLst/>
          </a:prstGeom>
          <a:solidFill>
            <a:srgbClr val="FFFFFF"/>
          </a:solidFill>
          <a:ln cap="flat" cmpd="sng" w="15225">
            <a:solidFill>
              <a:srgbClr val="2B56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6"/>
          <p:cNvSpPr/>
          <p:nvPr/>
        </p:nvSpPr>
        <p:spPr>
          <a:xfrm>
            <a:off x="3614928" y="1664208"/>
            <a:ext cx="329184" cy="329184"/>
          </a:xfrm>
          <a:prstGeom prst="ellipse">
            <a:avLst/>
          </a:prstGeom>
          <a:solidFill>
            <a:srgbClr val="FFFFFF"/>
          </a:solidFill>
          <a:ln cap="flat" cmpd="sng" w="15225">
            <a:solidFill>
              <a:srgbClr val="2B56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6"/>
          <p:cNvSpPr/>
          <p:nvPr/>
        </p:nvSpPr>
        <p:spPr>
          <a:xfrm>
            <a:off x="3614928" y="2144268"/>
            <a:ext cx="329184" cy="329184"/>
          </a:xfrm>
          <a:prstGeom prst="ellipse">
            <a:avLst/>
          </a:prstGeom>
          <a:solidFill>
            <a:srgbClr val="FFFFFF"/>
          </a:solidFill>
          <a:ln cap="flat" cmpd="sng" w="15225">
            <a:solidFill>
              <a:srgbClr val="2B56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6"/>
          <p:cNvSpPr/>
          <p:nvPr/>
        </p:nvSpPr>
        <p:spPr>
          <a:xfrm>
            <a:off x="3614928" y="2624328"/>
            <a:ext cx="329184" cy="329184"/>
          </a:xfrm>
          <a:prstGeom prst="ellipse">
            <a:avLst/>
          </a:prstGeom>
          <a:solidFill>
            <a:srgbClr val="FFFFFF"/>
          </a:solidFill>
          <a:ln cap="flat" cmpd="sng" w="15225">
            <a:solidFill>
              <a:srgbClr val="2B56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6"/>
          <p:cNvSpPr/>
          <p:nvPr/>
        </p:nvSpPr>
        <p:spPr>
          <a:xfrm>
            <a:off x="3614928" y="3104388"/>
            <a:ext cx="329184" cy="329184"/>
          </a:xfrm>
          <a:prstGeom prst="ellipse">
            <a:avLst/>
          </a:prstGeom>
          <a:solidFill>
            <a:srgbClr val="FFFFFF"/>
          </a:solidFill>
          <a:ln cap="flat" cmpd="sng" w="15225">
            <a:solidFill>
              <a:srgbClr val="2B56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6"/>
          <p:cNvSpPr/>
          <p:nvPr/>
        </p:nvSpPr>
        <p:spPr>
          <a:xfrm>
            <a:off x="3614928" y="3584448"/>
            <a:ext cx="329184" cy="329184"/>
          </a:xfrm>
          <a:prstGeom prst="ellipse">
            <a:avLst/>
          </a:prstGeom>
          <a:solidFill>
            <a:srgbClr val="FFFFFF"/>
          </a:solidFill>
          <a:ln cap="flat" cmpd="sng" w="15225">
            <a:solidFill>
              <a:srgbClr val="2B56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6"/>
          <p:cNvSpPr/>
          <p:nvPr/>
        </p:nvSpPr>
        <p:spPr>
          <a:xfrm>
            <a:off x="4956048" y="1664208"/>
            <a:ext cx="329184" cy="329184"/>
          </a:xfrm>
          <a:prstGeom prst="ellipse">
            <a:avLst/>
          </a:prstGeom>
          <a:solidFill>
            <a:srgbClr val="2B5672"/>
          </a:solidFill>
          <a:ln cap="flat" cmpd="sng" w="15225">
            <a:solidFill>
              <a:srgbClr val="2B56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6"/>
          <p:cNvSpPr/>
          <p:nvPr/>
        </p:nvSpPr>
        <p:spPr>
          <a:xfrm>
            <a:off x="4956048" y="2304288"/>
            <a:ext cx="329184" cy="329184"/>
          </a:xfrm>
          <a:prstGeom prst="ellipse">
            <a:avLst/>
          </a:prstGeom>
          <a:solidFill>
            <a:srgbClr val="2B5672"/>
          </a:solidFill>
          <a:ln cap="flat" cmpd="sng" w="15225">
            <a:solidFill>
              <a:srgbClr val="2B56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6"/>
          <p:cNvSpPr/>
          <p:nvPr/>
        </p:nvSpPr>
        <p:spPr>
          <a:xfrm>
            <a:off x="4956048" y="2944368"/>
            <a:ext cx="329184" cy="329184"/>
          </a:xfrm>
          <a:prstGeom prst="ellipse">
            <a:avLst/>
          </a:prstGeom>
          <a:solidFill>
            <a:srgbClr val="2B5672"/>
          </a:solidFill>
          <a:ln cap="flat" cmpd="sng" w="15225">
            <a:solidFill>
              <a:srgbClr val="2B56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6"/>
          <p:cNvSpPr/>
          <p:nvPr/>
        </p:nvSpPr>
        <p:spPr>
          <a:xfrm>
            <a:off x="4956048" y="3584448"/>
            <a:ext cx="329184" cy="329184"/>
          </a:xfrm>
          <a:prstGeom prst="ellipse">
            <a:avLst/>
          </a:prstGeom>
          <a:solidFill>
            <a:srgbClr val="2B5672"/>
          </a:solidFill>
          <a:ln cap="flat" cmpd="sng" w="15225">
            <a:solidFill>
              <a:srgbClr val="2B56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6"/>
          <p:cNvSpPr/>
          <p:nvPr/>
        </p:nvSpPr>
        <p:spPr>
          <a:xfrm>
            <a:off x="548640" y="4096512"/>
            <a:ext cx="109728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5672"/>
              </a:buClr>
              <a:buSzPts val="1000"/>
              <a:buFont typeface="Calibri"/>
              <a:buNone/>
            </a:pPr>
            <a:r>
              <a:rPr b="1" i="0" lang="en-US" sz="1000" u="none" cap="none" strike="noStrike">
                <a:solidFill>
                  <a:srgbClr val="2B5672"/>
                </a:solidFill>
                <a:latin typeface="Calibri"/>
                <a:ea typeface="Calibri"/>
                <a:cs typeface="Calibri"/>
                <a:sym typeface="Calibri"/>
              </a:rPr>
              <a:t>Input</a:t>
            </a:r>
            <a:endParaRPr b="0" i="0" sz="1000" u="none" cap="none" strike="noStrike">
              <a:solidFill>
                <a:schemeClr val="dk1"/>
              </a:solidFill>
              <a:latin typeface="Calibri"/>
              <a:ea typeface="Calibri"/>
              <a:cs typeface="Calibri"/>
              <a:sym typeface="Calibri"/>
            </a:endParaRPr>
          </a:p>
        </p:txBody>
      </p:sp>
      <p:sp>
        <p:nvSpPr>
          <p:cNvPr id="172" name="Google Shape;172;p6"/>
          <p:cNvSpPr/>
          <p:nvPr/>
        </p:nvSpPr>
        <p:spPr>
          <a:xfrm>
            <a:off x="1889760" y="4096512"/>
            <a:ext cx="109728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5672"/>
              </a:buClr>
              <a:buSzPts val="1000"/>
              <a:buFont typeface="Calibri"/>
              <a:buNone/>
            </a:pPr>
            <a:r>
              <a:rPr b="1" i="0" lang="en-US" sz="1000" u="none" cap="none" strike="noStrike">
                <a:solidFill>
                  <a:srgbClr val="2B5672"/>
                </a:solidFill>
                <a:latin typeface="Calibri"/>
                <a:ea typeface="Calibri"/>
                <a:cs typeface="Calibri"/>
                <a:sym typeface="Calibri"/>
              </a:rPr>
              <a:t>Hidden</a:t>
            </a:r>
            <a:endParaRPr b="0" i="0" sz="1000" u="none" cap="none" strike="noStrike">
              <a:solidFill>
                <a:schemeClr val="dk1"/>
              </a:solidFill>
              <a:latin typeface="Calibri"/>
              <a:ea typeface="Calibri"/>
              <a:cs typeface="Calibri"/>
              <a:sym typeface="Calibri"/>
            </a:endParaRPr>
          </a:p>
        </p:txBody>
      </p:sp>
      <p:sp>
        <p:nvSpPr>
          <p:cNvPr id="173" name="Google Shape;173;p6"/>
          <p:cNvSpPr/>
          <p:nvPr/>
        </p:nvSpPr>
        <p:spPr>
          <a:xfrm>
            <a:off x="3230880" y="4096512"/>
            <a:ext cx="109728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5672"/>
              </a:buClr>
              <a:buSzPts val="1000"/>
              <a:buFont typeface="Calibri"/>
              <a:buNone/>
            </a:pPr>
            <a:r>
              <a:rPr b="1" i="0" lang="en-US" sz="1000" u="none" cap="none" strike="noStrike">
                <a:solidFill>
                  <a:srgbClr val="2B5672"/>
                </a:solidFill>
                <a:latin typeface="Calibri"/>
                <a:ea typeface="Calibri"/>
                <a:cs typeface="Calibri"/>
                <a:sym typeface="Calibri"/>
              </a:rPr>
              <a:t>Hidden</a:t>
            </a:r>
            <a:endParaRPr b="0" i="0" sz="1000" u="none" cap="none" strike="noStrike">
              <a:solidFill>
                <a:schemeClr val="dk1"/>
              </a:solidFill>
              <a:latin typeface="Calibri"/>
              <a:ea typeface="Calibri"/>
              <a:cs typeface="Calibri"/>
              <a:sym typeface="Calibri"/>
            </a:endParaRPr>
          </a:p>
        </p:txBody>
      </p:sp>
      <p:sp>
        <p:nvSpPr>
          <p:cNvPr id="174" name="Google Shape;174;p6"/>
          <p:cNvSpPr/>
          <p:nvPr/>
        </p:nvSpPr>
        <p:spPr>
          <a:xfrm>
            <a:off x="4572000" y="4096512"/>
            <a:ext cx="109728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5672"/>
              </a:buClr>
              <a:buSzPts val="1000"/>
              <a:buFont typeface="Calibri"/>
              <a:buNone/>
            </a:pPr>
            <a:r>
              <a:rPr b="1" i="0" lang="en-US" sz="1000" u="none" cap="none" strike="noStrike">
                <a:solidFill>
                  <a:srgbClr val="2B5672"/>
                </a:solidFill>
                <a:latin typeface="Calibri"/>
                <a:ea typeface="Calibri"/>
                <a:cs typeface="Calibri"/>
                <a:sym typeface="Calibri"/>
              </a:rPr>
              <a:t>Output</a:t>
            </a:r>
            <a:endParaRPr b="0" i="0" sz="1000" u="none" cap="none" strike="noStrike">
              <a:solidFill>
                <a:schemeClr val="dk1"/>
              </a:solidFill>
              <a:latin typeface="Calibri"/>
              <a:ea typeface="Calibri"/>
              <a:cs typeface="Calibri"/>
              <a:sym typeface="Calibri"/>
            </a:endParaRPr>
          </a:p>
        </p:txBody>
      </p:sp>
      <p:cxnSp>
        <p:nvCxnSpPr>
          <p:cNvPr id="175" name="Google Shape;175;p6"/>
          <p:cNvCxnSpPr/>
          <p:nvPr/>
        </p:nvCxnSpPr>
        <p:spPr>
          <a:xfrm>
            <a:off x="2438400" y="1481328"/>
            <a:ext cx="1341120" cy="0"/>
          </a:xfrm>
          <a:prstGeom prst="straightConnector1">
            <a:avLst/>
          </a:prstGeom>
          <a:noFill/>
          <a:ln cap="flat" cmpd="sng" w="9525">
            <a:solidFill>
              <a:srgbClr val="525258"/>
            </a:solidFill>
            <a:prstDash val="solid"/>
            <a:round/>
            <a:headEnd len="sm" w="sm" type="none"/>
            <a:tailEnd len="sm" w="sm" type="none"/>
          </a:ln>
        </p:spPr>
      </p:cxnSp>
      <p:sp>
        <p:nvSpPr>
          <p:cNvPr id="176" name="Google Shape;176;p6"/>
          <p:cNvSpPr/>
          <p:nvPr/>
        </p:nvSpPr>
        <p:spPr>
          <a:xfrm>
            <a:off x="2468880" y="1261872"/>
            <a:ext cx="128016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25258"/>
              </a:buClr>
              <a:buSzPts val="900"/>
              <a:buFont typeface="Calibri"/>
              <a:buNone/>
            </a:pPr>
            <a:r>
              <a:rPr b="0" i="1" lang="en-US" sz="900" u="none" cap="none" strike="noStrike">
                <a:solidFill>
                  <a:srgbClr val="525258"/>
                </a:solidFill>
                <a:latin typeface="Calibri"/>
                <a:ea typeface="Calibri"/>
                <a:cs typeface="Calibri"/>
                <a:sym typeface="Calibri"/>
              </a:rPr>
              <a:t>hidden layers</a:t>
            </a:r>
            <a:endParaRPr b="0" i="0" sz="900" u="none" cap="none" strike="noStrike">
              <a:solidFill>
                <a:schemeClr val="dk1"/>
              </a:solidFill>
              <a:latin typeface="Calibri"/>
              <a:ea typeface="Calibri"/>
              <a:cs typeface="Calibri"/>
              <a:sym typeface="Calibri"/>
            </a:endParaRPr>
          </a:p>
        </p:txBody>
      </p:sp>
      <p:sp>
        <p:nvSpPr>
          <p:cNvPr id="177" name="Google Shape;177;p6"/>
          <p:cNvSpPr/>
          <p:nvPr/>
        </p:nvSpPr>
        <p:spPr>
          <a:xfrm>
            <a:off x="5943600" y="1600200"/>
            <a:ext cx="2788920" cy="2834640"/>
          </a:xfrm>
          <a:prstGeom prst="rect">
            <a:avLst/>
          </a:prstGeom>
          <a:solidFill>
            <a:srgbClr val="F7F6F5"/>
          </a:solidFill>
          <a:ln cap="flat" cmpd="sng" w="9525">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6"/>
          <p:cNvSpPr/>
          <p:nvPr/>
        </p:nvSpPr>
        <p:spPr>
          <a:xfrm>
            <a:off x="5943600" y="1600200"/>
            <a:ext cx="54864" cy="2834640"/>
          </a:xfrm>
          <a:prstGeom prst="rect">
            <a:avLst/>
          </a:prstGeom>
          <a:solidFill>
            <a:srgbClr val="5D7A8E"/>
          </a:solidFill>
          <a:ln cap="flat" cmpd="sng" w="12700">
            <a:solidFill>
              <a:srgbClr val="5D7A8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6"/>
          <p:cNvSpPr/>
          <p:nvPr/>
        </p:nvSpPr>
        <p:spPr>
          <a:xfrm>
            <a:off x="6172200" y="1709928"/>
            <a:ext cx="24688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5672"/>
              </a:buClr>
              <a:buSzPts val="1400"/>
              <a:buFont typeface="Georgia"/>
              <a:buNone/>
            </a:pPr>
            <a:r>
              <a:rPr b="1" i="0" lang="en-US" sz="1400" u="none" cap="none" strike="noStrike">
                <a:solidFill>
                  <a:srgbClr val="2B5672"/>
                </a:solidFill>
                <a:latin typeface="Georgia"/>
                <a:ea typeface="Georgia"/>
                <a:cs typeface="Georgia"/>
                <a:sym typeface="Georgia"/>
              </a:rPr>
              <a:t>A weight is a number.</a:t>
            </a:r>
            <a:endParaRPr b="0" i="0" sz="1400" u="none" cap="none" strike="noStrike">
              <a:solidFill>
                <a:schemeClr val="dk1"/>
              </a:solidFill>
              <a:latin typeface="Calibri"/>
              <a:ea typeface="Calibri"/>
              <a:cs typeface="Calibri"/>
              <a:sym typeface="Calibri"/>
            </a:endParaRPr>
          </a:p>
        </p:txBody>
      </p:sp>
      <p:sp>
        <p:nvSpPr>
          <p:cNvPr id="180" name="Google Shape;180;p6"/>
          <p:cNvSpPr/>
          <p:nvPr/>
        </p:nvSpPr>
        <p:spPr>
          <a:xfrm>
            <a:off x="6172200" y="1984248"/>
            <a:ext cx="246888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25258"/>
              </a:buClr>
              <a:buSzPts val="1050"/>
              <a:buFont typeface="Calibri"/>
              <a:buNone/>
            </a:pPr>
            <a:r>
              <a:rPr b="0" i="1" lang="en-US" sz="1050" u="none" cap="none" strike="noStrike">
                <a:solidFill>
                  <a:srgbClr val="525258"/>
                </a:solidFill>
                <a:latin typeface="Calibri"/>
                <a:ea typeface="Calibri"/>
                <a:cs typeface="Calibri"/>
                <a:sym typeface="Calibri"/>
              </a:rPr>
              <a:t>Learned during training.</a:t>
            </a:r>
            <a:endParaRPr b="0" i="0" sz="1050" u="none" cap="none" strike="noStrike">
              <a:solidFill>
                <a:schemeClr val="dk1"/>
              </a:solidFill>
              <a:latin typeface="Calibri"/>
              <a:ea typeface="Calibri"/>
              <a:cs typeface="Calibri"/>
              <a:sym typeface="Calibri"/>
            </a:endParaRPr>
          </a:p>
        </p:txBody>
      </p:sp>
      <p:sp>
        <p:nvSpPr>
          <p:cNvPr id="181" name="Google Shape;181;p6"/>
          <p:cNvSpPr/>
          <p:nvPr/>
        </p:nvSpPr>
        <p:spPr>
          <a:xfrm>
            <a:off x="6217920" y="2286000"/>
            <a:ext cx="2286000" cy="205740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212121"/>
              </a:buClr>
              <a:buSzPts val="1050"/>
              <a:buFont typeface="Calibri"/>
              <a:buChar char="•"/>
            </a:pPr>
            <a:r>
              <a:rPr b="0" i="0" lang="en-US" sz="1050" u="none" cap="none" strike="noStrike">
                <a:solidFill>
                  <a:srgbClr val="212121"/>
                </a:solidFill>
                <a:latin typeface="Calibri"/>
                <a:ea typeface="Calibri"/>
                <a:cs typeface="Calibri"/>
                <a:sym typeface="Calibri"/>
              </a:rPr>
              <a:t>Every line between nodes carries one number — the weight.</a:t>
            </a:r>
            <a:endParaRPr b="0" i="0" sz="1050" u="none" cap="none" strike="noStrike">
              <a:solidFill>
                <a:schemeClr val="dk1"/>
              </a:solidFill>
              <a:latin typeface="Calibri"/>
              <a:ea typeface="Calibri"/>
              <a:cs typeface="Calibri"/>
              <a:sym typeface="Calibri"/>
            </a:endParaRPr>
          </a:p>
          <a:p>
            <a:pPr indent="-342900" lvl="0" marL="342900" marR="0" rtl="0" algn="l">
              <a:spcBef>
                <a:spcPts val="500"/>
              </a:spcBef>
              <a:spcAft>
                <a:spcPts val="0"/>
              </a:spcAft>
              <a:buClr>
                <a:srgbClr val="212121"/>
              </a:buClr>
              <a:buSzPts val="1050"/>
              <a:buFont typeface="Calibri"/>
              <a:buChar char="•"/>
            </a:pPr>
            <a:r>
              <a:rPr b="0" i="0" lang="en-US" sz="1050" u="none" cap="none" strike="noStrike">
                <a:solidFill>
                  <a:srgbClr val="212121"/>
                </a:solidFill>
                <a:latin typeface="Calibri"/>
                <a:ea typeface="Calibri"/>
                <a:cs typeface="Calibri"/>
                <a:sym typeface="Calibri"/>
              </a:rPr>
              <a:t>Training nudges all of them until outputs get good.</a:t>
            </a:r>
            <a:endParaRPr b="0" i="0" sz="1050" u="none" cap="none" strike="noStrike">
              <a:solidFill>
                <a:schemeClr val="dk1"/>
              </a:solidFill>
              <a:latin typeface="Calibri"/>
              <a:ea typeface="Calibri"/>
              <a:cs typeface="Calibri"/>
              <a:sym typeface="Calibri"/>
            </a:endParaRPr>
          </a:p>
          <a:p>
            <a:pPr indent="-342900" lvl="0" marL="342900" marR="0" rtl="0" algn="l">
              <a:spcBef>
                <a:spcPts val="500"/>
              </a:spcBef>
              <a:spcAft>
                <a:spcPts val="0"/>
              </a:spcAft>
              <a:buClr>
                <a:srgbClr val="212121"/>
              </a:buClr>
              <a:buSzPts val="1050"/>
              <a:buFont typeface="Calibri"/>
              <a:buChar char="•"/>
            </a:pPr>
            <a:r>
              <a:rPr b="0" i="0" lang="en-US" sz="1050" u="none" cap="none" strike="noStrike">
                <a:solidFill>
                  <a:srgbClr val="212121"/>
                </a:solidFill>
                <a:latin typeface="Calibri"/>
                <a:ea typeface="Calibri"/>
                <a:cs typeface="Calibri"/>
                <a:sym typeface="Calibri"/>
              </a:rPr>
              <a:t>A big LLM has ~10¹¹ of them (hundreds of billions).</a:t>
            </a:r>
            <a:endParaRPr b="0" i="0" sz="1050" u="none" cap="none" strike="noStrike">
              <a:solidFill>
                <a:schemeClr val="dk1"/>
              </a:solidFill>
              <a:latin typeface="Calibri"/>
              <a:ea typeface="Calibri"/>
              <a:cs typeface="Calibri"/>
              <a:sym typeface="Calibri"/>
            </a:endParaRPr>
          </a:p>
          <a:p>
            <a:pPr indent="-342900" lvl="0" marL="342900" marR="0" rtl="0" algn="l">
              <a:spcBef>
                <a:spcPts val="500"/>
              </a:spcBef>
              <a:spcAft>
                <a:spcPts val="0"/>
              </a:spcAft>
              <a:buClr>
                <a:srgbClr val="212121"/>
              </a:buClr>
              <a:buSzPts val="1050"/>
              <a:buFont typeface="Calibri"/>
              <a:buChar char="•"/>
            </a:pPr>
            <a:r>
              <a:rPr b="0" i="0" lang="en-US" sz="1050" u="none" cap="none" strike="noStrike">
                <a:solidFill>
                  <a:srgbClr val="212121"/>
                </a:solidFill>
                <a:latin typeface="Calibri"/>
                <a:ea typeface="Calibri"/>
                <a:cs typeface="Calibri"/>
                <a:sym typeface="Calibri"/>
              </a:rPr>
              <a:t>Running the model = multiply + add, many times over.</a:t>
            </a:r>
            <a:endParaRPr b="0" i="0" sz="1050" u="none" cap="none" strike="noStrike">
              <a:solidFill>
                <a:schemeClr val="dk1"/>
              </a:solidFill>
              <a:latin typeface="Calibri"/>
              <a:ea typeface="Calibri"/>
              <a:cs typeface="Calibri"/>
              <a:sym typeface="Calibri"/>
            </a:endParaRPr>
          </a:p>
        </p:txBody>
      </p:sp>
      <p:sp>
        <p:nvSpPr>
          <p:cNvPr id="182" name="Google Shape;182;p6"/>
          <p:cNvSpPr/>
          <p:nvPr/>
        </p:nvSpPr>
        <p:spPr>
          <a:xfrm>
            <a:off x="411480" y="4617720"/>
            <a:ext cx="8321040" cy="228600"/>
          </a:xfrm>
          <a:prstGeom prst="rect">
            <a:avLst/>
          </a:prstGeom>
          <a:solidFill>
            <a:srgbClr val="FFE599"/>
          </a:solidFill>
          <a:ln>
            <a:noFill/>
          </a:ln>
        </p:spPr>
        <p:txBody>
          <a:bodyPr anchorCtr="0" anchor="ctr" bIns="0" lIns="0" spcFirstLastPara="1" rIns="0" wrap="square" tIns="0">
            <a:noAutofit/>
          </a:bodyPr>
          <a:lstStyle/>
          <a:p>
            <a:pPr indent="0" lvl="0" marL="0" marR="0" rtl="0" algn="ctr">
              <a:spcBef>
                <a:spcPts val="0"/>
              </a:spcBef>
              <a:spcAft>
                <a:spcPts val="0"/>
              </a:spcAft>
              <a:buClr>
                <a:srgbClr val="2B5672"/>
              </a:buClr>
              <a:buSzPts val="1100"/>
              <a:buFont typeface="Calibri"/>
              <a:buNone/>
            </a:pPr>
            <a:r>
              <a:rPr b="1" i="1" lang="en-US" sz="1100" u="none" cap="none" strike="noStrike">
                <a:solidFill>
                  <a:srgbClr val="2B5672"/>
                </a:solidFill>
                <a:latin typeface="Calibri"/>
                <a:ea typeface="Calibri"/>
                <a:cs typeface="Calibri"/>
                <a:sym typeface="Calibri"/>
              </a:rPr>
              <a:t>Every “intelligent” thing Claude does comes from numbers like this one.</a:t>
            </a:r>
            <a:endParaRPr b="0" i="0" sz="1100" u="none" cap="none" strike="noStrike">
              <a:solidFill>
                <a:schemeClr val="dk1"/>
              </a:solidFill>
              <a:latin typeface="Calibri"/>
              <a:ea typeface="Calibri"/>
              <a:cs typeface="Calibri"/>
              <a:sym typeface="Calibri"/>
            </a:endParaRPr>
          </a:p>
        </p:txBody>
      </p:sp>
      <p:sp>
        <p:nvSpPr>
          <p:cNvPr id="183" name="Google Shape;183;p6"/>
          <p:cNvSpPr/>
          <p:nvPr/>
        </p:nvSpPr>
        <p:spPr>
          <a:xfrm>
            <a:off x="8412480" y="486460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25258"/>
              </a:buClr>
              <a:buSzPts val="900"/>
              <a:buFont typeface="Calibri"/>
              <a:buNone/>
            </a:pPr>
            <a:r>
              <a:rPr b="0" i="0" lang="en-US" sz="900" u="none" cap="none" strike="noStrike">
                <a:solidFill>
                  <a:srgbClr val="525258"/>
                </a:solidFill>
                <a:latin typeface="Calibri"/>
                <a:ea typeface="Calibri"/>
                <a:cs typeface="Calibri"/>
                <a:sym typeface="Calibri"/>
              </a:rPr>
              <a:t>3</a:t>
            </a:r>
            <a:endParaRPr b="0" i="0" sz="900" u="none" cap="none" strike="noStrike">
              <a:solidFill>
                <a:schemeClr val="dk1"/>
              </a:solidFill>
              <a:latin typeface="Calibri"/>
              <a:ea typeface="Calibri"/>
              <a:cs typeface="Calibri"/>
              <a:sym typeface="Calibri"/>
            </a:endParaRPr>
          </a:p>
        </p:txBody>
      </p:sp>
      <p:sp>
        <p:nvSpPr>
          <p:cNvPr id="184" name="Google Shape;184;p6"/>
          <p:cNvSpPr/>
          <p:nvPr/>
        </p:nvSpPr>
        <p:spPr>
          <a:xfrm>
            <a:off x="411480" y="4864608"/>
            <a:ext cx="54864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25258"/>
              </a:buClr>
              <a:buSzPts val="900"/>
              <a:buFont typeface="Calibri"/>
              <a:buNone/>
            </a:pPr>
            <a:r>
              <a:rPr b="0" i="0" lang="en-US" sz="900" u="none" cap="none" strike="noStrike">
                <a:solidFill>
                  <a:srgbClr val="525258"/>
                </a:solidFill>
                <a:latin typeface="Calibri"/>
                <a:ea typeface="Calibri"/>
                <a:cs typeface="Calibri"/>
                <a:sym typeface="Calibri"/>
              </a:rPr>
              <a:t>How Claude Works  ·</a:t>
            </a:r>
            <a:r>
              <a:rPr lang="en-US" sz="900">
                <a:solidFill>
                  <a:srgbClr val="525258"/>
                </a:solidFill>
                <a:latin typeface="Calibri"/>
                <a:ea typeface="Calibri"/>
                <a:cs typeface="Calibri"/>
                <a:sym typeface="Calibri"/>
              </a:rPr>
              <a:t> Giulio Ruffini</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9" name="Shape 189"/>
        <p:cNvGrpSpPr/>
        <p:nvPr/>
      </p:nvGrpSpPr>
      <p:grpSpPr>
        <a:xfrm>
          <a:off x="0" y="0"/>
          <a:ext cx="0" cy="0"/>
          <a:chOff x="0" y="0"/>
          <a:chExt cx="0" cy="0"/>
        </a:xfrm>
      </p:grpSpPr>
      <p:sp>
        <p:nvSpPr>
          <p:cNvPr id="190" name="Google Shape;190;p7"/>
          <p:cNvSpPr/>
          <p:nvPr/>
        </p:nvSpPr>
        <p:spPr>
          <a:xfrm>
            <a:off x="0" y="0"/>
            <a:ext cx="73152" cy="5143500"/>
          </a:xfrm>
          <a:prstGeom prst="rect">
            <a:avLst/>
          </a:prstGeom>
          <a:solidFill>
            <a:srgbClr val="2B5672"/>
          </a:solidFill>
          <a:ln cap="flat" cmpd="sng" w="12700">
            <a:solidFill>
              <a:srgbClr val="2B56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7"/>
          <p:cNvSpPr/>
          <p:nvPr/>
        </p:nvSpPr>
        <p:spPr>
          <a:xfrm>
            <a:off x="411480" y="256032"/>
            <a:ext cx="83210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D7A8E"/>
              </a:buClr>
              <a:buSzPts val="1000"/>
              <a:buFont typeface="Calibri"/>
              <a:buNone/>
            </a:pPr>
            <a:r>
              <a:rPr b="1" i="0" lang="en-US" sz="1000" u="none" cap="none" strike="noStrike">
                <a:solidFill>
                  <a:srgbClr val="5D7A8E"/>
                </a:solidFill>
                <a:latin typeface="Calibri"/>
                <a:ea typeface="Calibri"/>
                <a:cs typeface="Calibri"/>
                <a:sym typeface="Calibri"/>
              </a:rPr>
              <a:t>LESSON 2</a:t>
            </a:r>
            <a:endParaRPr b="0" i="0" sz="1000" u="none" cap="none" strike="noStrike">
              <a:solidFill>
                <a:schemeClr val="dk1"/>
              </a:solidFill>
              <a:latin typeface="Calibri"/>
              <a:ea typeface="Calibri"/>
              <a:cs typeface="Calibri"/>
              <a:sym typeface="Calibri"/>
            </a:endParaRPr>
          </a:p>
        </p:txBody>
      </p:sp>
      <p:sp>
        <p:nvSpPr>
          <p:cNvPr id="192" name="Google Shape;192;p7"/>
          <p:cNvSpPr/>
          <p:nvPr/>
        </p:nvSpPr>
        <p:spPr>
          <a:xfrm>
            <a:off x="411480" y="502920"/>
            <a:ext cx="83210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5672"/>
              </a:buClr>
              <a:buSzPts val="2400"/>
              <a:buFont typeface="Georgia"/>
              <a:buNone/>
            </a:pPr>
            <a:r>
              <a:rPr b="1" i="0" lang="en-US" sz="2400" u="none" cap="none" strike="noStrike">
                <a:solidFill>
                  <a:srgbClr val="2B5672"/>
                </a:solidFill>
                <a:latin typeface="Georgia"/>
                <a:ea typeface="Georgia"/>
                <a:cs typeface="Georgia"/>
                <a:sym typeface="Georgia"/>
              </a:rPr>
              <a:t>Training the LLM · Step 1 — pretraining</a:t>
            </a:r>
            <a:endParaRPr b="0" i="0" sz="2400" u="none" cap="none" strike="noStrike">
              <a:solidFill>
                <a:schemeClr val="dk1"/>
              </a:solidFill>
              <a:latin typeface="Calibri"/>
              <a:ea typeface="Calibri"/>
              <a:cs typeface="Calibri"/>
              <a:sym typeface="Calibri"/>
            </a:endParaRPr>
          </a:p>
        </p:txBody>
      </p:sp>
      <p:sp>
        <p:nvSpPr>
          <p:cNvPr id="193" name="Google Shape;193;p7"/>
          <p:cNvSpPr/>
          <p:nvPr/>
        </p:nvSpPr>
        <p:spPr>
          <a:xfrm>
            <a:off x="411480" y="1371600"/>
            <a:ext cx="4206240" cy="1188720"/>
          </a:xfrm>
          <a:prstGeom prst="rect">
            <a:avLst/>
          </a:prstGeom>
          <a:solidFill>
            <a:srgbClr val="FFE599"/>
          </a:solidFill>
          <a:ln>
            <a:noFill/>
          </a:ln>
        </p:spPr>
        <p:txBody>
          <a:bodyPr anchorCtr="0" anchor="ctr" bIns="0" lIns="0" spcFirstLastPara="1" rIns="0" wrap="square" tIns="0">
            <a:noAutofit/>
          </a:bodyPr>
          <a:lstStyle/>
          <a:p>
            <a:pPr indent="0" lvl="0" marL="0" marR="0" rtl="0" algn="l">
              <a:spcBef>
                <a:spcPts val="0"/>
              </a:spcBef>
              <a:spcAft>
                <a:spcPts val="0"/>
              </a:spcAft>
              <a:buClr>
                <a:srgbClr val="212121"/>
              </a:buClr>
              <a:buSzPts val="1300"/>
              <a:buFont typeface="Calibri"/>
              <a:buNone/>
            </a:pPr>
            <a:r>
              <a:rPr b="0" i="0" lang="en-US" sz="1300" u="none" cap="none" strike="noStrike">
                <a:solidFill>
                  <a:srgbClr val="212121"/>
                </a:solidFill>
                <a:latin typeface="Calibri"/>
                <a:ea typeface="Calibri"/>
                <a:cs typeface="Calibri"/>
                <a:sym typeface="Calibri"/>
              </a:rPr>
              <a:t>The base model is taught to predict the next token on a vast mix of public and licensed text — essentially "guess the next word" at massive scale.</a:t>
            </a:r>
            <a:endParaRPr b="0" i="0" sz="1300" u="none" cap="none" strike="noStrike">
              <a:solidFill>
                <a:schemeClr val="dk1"/>
              </a:solidFill>
              <a:latin typeface="Calibri"/>
              <a:ea typeface="Calibri"/>
              <a:cs typeface="Calibri"/>
              <a:sym typeface="Calibri"/>
            </a:endParaRPr>
          </a:p>
        </p:txBody>
      </p:sp>
      <p:sp>
        <p:nvSpPr>
          <p:cNvPr id="194" name="Google Shape;194;p7"/>
          <p:cNvSpPr/>
          <p:nvPr/>
        </p:nvSpPr>
        <p:spPr>
          <a:xfrm>
            <a:off x="411480" y="2651760"/>
            <a:ext cx="4206240" cy="1920240"/>
          </a:xfrm>
          <a:prstGeom prst="rect">
            <a:avLst/>
          </a:prstGeom>
          <a:noFill/>
          <a:ln>
            <a:noFill/>
          </a:ln>
        </p:spPr>
        <p:txBody>
          <a:bodyPr anchorCtr="0" anchor="ctr" bIns="0" lIns="0" spcFirstLastPara="1" rIns="0" wrap="square" tIns="0">
            <a:noAutofit/>
          </a:bodyPr>
          <a:lstStyle/>
          <a:p>
            <a:pPr indent="-349250" lvl="0" marL="342900" marR="0" rtl="0" algn="l">
              <a:spcBef>
                <a:spcPts val="0"/>
              </a:spcBef>
              <a:spcAft>
                <a:spcPts val="0"/>
              </a:spcAft>
              <a:buClr>
                <a:srgbClr val="212121"/>
              </a:buClr>
              <a:buSzPts val="1200"/>
              <a:buFont typeface="Calibri"/>
              <a:buChar char="•"/>
            </a:pPr>
            <a:r>
              <a:rPr b="1" i="0" lang="en-US" sz="1200" u="none" cap="none" strike="noStrike">
                <a:solidFill>
                  <a:srgbClr val="212121"/>
                </a:solidFill>
                <a:latin typeface="Calibri"/>
                <a:ea typeface="Calibri"/>
                <a:cs typeface="Calibri"/>
                <a:sym typeface="Calibri"/>
              </a:rPr>
              <a:t>Input</a:t>
            </a:r>
            <a:r>
              <a:rPr b="0" i="0" lang="en-US" sz="1200" u="none" cap="none" strike="noStrike">
                <a:solidFill>
                  <a:srgbClr val="212121"/>
                </a:solidFill>
                <a:latin typeface="Calibri"/>
                <a:ea typeface="Calibri"/>
                <a:cs typeface="Calibri"/>
                <a:sym typeface="Calibri"/>
              </a:rPr>
              <a:t>: trillions of tokens of text and code.</a:t>
            </a:r>
            <a:endParaRPr b="0" i="0" sz="1200" u="none" cap="none" strike="noStrike">
              <a:solidFill>
                <a:schemeClr val="dk1"/>
              </a:solidFill>
              <a:latin typeface="Calibri"/>
              <a:ea typeface="Calibri"/>
              <a:cs typeface="Calibri"/>
              <a:sym typeface="Calibri"/>
            </a:endParaRPr>
          </a:p>
          <a:p>
            <a:pPr indent="-349250" lvl="0" marL="342900" marR="0" rtl="0" algn="l">
              <a:spcBef>
                <a:spcPts val="400"/>
              </a:spcBef>
              <a:spcAft>
                <a:spcPts val="0"/>
              </a:spcAft>
              <a:buClr>
                <a:srgbClr val="212121"/>
              </a:buClr>
              <a:buSzPts val="1200"/>
              <a:buFont typeface="Calibri"/>
              <a:buChar char="•"/>
            </a:pPr>
            <a:r>
              <a:rPr b="1" i="0" lang="en-US" sz="1200" u="none" cap="none" strike="noStrike">
                <a:solidFill>
                  <a:srgbClr val="212121"/>
                </a:solidFill>
                <a:latin typeface="Calibri"/>
                <a:ea typeface="Calibri"/>
                <a:cs typeface="Calibri"/>
                <a:sym typeface="Calibri"/>
              </a:rPr>
              <a:t>Objective</a:t>
            </a:r>
            <a:r>
              <a:rPr b="0" i="0" lang="en-US" sz="1200" u="none" cap="none" strike="noStrike">
                <a:solidFill>
                  <a:srgbClr val="212121"/>
                </a:solidFill>
                <a:latin typeface="Calibri"/>
                <a:ea typeface="Calibri"/>
                <a:cs typeface="Calibri"/>
                <a:sym typeface="Calibri"/>
              </a:rPr>
              <a:t>: minimize prediction error on held-out text.</a:t>
            </a:r>
            <a:endParaRPr b="0" i="0" sz="1200" u="none" cap="none" strike="noStrike">
              <a:solidFill>
                <a:schemeClr val="dk1"/>
              </a:solidFill>
              <a:latin typeface="Calibri"/>
              <a:ea typeface="Calibri"/>
              <a:cs typeface="Calibri"/>
              <a:sym typeface="Calibri"/>
            </a:endParaRPr>
          </a:p>
          <a:p>
            <a:pPr indent="-349250" lvl="0" marL="342900" marR="0" rtl="0" algn="l">
              <a:spcBef>
                <a:spcPts val="400"/>
              </a:spcBef>
              <a:spcAft>
                <a:spcPts val="0"/>
              </a:spcAft>
              <a:buClr>
                <a:srgbClr val="212121"/>
              </a:buClr>
              <a:buSzPts val="1200"/>
              <a:buFont typeface="Calibri"/>
              <a:buChar char="•"/>
            </a:pPr>
            <a:r>
              <a:rPr b="1" i="0" lang="en-US" sz="1200" u="none" cap="none" strike="noStrike">
                <a:solidFill>
                  <a:srgbClr val="212121"/>
                </a:solidFill>
                <a:latin typeface="Calibri"/>
                <a:ea typeface="Calibri"/>
                <a:cs typeface="Calibri"/>
                <a:sym typeface="Calibri"/>
              </a:rPr>
              <a:t>Output</a:t>
            </a:r>
            <a:r>
              <a:rPr b="0" i="0" lang="en-US" sz="1200" u="none" cap="none" strike="noStrike">
                <a:solidFill>
                  <a:srgbClr val="212121"/>
                </a:solidFill>
                <a:latin typeface="Calibri"/>
                <a:ea typeface="Calibri"/>
                <a:cs typeface="Calibri"/>
                <a:sym typeface="Calibri"/>
              </a:rPr>
              <a:t>: a general-purpose statistical model of language and reasoning</a:t>
            </a:r>
            <a:r>
              <a:rPr lang="en-US" sz="1200">
                <a:solidFill>
                  <a:srgbClr val="212121"/>
                </a:solidFill>
                <a:latin typeface="Calibri"/>
                <a:ea typeface="Calibri"/>
                <a:cs typeface="Calibri"/>
                <a:sym typeface="Calibri"/>
              </a:rPr>
              <a:t>: </a:t>
            </a:r>
            <a:r>
              <a:rPr b="0" i="0" lang="en-US" sz="1200" u="none" cap="none" strike="noStrike">
                <a:solidFill>
                  <a:srgbClr val="212121"/>
                </a:solidFill>
                <a:latin typeface="Calibri"/>
                <a:ea typeface="Calibri"/>
                <a:cs typeface="Calibri"/>
                <a:sym typeface="Calibri"/>
              </a:rPr>
              <a:t>a compressed model of the data — and therefore, implicitly, of the world that produced it.</a:t>
            </a:r>
            <a:endParaRPr b="0" i="0" sz="1200" u="none" cap="none" strike="noStrike">
              <a:solidFill>
                <a:schemeClr val="dk1"/>
              </a:solidFill>
              <a:latin typeface="Calibri"/>
              <a:ea typeface="Calibri"/>
              <a:cs typeface="Calibri"/>
              <a:sym typeface="Calibri"/>
            </a:endParaRPr>
          </a:p>
          <a:p>
            <a:pPr indent="-349250" lvl="0" marL="342900" marR="0" rtl="0" algn="l">
              <a:spcBef>
                <a:spcPts val="400"/>
              </a:spcBef>
              <a:spcAft>
                <a:spcPts val="0"/>
              </a:spcAft>
              <a:buClr>
                <a:srgbClr val="212121"/>
              </a:buClr>
              <a:buSzPts val="1200"/>
              <a:buFont typeface="Calibri"/>
              <a:buChar char="•"/>
            </a:pPr>
            <a:r>
              <a:rPr b="1" i="0" lang="en-US" sz="1200" u="none" cap="none" strike="noStrike">
                <a:solidFill>
                  <a:srgbClr val="212121"/>
                </a:solidFill>
                <a:latin typeface="Calibri"/>
                <a:ea typeface="Calibri"/>
                <a:cs typeface="Calibri"/>
                <a:sym typeface="Calibri"/>
              </a:rPr>
              <a:t>Cost</a:t>
            </a:r>
            <a:r>
              <a:rPr b="0" i="0" lang="en-US" sz="1200" u="none" cap="none" strike="noStrike">
                <a:solidFill>
                  <a:srgbClr val="212121"/>
                </a:solidFill>
                <a:latin typeface="Calibri"/>
                <a:ea typeface="Calibri"/>
                <a:cs typeface="Calibri"/>
                <a:sym typeface="Calibri"/>
              </a:rPr>
              <a:t>: large clusters of GPUs running for weeks to months.</a:t>
            </a:r>
            <a:endParaRPr b="0" i="0" sz="1200" u="none" cap="none" strike="noStrike">
              <a:solidFill>
                <a:schemeClr val="dk1"/>
              </a:solidFill>
              <a:latin typeface="Calibri"/>
              <a:ea typeface="Calibri"/>
              <a:cs typeface="Calibri"/>
              <a:sym typeface="Calibri"/>
            </a:endParaRPr>
          </a:p>
        </p:txBody>
      </p:sp>
      <p:sp>
        <p:nvSpPr>
          <p:cNvPr id="195" name="Google Shape;195;p7"/>
          <p:cNvSpPr/>
          <p:nvPr/>
        </p:nvSpPr>
        <p:spPr>
          <a:xfrm>
            <a:off x="4937760" y="1325880"/>
            <a:ext cx="1371600" cy="365760"/>
          </a:xfrm>
          <a:prstGeom prst="roundRect">
            <a:avLst>
              <a:gd fmla="val 12500" name="adj"/>
            </a:avLst>
          </a:prstGeom>
          <a:solidFill>
            <a:srgbClr val="F7F6F5"/>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7"/>
          <p:cNvSpPr/>
          <p:nvPr/>
        </p:nvSpPr>
        <p:spPr>
          <a:xfrm>
            <a:off x="4937760" y="1325880"/>
            <a:ext cx="13716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12121"/>
              </a:buClr>
              <a:buSzPts val="1100"/>
              <a:buFont typeface="Calibri"/>
              <a:buNone/>
            </a:pPr>
            <a:r>
              <a:rPr b="0" i="0" lang="en-US" sz="1100" u="none" cap="none" strike="noStrike">
                <a:solidFill>
                  <a:srgbClr val="212121"/>
                </a:solidFill>
                <a:latin typeface="Calibri"/>
                <a:ea typeface="Calibri"/>
                <a:cs typeface="Calibri"/>
                <a:sym typeface="Calibri"/>
              </a:rPr>
              <a:t>Web pages</a:t>
            </a:r>
            <a:endParaRPr b="0" i="0" sz="1100" u="none" cap="none" strike="noStrike">
              <a:solidFill>
                <a:schemeClr val="dk1"/>
              </a:solidFill>
              <a:latin typeface="Calibri"/>
              <a:ea typeface="Calibri"/>
              <a:cs typeface="Calibri"/>
              <a:sym typeface="Calibri"/>
            </a:endParaRPr>
          </a:p>
        </p:txBody>
      </p:sp>
      <p:sp>
        <p:nvSpPr>
          <p:cNvPr id="197" name="Google Shape;197;p7"/>
          <p:cNvSpPr/>
          <p:nvPr/>
        </p:nvSpPr>
        <p:spPr>
          <a:xfrm>
            <a:off x="4937760" y="1801368"/>
            <a:ext cx="1371600" cy="365760"/>
          </a:xfrm>
          <a:prstGeom prst="roundRect">
            <a:avLst>
              <a:gd fmla="val 12500" name="adj"/>
            </a:avLst>
          </a:prstGeom>
          <a:solidFill>
            <a:srgbClr val="F7F6F5"/>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7"/>
          <p:cNvSpPr/>
          <p:nvPr/>
        </p:nvSpPr>
        <p:spPr>
          <a:xfrm>
            <a:off x="4937760" y="1801368"/>
            <a:ext cx="13716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12121"/>
              </a:buClr>
              <a:buSzPts val="1100"/>
              <a:buFont typeface="Calibri"/>
              <a:buNone/>
            </a:pPr>
            <a:r>
              <a:rPr b="0" i="0" lang="en-US" sz="1100" u="none" cap="none" strike="noStrike">
                <a:solidFill>
                  <a:srgbClr val="212121"/>
                </a:solidFill>
                <a:latin typeface="Calibri"/>
                <a:ea typeface="Calibri"/>
                <a:cs typeface="Calibri"/>
                <a:sym typeface="Calibri"/>
              </a:rPr>
              <a:t>Books</a:t>
            </a:r>
            <a:endParaRPr b="0" i="0" sz="1100" u="none" cap="none" strike="noStrike">
              <a:solidFill>
                <a:schemeClr val="dk1"/>
              </a:solidFill>
              <a:latin typeface="Calibri"/>
              <a:ea typeface="Calibri"/>
              <a:cs typeface="Calibri"/>
              <a:sym typeface="Calibri"/>
            </a:endParaRPr>
          </a:p>
        </p:txBody>
      </p:sp>
      <p:sp>
        <p:nvSpPr>
          <p:cNvPr id="199" name="Google Shape;199;p7"/>
          <p:cNvSpPr/>
          <p:nvPr/>
        </p:nvSpPr>
        <p:spPr>
          <a:xfrm>
            <a:off x="4937760" y="2276856"/>
            <a:ext cx="1371600" cy="365760"/>
          </a:xfrm>
          <a:prstGeom prst="roundRect">
            <a:avLst>
              <a:gd fmla="val 12500" name="adj"/>
            </a:avLst>
          </a:prstGeom>
          <a:solidFill>
            <a:srgbClr val="F7F6F5"/>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7"/>
          <p:cNvSpPr/>
          <p:nvPr/>
        </p:nvSpPr>
        <p:spPr>
          <a:xfrm>
            <a:off x="4937760" y="2276856"/>
            <a:ext cx="13716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12121"/>
              </a:buClr>
              <a:buSzPts val="1100"/>
              <a:buFont typeface="Calibri"/>
              <a:buNone/>
            </a:pPr>
            <a:r>
              <a:rPr b="0" i="0" lang="en-US" sz="1100" u="none" cap="none" strike="noStrike">
                <a:solidFill>
                  <a:srgbClr val="212121"/>
                </a:solidFill>
                <a:latin typeface="Calibri"/>
                <a:ea typeface="Calibri"/>
                <a:cs typeface="Calibri"/>
                <a:sym typeface="Calibri"/>
              </a:rPr>
              <a:t>Code</a:t>
            </a:r>
            <a:endParaRPr b="0" i="0" sz="1100" u="none" cap="none" strike="noStrike">
              <a:solidFill>
                <a:schemeClr val="dk1"/>
              </a:solidFill>
              <a:latin typeface="Calibri"/>
              <a:ea typeface="Calibri"/>
              <a:cs typeface="Calibri"/>
              <a:sym typeface="Calibri"/>
            </a:endParaRPr>
          </a:p>
        </p:txBody>
      </p:sp>
      <p:sp>
        <p:nvSpPr>
          <p:cNvPr id="201" name="Google Shape;201;p7"/>
          <p:cNvSpPr/>
          <p:nvPr/>
        </p:nvSpPr>
        <p:spPr>
          <a:xfrm>
            <a:off x="4937760" y="2752344"/>
            <a:ext cx="1371600" cy="365760"/>
          </a:xfrm>
          <a:prstGeom prst="roundRect">
            <a:avLst>
              <a:gd fmla="val 12500" name="adj"/>
            </a:avLst>
          </a:prstGeom>
          <a:solidFill>
            <a:srgbClr val="F7F6F5"/>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7"/>
          <p:cNvSpPr/>
          <p:nvPr/>
        </p:nvSpPr>
        <p:spPr>
          <a:xfrm>
            <a:off x="4937760" y="2752344"/>
            <a:ext cx="13716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12121"/>
              </a:buClr>
              <a:buSzPts val="1100"/>
              <a:buFont typeface="Calibri"/>
              <a:buNone/>
            </a:pPr>
            <a:r>
              <a:rPr b="0" i="0" lang="en-US" sz="1100" u="none" cap="none" strike="noStrike">
                <a:solidFill>
                  <a:srgbClr val="212121"/>
                </a:solidFill>
                <a:latin typeface="Calibri"/>
                <a:ea typeface="Calibri"/>
                <a:cs typeface="Calibri"/>
                <a:sym typeface="Calibri"/>
              </a:rPr>
              <a:t>Papers</a:t>
            </a:r>
            <a:endParaRPr b="0" i="0" sz="1100" u="none" cap="none" strike="noStrike">
              <a:solidFill>
                <a:schemeClr val="dk1"/>
              </a:solidFill>
              <a:latin typeface="Calibri"/>
              <a:ea typeface="Calibri"/>
              <a:cs typeface="Calibri"/>
              <a:sym typeface="Calibri"/>
            </a:endParaRPr>
          </a:p>
        </p:txBody>
      </p:sp>
      <p:sp>
        <p:nvSpPr>
          <p:cNvPr id="203" name="Google Shape;203;p7"/>
          <p:cNvSpPr/>
          <p:nvPr/>
        </p:nvSpPr>
        <p:spPr>
          <a:xfrm>
            <a:off x="4937760" y="3227832"/>
            <a:ext cx="1371600" cy="365760"/>
          </a:xfrm>
          <a:prstGeom prst="roundRect">
            <a:avLst>
              <a:gd fmla="val 12500" name="adj"/>
            </a:avLst>
          </a:prstGeom>
          <a:solidFill>
            <a:srgbClr val="F7F6F5"/>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7"/>
          <p:cNvSpPr/>
          <p:nvPr/>
        </p:nvSpPr>
        <p:spPr>
          <a:xfrm>
            <a:off x="4937760" y="3227832"/>
            <a:ext cx="13716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12121"/>
              </a:buClr>
              <a:buSzPts val="1100"/>
              <a:buFont typeface="Calibri"/>
              <a:buNone/>
            </a:pPr>
            <a:r>
              <a:rPr b="0" i="0" lang="en-US" sz="1100" u="none" cap="none" strike="noStrike">
                <a:solidFill>
                  <a:srgbClr val="212121"/>
                </a:solidFill>
                <a:latin typeface="Calibri"/>
                <a:ea typeface="Calibri"/>
                <a:cs typeface="Calibri"/>
                <a:sym typeface="Calibri"/>
              </a:rPr>
              <a:t>Conversations</a:t>
            </a:r>
            <a:endParaRPr b="0" i="0" sz="1100" u="none" cap="none" strike="noStrike">
              <a:solidFill>
                <a:schemeClr val="dk1"/>
              </a:solidFill>
              <a:latin typeface="Calibri"/>
              <a:ea typeface="Calibri"/>
              <a:cs typeface="Calibri"/>
              <a:sym typeface="Calibri"/>
            </a:endParaRPr>
          </a:p>
        </p:txBody>
      </p:sp>
      <p:sp>
        <p:nvSpPr>
          <p:cNvPr id="205" name="Google Shape;205;p7"/>
          <p:cNvSpPr/>
          <p:nvPr/>
        </p:nvSpPr>
        <p:spPr>
          <a:xfrm>
            <a:off x="7315200" y="2071116"/>
            <a:ext cx="1463040" cy="777240"/>
          </a:xfrm>
          <a:prstGeom prst="roundRect">
            <a:avLst>
              <a:gd fmla="val 9412" name="adj"/>
            </a:avLst>
          </a:prstGeom>
          <a:solidFill>
            <a:srgbClr val="2B5672"/>
          </a:solidFill>
          <a:ln cap="flat" cmpd="sng" w="12700">
            <a:solidFill>
              <a:srgbClr val="2B56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7"/>
          <p:cNvSpPr/>
          <p:nvPr/>
        </p:nvSpPr>
        <p:spPr>
          <a:xfrm>
            <a:off x="7315200" y="2071116"/>
            <a:ext cx="146304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Georgia"/>
              <a:buNone/>
            </a:pPr>
            <a:r>
              <a:rPr b="1" i="0" lang="en-US" sz="1400" u="none" cap="none" strike="noStrike">
                <a:solidFill>
                  <a:srgbClr val="FFFFFF"/>
                </a:solidFill>
                <a:latin typeface="Georgia"/>
                <a:ea typeface="Georgia"/>
                <a:cs typeface="Georgia"/>
                <a:sym typeface="Georgia"/>
              </a:rPr>
              <a:t>Base model</a:t>
            </a:r>
            <a:endParaRPr b="0" i="0" sz="1400" u="none" cap="none" strike="noStrike">
              <a:solidFill>
                <a:schemeClr val="dk1"/>
              </a:solidFill>
              <a:latin typeface="Calibri"/>
              <a:ea typeface="Calibri"/>
              <a:cs typeface="Calibri"/>
              <a:sym typeface="Calibri"/>
            </a:endParaRPr>
          </a:p>
        </p:txBody>
      </p:sp>
      <p:cxnSp>
        <p:nvCxnSpPr>
          <p:cNvPr id="207" name="Google Shape;207;p7"/>
          <p:cNvCxnSpPr/>
          <p:nvPr/>
        </p:nvCxnSpPr>
        <p:spPr>
          <a:xfrm>
            <a:off x="6327648" y="1508760"/>
            <a:ext cx="969264" cy="950976"/>
          </a:xfrm>
          <a:prstGeom prst="straightConnector1">
            <a:avLst/>
          </a:prstGeom>
          <a:noFill/>
          <a:ln cap="flat" cmpd="sng" w="11425">
            <a:solidFill>
              <a:srgbClr val="525258"/>
            </a:solidFill>
            <a:prstDash val="solid"/>
            <a:round/>
            <a:headEnd len="sm" w="sm" type="none"/>
            <a:tailEnd len="sm" w="sm" type="none"/>
          </a:ln>
        </p:spPr>
      </p:cxnSp>
      <p:cxnSp>
        <p:nvCxnSpPr>
          <p:cNvPr id="208" name="Google Shape;208;p7"/>
          <p:cNvCxnSpPr/>
          <p:nvPr/>
        </p:nvCxnSpPr>
        <p:spPr>
          <a:xfrm>
            <a:off x="6327648" y="1984248"/>
            <a:ext cx="969264" cy="475488"/>
          </a:xfrm>
          <a:prstGeom prst="straightConnector1">
            <a:avLst/>
          </a:prstGeom>
          <a:noFill/>
          <a:ln cap="flat" cmpd="sng" w="11425">
            <a:solidFill>
              <a:srgbClr val="525258"/>
            </a:solidFill>
            <a:prstDash val="solid"/>
            <a:round/>
            <a:headEnd len="sm" w="sm" type="none"/>
            <a:tailEnd len="sm" w="sm" type="none"/>
          </a:ln>
        </p:spPr>
      </p:cxnSp>
      <p:cxnSp>
        <p:nvCxnSpPr>
          <p:cNvPr id="209" name="Google Shape;209;p7"/>
          <p:cNvCxnSpPr/>
          <p:nvPr/>
        </p:nvCxnSpPr>
        <p:spPr>
          <a:xfrm>
            <a:off x="6327648" y="2459736"/>
            <a:ext cx="969264" cy="0"/>
          </a:xfrm>
          <a:prstGeom prst="straightConnector1">
            <a:avLst/>
          </a:prstGeom>
          <a:noFill/>
          <a:ln cap="flat" cmpd="sng" w="11425">
            <a:solidFill>
              <a:srgbClr val="525258"/>
            </a:solidFill>
            <a:prstDash val="solid"/>
            <a:round/>
            <a:headEnd len="sm" w="sm" type="none"/>
            <a:tailEnd len="med" w="med" type="triangle"/>
          </a:ln>
        </p:spPr>
      </p:cxnSp>
      <p:cxnSp>
        <p:nvCxnSpPr>
          <p:cNvPr id="210" name="Google Shape;210;p7"/>
          <p:cNvCxnSpPr/>
          <p:nvPr/>
        </p:nvCxnSpPr>
        <p:spPr>
          <a:xfrm flipH="1" rot="10800000">
            <a:off x="6327648" y="2459736"/>
            <a:ext cx="969264" cy="475488"/>
          </a:xfrm>
          <a:prstGeom prst="straightConnector1">
            <a:avLst/>
          </a:prstGeom>
          <a:noFill/>
          <a:ln cap="flat" cmpd="sng" w="11425">
            <a:solidFill>
              <a:srgbClr val="525258"/>
            </a:solidFill>
            <a:prstDash val="solid"/>
            <a:round/>
            <a:headEnd len="sm" w="sm" type="none"/>
            <a:tailEnd len="sm" w="sm" type="none"/>
          </a:ln>
        </p:spPr>
      </p:cxnSp>
      <p:cxnSp>
        <p:nvCxnSpPr>
          <p:cNvPr id="211" name="Google Shape;211;p7"/>
          <p:cNvCxnSpPr/>
          <p:nvPr/>
        </p:nvCxnSpPr>
        <p:spPr>
          <a:xfrm flipH="1" rot="10800000">
            <a:off x="6327648" y="2459736"/>
            <a:ext cx="969264" cy="950976"/>
          </a:xfrm>
          <a:prstGeom prst="straightConnector1">
            <a:avLst/>
          </a:prstGeom>
          <a:noFill/>
          <a:ln cap="flat" cmpd="sng" w="11425">
            <a:solidFill>
              <a:srgbClr val="525258"/>
            </a:solidFill>
            <a:prstDash val="solid"/>
            <a:round/>
            <a:headEnd len="sm" w="sm" type="none"/>
            <a:tailEnd len="sm" w="sm" type="none"/>
          </a:ln>
        </p:spPr>
      </p:cxnSp>
      <p:sp>
        <p:nvSpPr>
          <p:cNvPr id="212" name="Google Shape;212;p7"/>
          <p:cNvSpPr/>
          <p:nvPr/>
        </p:nvSpPr>
        <p:spPr>
          <a:xfrm>
            <a:off x="4937760" y="3886200"/>
            <a:ext cx="41148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25258"/>
              </a:buClr>
              <a:buSzPts val="1100"/>
              <a:buFont typeface="Calibri"/>
              <a:buNone/>
            </a:pPr>
            <a:r>
              <a:rPr b="0" i="1" lang="en-US" sz="1100" u="none" cap="none" strike="noStrike">
                <a:solidFill>
                  <a:srgbClr val="525258"/>
                </a:solidFill>
                <a:latin typeface="Calibri"/>
                <a:ea typeface="Calibri"/>
                <a:cs typeface="Calibri"/>
                <a:sym typeface="Calibri"/>
              </a:rPr>
              <a:t>Knows a lot — but not yet well-behaved.</a:t>
            </a:r>
            <a:endParaRPr b="0" i="0" sz="1100" u="none" cap="none" strike="noStrike">
              <a:solidFill>
                <a:schemeClr val="dk1"/>
              </a:solidFill>
              <a:latin typeface="Calibri"/>
              <a:ea typeface="Calibri"/>
              <a:cs typeface="Calibri"/>
              <a:sym typeface="Calibri"/>
            </a:endParaRPr>
          </a:p>
        </p:txBody>
      </p:sp>
      <p:sp>
        <p:nvSpPr>
          <p:cNvPr id="213" name="Google Shape;213;p7"/>
          <p:cNvSpPr/>
          <p:nvPr/>
        </p:nvSpPr>
        <p:spPr>
          <a:xfrm>
            <a:off x="8412480" y="486460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25258"/>
              </a:buClr>
              <a:buSzPts val="900"/>
              <a:buFont typeface="Calibri"/>
              <a:buNone/>
            </a:pPr>
            <a:r>
              <a:rPr b="0" i="0" lang="en-US" sz="900" u="none" cap="none" strike="noStrike">
                <a:solidFill>
                  <a:srgbClr val="525258"/>
                </a:solidFill>
                <a:latin typeface="Calibri"/>
                <a:ea typeface="Calibri"/>
                <a:cs typeface="Calibri"/>
                <a:sym typeface="Calibri"/>
              </a:rPr>
              <a:t>5</a:t>
            </a:r>
            <a:endParaRPr b="0" i="0" sz="900" u="none" cap="none" strike="noStrike">
              <a:solidFill>
                <a:schemeClr val="dk1"/>
              </a:solidFill>
              <a:latin typeface="Calibri"/>
              <a:ea typeface="Calibri"/>
              <a:cs typeface="Calibri"/>
              <a:sym typeface="Calibri"/>
            </a:endParaRPr>
          </a:p>
        </p:txBody>
      </p:sp>
      <p:sp>
        <p:nvSpPr>
          <p:cNvPr id="214" name="Google Shape;214;p7"/>
          <p:cNvSpPr/>
          <p:nvPr/>
        </p:nvSpPr>
        <p:spPr>
          <a:xfrm>
            <a:off x="411480" y="4864608"/>
            <a:ext cx="54864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25258"/>
              </a:buClr>
              <a:buSzPts val="900"/>
              <a:buFont typeface="Calibri"/>
              <a:buNone/>
            </a:pPr>
            <a:r>
              <a:rPr b="0" i="0" lang="en-US" sz="900" u="none" cap="none" strike="noStrike">
                <a:solidFill>
                  <a:srgbClr val="525258"/>
                </a:solidFill>
                <a:latin typeface="Calibri"/>
                <a:ea typeface="Calibri"/>
                <a:cs typeface="Calibri"/>
                <a:sym typeface="Calibri"/>
              </a:rPr>
              <a:t>How Claude Works  ·</a:t>
            </a:r>
            <a:r>
              <a:rPr lang="en-US" sz="900">
                <a:solidFill>
                  <a:srgbClr val="525258"/>
                </a:solidFill>
                <a:latin typeface="Calibri"/>
                <a:ea typeface="Calibri"/>
                <a:cs typeface="Calibri"/>
                <a:sym typeface="Calibri"/>
              </a:rPr>
              <a:t> Giulio Ruffini</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9" name="Shape 219"/>
        <p:cNvGrpSpPr/>
        <p:nvPr/>
      </p:nvGrpSpPr>
      <p:grpSpPr>
        <a:xfrm>
          <a:off x="0" y="0"/>
          <a:ext cx="0" cy="0"/>
          <a:chOff x="0" y="0"/>
          <a:chExt cx="0" cy="0"/>
        </a:xfrm>
      </p:grpSpPr>
      <p:sp>
        <p:nvSpPr>
          <p:cNvPr id="220" name="Google Shape;220;p8"/>
          <p:cNvSpPr/>
          <p:nvPr/>
        </p:nvSpPr>
        <p:spPr>
          <a:xfrm>
            <a:off x="0" y="0"/>
            <a:ext cx="73152" cy="5143500"/>
          </a:xfrm>
          <a:prstGeom prst="rect">
            <a:avLst/>
          </a:prstGeom>
          <a:solidFill>
            <a:srgbClr val="2B5672"/>
          </a:solidFill>
          <a:ln cap="flat" cmpd="sng" w="12700">
            <a:solidFill>
              <a:srgbClr val="2B56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8"/>
          <p:cNvSpPr/>
          <p:nvPr/>
        </p:nvSpPr>
        <p:spPr>
          <a:xfrm>
            <a:off x="411480" y="256032"/>
            <a:ext cx="83210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D7A8E"/>
              </a:buClr>
              <a:buSzPts val="1000"/>
              <a:buFont typeface="Calibri"/>
              <a:buNone/>
            </a:pPr>
            <a:r>
              <a:rPr b="1" i="0" lang="en-US" sz="1000" u="none" cap="none" strike="noStrike">
                <a:solidFill>
                  <a:srgbClr val="5D7A8E"/>
                </a:solidFill>
                <a:latin typeface="Calibri"/>
                <a:ea typeface="Calibri"/>
                <a:cs typeface="Calibri"/>
                <a:sym typeface="Calibri"/>
              </a:rPr>
              <a:t>LESSON 3</a:t>
            </a:r>
            <a:endParaRPr b="0" i="0" sz="1000" u="none" cap="none" strike="noStrike">
              <a:solidFill>
                <a:schemeClr val="dk1"/>
              </a:solidFill>
              <a:latin typeface="Calibri"/>
              <a:ea typeface="Calibri"/>
              <a:cs typeface="Calibri"/>
              <a:sym typeface="Calibri"/>
            </a:endParaRPr>
          </a:p>
        </p:txBody>
      </p:sp>
      <p:sp>
        <p:nvSpPr>
          <p:cNvPr id="222" name="Google Shape;222;p8"/>
          <p:cNvSpPr/>
          <p:nvPr/>
        </p:nvSpPr>
        <p:spPr>
          <a:xfrm>
            <a:off x="411480" y="502920"/>
            <a:ext cx="83210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5672"/>
              </a:buClr>
              <a:buSzPts val="2400"/>
              <a:buFont typeface="Georgia"/>
              <a:buNone/>
            </a:pPr>
            <a:r>
              <a:rPr b="1" i="0" lang="en-US" sz="2400" u="none" cap="none" strike="noStrike">
                <a:solidFill>
                  <a:srgbClr val="2B5672"/>
                </a:solidFill>
                <a:latin typeface="Georgia"/>
                <a:ea typeface="Georgia"/>
                <a:cs typeface="Georgia"/>
                <a:sym typeface="Georgia"/>
              </a:rPr>
              <a:t>Training the LLM · Step 2 — the RL step (alignment)</a:t>
            </a:r>
            <a:endParaRPr b="0" i="0" sz="2400" u="none" cap="none" strike="noStrike">
              <a:solidFill>
                <a:schemeClr val="dk1"/>
              </a:solidFill>
              <a:latin typeface="Calibri"/>
              <a:ea typeface="Calibri"/>
              <a:cs typeface="Calibri"/>
              <a:sym typeface="Calibri"/>
            </a:endParaRPr>
          </a:p>
        </p:txBody>
      </p:sp>
      <p:sp>
        <p:nvSpPr>
          <p:cNvPr id="223" name="Google Shape;223;p8"/>
          <p:cNvSpPr/>
          <p:nvPr/>
        </p:nvSpPr>
        <p:spPr>
          <a:xfrm>
            <a:off x="411480" y="1371600"/>
            <a:ext cx="4206240" cy="13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2121"/>
              </a:buClr>
              <a:buSzPts val="1300"/>
              <a:buFont typeface="Calibri"/>
              <a:buNone/>
            </a:pPr>
            <a:r>
              <a:rPr b="0" i="0" lang="en-US" sz="1300" u="none" cap="none" strike="noStrike">
                <a:solidFill>
                  <a:srgbClr val="212121"/>
                </a:solidFill>
                <a:latin typeface="Calibri"/>
                <a:ea typeface="Calibri"/>
                <a:cs typeface="Calibri"/>
                <a:sym typeface="Calibri"/>
              </a:rPr>
              <a:t>The raw base model (w</a:t>
            </a:r>
            <a:r>
              <a:rPr lang="en-US" sz="1300">
                <a:solidFill>
                  <a:srgbClr val="212121"/>
                </a:solidFill>
                <a:latin typeface="Calibri"/>
                <a:ea typeface="Calibri"/>
                <a:cs typeface="Calibri"/>
                <a:sym typeface="Calibri"/>
              </a:rPr>
              <a:t>eights!) </a:t>
            </a:r>
            <a:r>
              <a:rPr b="0" i="0" lang="en-US" sz="1300" u="none" cap="none" strike="noStrike">
                <a:solidFill>
                  <a:srgbClr val="212121"/>
                </a:solidFill>
                <a:latin typeface="Calibri"/>
                <a:ea typeface="Calibri"/>
                <a:cs typeface="Calibri"/>
                <a:sym typeface="Calibri"/>
              </a:rPr>
              <a:t>is imitative, not cooperative. A second stage — Reinforcement Learning from Human (and AI) Feedback — teaches it to be helpful, honest, and harmless. We</a:t>
            </a:r>
            <a:r>
              <a:rPr lang="en-US" sz="1300">
                <a:solidFill>
                  <a:srgbClr val="212121"/>
                </a:solidFill>
                <a:latin typeface="Calibri"/>
                <a:ea typeface="Calibri"/>
                <a:cs typeface="Calibri"/>
                <a:sym typeface="Calibri"/>
              </a:rPr>
              <a:t>ights are updated.</a:t>
            </a:r>
            <a:endParaRPr b="0" i="0" sz="1300" u="none" cap="none" strike="noStrike">
              <a:solidFill>
                <a:schemeClr val="dk1"/>
              </a:solidFill>
              <a:latin typeface="Calibri"/>
              <a:ea typeface="Calibri"/>
              <a:cs typeface="Calibri"/>
              <a:sym typeface="Calibri"/>
            </a:endParaRPr>
          </a:p>
        </p:txBody>
      </p:sp>
      <p:sp>
        <p:nvSpPr>
          <p:cNvPr id="224" name="Google Shape;224;p8"/>
          <p:cNvSpPr/>
          <p:nvPr/>
        </p:nvSpPr>
        <p:spPr>
          <a:xfrm>
            <a:off x="411480" y="2834640"/>
            <a:ext cx="4206240" cy="182880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212121"/>
              </a:buClr>
              <a:buSzPts val="1100"/>
              <a:buFont typeface="Calibri"/>
              <a:buChar char="•"/>
            </a:pPr>
            <a:r>
              <a:rPr b="0" i="0" lang="en-US" sz="1100" u="none" cap="none" strike="noStrike">
                <a:solidFill>
                  <a:srgbClr val="212121"/>
                </a:solidFill>
                <a:latin typeface="Calibri"/>
                <a:ea typeface="Calibri"/>
                <a:cs typeface="Calibri"/>
                <a:sym typeface="Calibri"/>
              </a:rPr>
              <a:t>Humans compare model answers and rank them.</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212121"/>
              </a:buClr>
              <a:buSzPts val="1100"/>
              <a:buFont typeface="Calibri"/>
              <a:buChar char="•"/>
            </a:pPr>
            <a:r>
              <a:rPr b="0" i="0" lang="en-US" sz="1100" u="none" cap="none" strike="noStrike">
                <a:solidFill>
                  <a:srgbClr val="212121"/>
                </a:solidFill>
                <a:latin typeface="Calibri"/>
                <a:ea typeface="Calibri"/>
                <a:cs typeface="Calibri"/>
                <a:sym typeface="Calibri"/>
              </a:rPr>
              <a:t>A reward model learns to predict those preferences.</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212121"/>
              </a:buClr>
              <a:buSzPts val="1100"/>
              <a:buFont typeface="Calibri"/>
              <a:buChar char="•"/>
            </a:pPr>
            <a:r>
              <a:rPr b="0" i="0" lang="en-US" sz="1100" u="none" cap="none" strike="noStrike">
                <a:solidFill>
                  <a:srgbClr val="212121"/>
                </a:solidFill>
                <a:latin typeface="Calibri"/>
                <a:ea typeface="Calibri"/>
                <a:cs typeface="Calibri"/>
                <a:sym typeface="Calibri"/>
              </a:rPr>
              <a:t>The LLM is fine-tuned (via RL) to maximize that reward.</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212121"/>
              </a:buClr>
              <a:buSzPts val="1100"/>
              <a:buFont typeface="Calibri"/>
              <a:buChar char="•"/>
            </a:pPr>
            <a:r>
              <a:rPr b="0" i="0" lang="en-US" sz="1100" u="none" cap="none" strike="noStrike">
                <a:solidFill>
                  <a:srgbClr val="212121"/>
                </a:solidFill>
                <a:latin typeface="Calibri"/>
                <a:ea typeface="Calibri"/>
                <a:cs typeface="Calibri"/>
                <a:sym typeface="Calibri"/>
              </a:rPr>
              <a:t>Anthropic also uses Constitutional AI — a written set of principles the model is trained to follow.</a:t>
            </a:r>
            <a:endParaRPr b="0" i="0" sz="1100" u="none" cap="none" strike="noStrike">
              <a:solidFill>
                <a:schemeClr val="dk1"/>
              </a:solidFill>
              <a:latin typeface="Calibri"/>
              <a:ea typeface="Calibri"/>
              <a:cs typeface="Calibri"/>
              <a:sym typeface="Calibri"/>
            </a:endParaRPr>
          </a:p>
        </p:txBody>
      </p:sp>
      <p:sp>
        <p:nvSpPr>
          <p:cNvPr id="225" name="Google Shape;225;p8"/>
          <p:cNvSpPr/>
          <p:nvPr/>
        </p:nvSpPr>
        <p:spPr>
          <a:xfrm>
            <a:off x="4937760" y="1371600"/>
            <a:ext cx="1920240" cy="1005840"/>
          </a:xfrm>
          <a:prstGeom prst="roundRect">
            <a:avLst>
              <a:gd fmla="val 6364" name="adj"/>
            </a:avLst>
          </a:prstGeom>
          <a:solidFill>
            <a:srgbClr val="F7F6F5"/>
          </a:solidFill>
          <a:ln cap="flat" cmpd="sng" w="15875">
            <a:solidFill>
              <a:srgbClr val="5D7A8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8"/>
          <p:cNvSpPr/>
          <p:nvPr/>
        </p:nvSpPr>
        <p:spPr>
          <a:xfrm>
            <a:off x="5074920" y="1481328"/>
            <a:ext cx="1645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5672"/>
              </a:buClr>
              <a:buSzPts val="1300"/>
              <a:buFont typeface="Georgia"/>
              <a:buNone/>
            </a:pPr>
            <a:r>
              <a:rPr b="1" i="0" lang="en-US" sz="1300" u="none" cap="none" strike="noStrike">
                <a:solidFill>
                  <a:srgbClr val="2B5672"/>
                </a:solidFill>
                <a:latin typeface="Georgia"/>
                <a:ea typeface="Georgia"/>
                <a:cs typeface="Georgia"/>
                <a:sym typeface="Georgia"/>
              </a:rPr>
              <a:t>1. Generate</a:t>
            </a:r>
            <a:endParaRPr b="0" i="0" sz="1300" u="none" cap="none" strike="noStrike">
              <a:solidFill>
                <a:schemeClr val="dk1"/>
              </a:solidFill>
              <a:latin typeface="Calibri"/>
              <a:ea typeface="Calibri"/>
              <a:cs typeface="Calibri"/>
              <a:sym typeface="Calibri"/>
            </a:endParaRPr>
          </a:p>
        </p:txBody>
      </p:sp>
      <p:sp>
        <p:nvSpPr>
          <p:cNvPr id="227" name="Google Shape;227;p8"/>
          <p:cNvSpPr/>
          <p:nvPr/>
        </p:nvSpPr>
        <p:spPr>
          <a:xfrm>
            <a:off x="5074920" y="1783080"/>
            <a:ext cx="16459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2121"/>
              </a:buClr>
              <a:buSzPts val="1050"/>
              <a:buFont typeface="Calibri"/>
              <a:buNone/>
            </a:pPr>
            <a:r>
              <a:rPr b="0" i="0" lang="en-US" sz="1050" u="none" cap="none" strike="noStrike">
                <a:solidFill>
                  <a:srgbClr val="212121"/>
                </a:solidFill>
                <a:latin typeface="Calibri"/>
                <a:ea typeface="Calibri"/>
                <a:cs typeface="Calibri"/>
                <a:sym typeface="Calibri"/>
              </a:rPr>
              <a:t>LLM produces several candidate answers.</a:t>
            </a:r>
            <a:endParaRPr b="0" i="0" sz="1050" u="none" cap="none" strike="noStrike">
              <a:solidFill>
                <a:schemeClr val="dk1"/>
              </a:solidFill>
              <a:latin typeface="Calibri"/>
              <a:ea typeface="Calibri"/>
              <a:cs typeface="Calibri"/>
              <a:sym typeface="Calibri"/>
            </a:endParaRPr>
          </a:p>
        </p:txBody>
      </p:sp>
      <p:sp>
        <p:nvSpPr>
          <p:cNvPr id="228" name="Google Shape;228;p8"/>
          <p:cNvSpPr/>
          <p:nvPr/>
        </p:nvSpPr>
        <p:spPr>
          <a:xfrm>
            <a:off x="7040880" y="1371600"/>
            <a:ext cx="1920240" cy="1005840"/>
          </a:xfrm>
          <a:prstGeom prst="roundRect">
            <a:avLst>
              <a:gd fmla="val 6364" name="adj"/>
            </a:avLst>
          </a:prstGeom>
          <a:solidFill>
            <a:srgbClr val="F7F6F5"/>
          </a:solidFill>
          <a:ln cap="flat" cmpd="sng" w="15875">
            <a:solidFill>
              <a:srgbClr val="5D7A8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8"/>
          <p:cNvSpPr/>
          <p:nvPr/>
        </p:nvSpPr>
        <p:spPr>
          <a:xfrm>
            <a:off x="7178040" y="1481328"/>
            <a:ext cx="1645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5672"/>
              </a:buClr>
              <a:buSzPts val="1300"/>
              <a:buFont typeface="Georgia"/>
              <a:buNone/>
            </a:pPr>
            <a:r>
              <a:rPr b="1" i="0" lang="en-US" sz="1300" u="none" cap="none" strike="noStrike">
                <a:solidFill>
                  <a:srgbClr val="2B5672"/>
                </a:solidFill>
                <a:latin typeface="Georgia"/>
                <a:ea typeface="Georgia"/>
                <a:cs typeface="Georgia"/>
                <a:sym typeface="Georgia"/>
              </a:rPr>
              <a:t>2. Compare</a:t>
            </a:r>
            <a:endParaRPr b="0" i="0" sz="1300" u="none" cap="none" strike="noStrike">
              <a:solidFill>
                <a:schemeClr val="dk1"/>
              </a:solidFill>
              <a:latin typeface="Calibri"/>
              <a:ea typeface="Calibri"/>
              <a:cs typeface="Calibri"/>
              <a:sym typeface="Calibri"/>
            </a:endParaRPr>
          </a:p>
        </p:txBody>
      </p:sp>
      <p:sp>
        <p:nvSpPr>
          <p:cNvPr id="230" name="Google Shape;230;p8"/>
          <p:cNvSpPr/>
          <p:nvPr/>
        </p:nvSpPr>
        <p:spPr>
          <a:xfrm>
            <a:off x="7178040" y="1783080"/>
            <a:ext cx="16459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2121"/>
              </a:buClr>
              <a:buSzPts val="1050"/>
              <a:buFont typeface="Calibri"/>
              <a:buNone/>
            </a:pPr>
            <a:r>
              <a:rPr b="0" i="0" lang="en-US" sz="1050" u="none" cap="none" strike="noStrike">
                <a:solidFill>
                  <a:srgbClr val="212121"/>
                </a:solidFill>
                <a:latin typeface="Calibri"/>
                <a:ea typeface="Calibri"/>
                <a:cs typeface="Calibri"/>
                <a:sym typeface="Calibri"/>
              </a:rPr>
              <a:t>Humans rank answers by quality.</a:t>
            </a:r>
            <a:endParaRPr b="0" i="0" sz="1050" u="none" cap="none" strike="noStrike">
              <a:solidFill>
                <a:schemeClr val="dk1"/>
              </a:solidFill>
              <a:latin typeface="Calibri"/>
              <a:ea typeface="Calibri"/>
              <a:cs typeface="Calibri"/>
              <a:sym typeface="Calibri"/>
            </a:endParaRPr>
          </a:p>
        </p:txBody>
      </p:sp>
      <p:sp>
        <p:nvSpPr>
          <p:cNvPr id="231" name="Google Shape;231;p8"/>
          <p:cNvSpPr/>
          <p:nvPr/>
        </p:nvSpPr>
        <p:spPr>
          <a:xfrm>
            <a:off x="4937760" y="2606040"/>
            <a:ext cx="1920240" cy="1005840"/>
          </a:xfrm>
          <a:prstGeom prst="roundRect">
            <a:avLst>
              <a:gd fmla="val 6364" name="adj"/>
            </a:avLst>
          </a:prstGeom>
          <a:solidFill>
            <a:srgbClr val="F7F6F5"/>
          </a:solidFill>
          <a:ln cap="flat" cmpd="sng" w="15875">
            <a:solidFill>
              <a:srgbClr val="5D7A8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8"/>
          <p:cNvSpPr/>
          <p:nvPr/>
        </p:nvSpPr>
        <p:spPr>
          <a:xfrm>
            <a:off x="5074920" y="2715768"/>
            <a:ext cx="1645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5672"/>
              </a:buClr>
              <a:buSzPts val="1300"/>
              <a:buFont typeface="Georgia"/>
              <a:buNone/>
            </a:pPr>
            <a:r>
              <a:rPr b="1" i="0" lang="en-US" sz="1300" u="none" cap="none" strike="noStrike">
                <a:solidFill>
                  <a:srgbClr val="2B5672"/>
                </a:solidFill>
                <a:latin typeface="Georgia"/>
                <a:ea typeface="Georgia"/>
                <a:cs typeface="Georgia"/>
                <a:sym typeface="Georgia"/>
              </a:rPr>
              <a:t>3. Reward</a:t>
            </a:r>
            <a:endParaRPr b="0" i="0" sz="1300" u="none" cap="none" strike="noStrike">
              <a:solidFill>
                <a:schemeClr val="dk1"/>
              </a:solidFill>
              <a:latin typeface="Calibri"/>
              <a:ea typeface="Calibri"/>
              <a:cs typeface="Calibri"/>
              <a:sym typeface="Calibri"/>
            </a:endParaRPr>
          </a:p>
        </p:txBody>
      </p:sp>
      <p:sp>
        <p:nvSpPr>
          <p:cNvPr id="233" name="Google Shape;233;p8"/>
          <p:cNvSpPr/>
          <p:nvPr/>
        </p:nvSpPr>
        <p:spPr>
          <a:xfrm>
            <a:off x="5074920" y="3017520"/>
            <a:ext cx="16459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2121"/>
              </a:buClr>
              <a:buSzPts val="1050"/>
              <a:buFont typeface="Calibri"/>
              <a:buNone/>
            </a:pPr>
            <a:r>
              <a:rPr b="0" i="0" lang="en-US" sz="1050" u="none" cap="none" strike="noStrike">
                <a:solidFill>
                  <a:srgbClr val="212121"/>
                </a:solidFill>
                <a:latin typeface="Calibri"/>
                <a:ea typeface="Calibri"/>
                <a:cs typeface="Calibri"/>
                <a:sym typeface="Calibri"/>
              </a:rPr>
              <a:t>A reward model learns those preferences.</a:t>
            </a:r>
            <a:endParaRPr b="0" i="0" sz="1050" u="none" cap="none" strike="noStrike">
              <a:solidFill>
                <a:schemeClr val="dk1"/>
              </a:solidFill>
              <a:latin typeface="Calibri"/>
              <a:ea typeface="Calibri"/>
              <a:cs typeface="Calibri"/>
              <a:sym typeface="Calibri"/>
            </a:endParaRPr>
          </a:p>
        </p:txBody>
      </p:sp>
      <p:sp>
        <p:nvSpPr>
          <p:cNvPr id="234" name="Google Shape;234;p8"/>
          <p:cNvSpPr/>
          <p:nvPr/>
        </p:nvSpPr>
        <p:spPr>
          <a:xfrm>
            <a:off x="7040880" y="2606040"/>
            <a:ext cx="1920240" cy="1005840"/>
          </a:xfrm>
          <a:prstGeom prst="roundRect">
            <a:avLst>
              <a:gd fmla="val 6364" name="adj"/>
            </a:avLst>
          </a:prstGeom>
          <a:solidFill>
            <a:srgbClr val="F7F6F5"/>
          </a:solidFill>
          <a:ln cap="flat" cmpd="sng" w="15875">
            <a:solidFill>
              <a:srgbClr val="5D7A8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8"/>
          <p:cNvSpPr/>
          <p:nvPr/>
        </p:nvSpPr>
        <p:spPr>
          <a:xfrm>
            <a:off x="7178040" y="2715768"/>
            <a:ext cx="1645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5672"/>
              </a:buClr>
              <a:buSzPts val="1300"/>
              <a:buFont typeface="Georgia"/>
              <a:buNone/>
            </a:pPr>
            <a:r>
              <a:rPr b="1" i="0" lang="en-US" sz="1300" u="none" cap="none" strike="noStrike">
                <a:solidFill>
                  <a:srgbClr val="2B5672"/>
                </a:solidFill>
                <a:latin typeface="Georgia"/>
                <a:ea typeface="Georgia"/>
                <a:cs typeface="Georgia"/>
                <a:sym typeface="Georgia"/>
              </a:rPr>
              <a:t>4. Update</a:t>
            </a:r>
            <a:endParaRPr b="0" i="0" sz="1300" u="none" cap="none" strike="noStrike">
              <a:solidFill>
                <a:schemeClr val="dk1"/>
              </a:solidFill>
              <a:latin typeface="Calibri"/>
              <a:ea typeface="Calibri"/>
              <a:cs typeface="Calibri"/>
              <a:sym typeface="Calibri"/>
            </a:endParaRPr>
          </a:p>
        </p:txBody>
      </p:sp>
      <p:sp>
        <p:nvSpPr>
          <p:cNvPr id="236" name="Google Shape;236;p8"/>
          <p:cNvSpPr/>
          <p:nvPr/>
        </p:nvSpPr>
        <p:spPr>
          <a:xfrm>
            <a:off x="7178040" y="3017520"/>
            <a:ext cx="16459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2121"/>
              </a:buClr>
              <a:buSzPts val="1050"/>
              <a:buFont typeface="Calibri"/>
              <a:buNone/>
            </a:pPr>
            <a:r>
              <a:rPr b="0" i="0" lang="en-US" sz="1050" u="none" cap="none" strike="noStrike">
                <a:solidFill>
                  <a:srgbClr val="212121"/>
                </a:solidFill>
                <a:latin typeface="Calibri"/>
                <a:ea typeface="Calibri"/>
                <a:cs typeface="Calibri"/>
                <a:sym typeface="Calibri"/>
              </a:rPr>
              <a:t>Policy is fine-tuned by RL.</a:t>
            </a:r>
            <a:endParaRPr b="0" i="0" sz="1050" u="none" cap="none" strike="noStrike">
              <a:solidFill>
                <a:schemeClr val="dk1"/>
              </a:solidFill>
              <a:latin typeface="Calibri"/>
              <a:ea typeface="Calibri"/>
              <a:cs typeface="Calibri"/>
              <a:sym typeface="Calibri"/>
            </a:endParaRPr>
          </a:p>
        </p:txBody>
      </p:sp>
      <p:sp>
        <p:nvSpPr>
          <p:cNvPr id="237" name="Google Shape;237;p8"/>
          <p:cNvSpPr/>
          <p:nvPr/>
        </p:nvSpPr>
        <p:spPr>
          <a:xfrm>
            <a:off x="6766560" y="3630168"/>
            <a:ext cx="7315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D7A8E"/>
              </a:buClr>
              <a:buSzPts val="1100"/>
              <a:buFont typeface="Calibri"/>
              <a:buNone/>
            </a:pPr>
            <a:r>
              <a:rPr b="0" i="1" lang="en-US" sz="1100" u="none" cap="none" strike="noStrike">
                <a:solidFill>
                  <a:srgbClr val="5D7A8E"/>
                </a:solidFill>
                <a:latin typeface="Calibri"/>
                <a:ea typeface="Calibri"/>
                <a:cs typeface="Calibri"/>
                <a:sym typeface="Calibri"/>
              </a:rPr>
              <a:t>↻  repeat</a:t>
            </a:r>
            <a:endParaRPr b="0" i="0" sz="1100" u="none" cap="none" strike="noStrike">
              <a:solidFill>
                <a:schemeClr val="dk1"/>
              </a:solidFill>
              <a:latin typeface="Calibri"/>
              <a:ea typeface="Calibri"/>
              <a:cs typeface="Calibri"/>
              <a:sym typeface="Calibri"/>
            </a:endParaRPr>
          </a:p>
        </p:txBody>
      </p:sp>
      <p:sp>
        <p:nvSpPr>
          <p:cNvPr id="238" name="Google Shape;238;p8"/>
          <p:cNvSpPr/>
          <p:nvPr/>
        </p:nvSpPr>
        <p:spPr>
          <a:xfrm>
            <a:off x="8412480" y="486460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25258"/>
              </a:buClr>
              <a:buSzPts val="900"/>
              <a:buFont typeface="Calibri"/>
              <a:buNone/>
            </a:pPr>
            <a:r>
              <a:rPr b="0" i="0" lang="en-US" sz="900" u="none" cap="none" strike="noStrike">
                <a:solidFill>
                  <a:srgbClr val="525258"/>
                </a:solidFill>
                <a:latin typeface="Calibri"/>
                <a:ea typeface="Calibri"/>
                <a:cs typeface="Calibri"/>
                <a:sym typeface="Calibri"/>
              </a:rPr>
              <a:t>6</a:t>
            </a:r>
            <a:endParaRPr b="0" i="0" sz="900" u="none" cap="none" strike="noStrike">
              <a:solidFill>
                <a:schemeClr val="dk1"/>
              </a:solidFill>
              <a:latin typeface="Calibri"/>
              <a:ea typeface="Calibri"/>
              <a:cs typeface="Calibri"/>
              <a:sym typeface="Calibri"/>
            </a:endParaRPr>
          </a:p>
        </p:txBody>
      </p:sp>
      <p:sp>
        <p:nvSpPr>
          <p:cNvPr id="239" name="Google Shape;239;p8"/>
          <p:cNvSpPr/>
          <p:nvPr/>
        </p:nvSpPr>
        <p:spPr>
          <a:xfrm>
            <a:off x="411480" y="4864608"/>
            <a:ext cx="54864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25258"/>
              </a:buClr>
              <a:buSzPts val="900"/>
              <a:buFont typeface="Calibri"/>
              <a:buNone/>
            </a:pPr>
            <a:r>
              <a:rPr b="0" i="0" lang="en-US" sz="900" u="none" cap="none" strike="noStrike">
                <a:solidFill>
                  <a:srgbClr val="525258"/>
                </a:solidFill>
                <a:latin typeface="Calibri"/>
                <a:ea typeface="Calibri"/>
                <a:cs typeface="Calibri"/>
                <a:sym typeface="Calibri"/>
              </a:rPr>
              <a:t>How Claude Works  ·</a:t>
            </a:r>
            <a:r>
              <a:rPr lang="en-US" sz="900">
                <a:solidFill>
                  <a:srgbClr val="525258"/>
                </a:solidFill>
                <a:latin typeface="Calibri"/>
                <a:ea typeface="Calibri"/>
                <a:cs typeface="Calibri"/>
                <a:sym typeface="Calibri"/>
              </a:rPr>
              <a:t> Giulio Ruffini</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4" name="Shape 244"/>
        <p:cNvGrpSpPr/>
        <p:nvPr/>
      </p:nvGrpSpPr>
      <p:grpSpPr>
        <a:xfrm>
          <a:off x="0" y="0"/>
          <a:ext cx="0" cy="0"/>
          <a:chOff x="0" y="0"/>
          <a:chExt cx="0" cy="0"/>
        </a:xfrm>
      </p:grpSpPr>
      <p:sp>
        <p:nvSpPr>
          <p:cNvPr id="245" name="Google Shape;245;p9"/>
          <p:cNvSpPr/>
          <p:nvPr/>
        </p:nvSpPr>
        <p:spPr>
          <a:xfrm>
            <a:off x="0" y="0"/>
            <a:ext cx="73152" cy="5143500"/>
          </a:xfrm>
          <a:prstGeom prst="rect">
            <a:avLst/>
          </a:prstGeom>
          <a:solidFill>
            <a:srgbClr val="2B5672"/>
          </a:solidFill>
          <a:ln cap="flat" cmpd="sng" w="12700">
            <a:solidFill>
              <a:srgbClr val="2B56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9"/>
          <p:cNvSpPr/>
          <p:nvPr/>
        </p:nvSpPr>
        <p:spPr>
          <a:xfrm>
            <a:off x="411480" y="256032"/>
            <a:ext cx="83210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D7A8E"/>
              </a:buClr>
              <a:buSzPts val="1000"/>
              <a:buFont typeface="Calibri"/>
              <a:buNone/>
            </a:pPr>
            <a:r>
              <a:rPr b="1" i="0" lang="en-US" sz="1000" u="none" cap="none" strike="noStrike">
                <a:solidFill>
                  <a:srgbClr val="5D7A8E"/>
                </a:solidFill>
                <a:latin typeface="Calibri"/>
                <a:ea typeface="Calibri"/>
                <a:cs typeface="Calibri"/>
                <a:sym typeface="Calibri"/>
              </a:rPr>
              <a:t>ZOOM IN</a:t>
            </a:r>
            <a:endParaRPr b="0" i="0" sz="1000" u="none" cap="none" strike="noStrike">
              <a:solidFill>
                <a:schemeClr val="dk1"/>
              </a:solidFill>
              <a:latin typeface="Calibri"/>
              <a:ea typeface="Calibri"/>
              <a:cs typeface="Calibri"/>
              <a:sym typeface="Calibri"/>
            </a:endParaRPr>
          </a:p>
        </p:txBody>
      </p:sp>
      <p:sp>
        <p:nvSpPr>
          <p:cNvPr id="247" name="Google Shape;247;p9"/>
          <p:cNvSpPr/>
          <p:nvPr/>
        </p:nvSpPr>
        <p:spPr>
          <a:xfrm>
            <a:off x="411480" y="502920"/>
            <a:ext cx="83210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5672"/>
              </a:buClr>
              <a:buSzPts val="2400"/>
              <a:buFont typeface="Georgia"/>
              <a:buNone/>
            </a:pPr>
            <a:r>
              <a:rPr b="1" i="0" lang="en-US" sz="2400" u="none" cap="none" strike="noStrike">
                <a:solidFill>
                  <a:srgbClr val="2B5672"/>
                </a:solidFill>
                <a:latin typeface="Georgia"/>
                <a:ea typeface="Georgia"/>
                <a:cs typeface="Georgia"/>
                <a:sym typeface="Georgia"/>
              </a:rPr>
              <a:t>Inside the AI </a:t>
            </a:r>
            <a:r>
              <a:rPr b="1" lang="en-US" sz="2400">
                <a:solidFill>
                  <a:srgbClr val="2B5672"/>
                </a:solidFill>
                <a:latin typeface="Georgia"/>
                <a:ea typeface="Georgia"/>
                <a:cs typeface="Georgia"/>
                <a:sym typeface="Georgia"/>
              </a:rPr>
              <a:t>M</a:t>
            </a:r>
            <a:r>
              <a:rPr b="1" i="0" lang="en-US" sz="2400" u="none" cap="none" strike="noStrike">
                <a:solidFill>
                  <a:srgbClr val="2B5672"/>
                </a:solidFill>
                <a:latin typeface="Georgia"/>
                <a:ea typeface="Georgia"/>
                <a:cs typeface="Georgia"/>
                <a:sym typeface="Georgia"/>
              </a:rPr>
              <a:t>odel — LLM (weights) + markdown</a:t>
            </a:r>
            <a:endParaRPr b="0" i="0" sz="2400" u="none" cap="none" strike="noStrike">
              <a:solidFill>
                <a:schemeClr val="dk1"/>
              </a:solidFill>
              <a:latin typeface="Calibri"/>
              <a:ea typeface="Calibri"/>
              <a:cs typeface="Calibri"/>
              <a:sym typeface="Calibri"/>
            </a:endParaRPr>
          </a:p>
        </p:txBody>
      </p:sp>
      <p:sp>
        <p:nvSpPr>
          <p:cNvPr id="248" name="Google Shape;248;p9"/>
          <p:cNvSpPr/>
          <p:nvPr/>
        </p:nvSpPr>
        <p:spPr>
          <a:xfrm>
            <a:off x="411480" y="960120"/>
            <a:ext cx="83210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25258"/>
              </a:buClr>
              <a:buSzPts val="1300"/>
              <a:buFont typeface="Calibri"/>
              <a:buNone/>
            </a:pPr>
            <a:r>
              <a:rPr b="0" i="1" lang="en-US" sz="1300" u="none" cap="none" strike="noStrike">
                <a:solidFill>
                  <a:srgbClr val="525258"/>
                </a:solidFill>
                <a:latin typeface="Calibri"/>
                <a:ea typeface="Calibri"/>
                <a:cs typeface="Calibri"/>
                <a:sym typeface="Calibri"/>
              </a:rPr>
              <a:t>What does "Claude Opus 4.6" actually mean? Two things, working together.</a:t>
            </a:r>
            <a:endParaRPr b="0" i="0" sz="1300" u="none" cap="none" strike="noStrike">
              <a:solidFill>
                <a:schemeClr val="dk1"/>
              </a:solidFill>
              <a:latin typeface="Calibri"/>
              <a:ea typeface="Calibri"/>
              <a:cs typeface="Calibri"/>
              <a:sym typeface="Calibri"/>
            </a:endParaRPr>
          </a:p>
        </p:txBody>
      </p:sp>
      <p:sp>
        <p:nvSpPr>
          <p:cNvPr id="249" name="Google Shape;249;p9"/>
          <p:cNvSpPr/>
          <p:nvPr/>
        </p:nvSpPr>
        <p:spPr>
          <a:xfrm>
            <a:off x="411480" y="1417320"/>
            <a:ext cx="3931920" cy="2971800"/>
          </a:xfrm>
          <a:prstGeom prst="rect">
            <a:avLst/>
          </a:prstGeom>
          <a:solidFill>
            <a:srgbClr val="F7F6F5"/>
          </a:solidFill>
          <a:ln cap="flat" cmpd="sng" w="9525">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9"/>
          <p:cNvSpPr/>
          <p:nvPr/>
        </p:nvSpPr>
        <p:spPr>
          <a:xfrm>
            <a:off x="411480" y="1417320"/>
            <a:ext cx="54864" cy="2971800"/>
          </a:xfrm>
          <a:prstGeom prst="rect">
            <a:avLst/>
          </a:prstGeom>
          <a:solidFill>
            <a:srgbClr val="5D7A8E"/>
          </a:solidFill>
          <a:ln cap="flat" cmpd="sng" w="12700">
            <a:solidFill>
              <a:srgbClr val="5D7A8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9"/>
          <p:cNvSpPr/>
          <p:nvPr/>
        </p:nvSpPr>
        <p:spPr>
          <a:xfrm>
            <a:off x="640080" y="1508760"/>
            <a:ext cx="36118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5672"/>
              </a:buClr>
              <a:buSzPts val="1500"/>
              <a:buFont typeface="Georgia"/>
              <a:buNone/>
            </a:pPr>
            <a:r>
              <a:rPr b="1" i="0" lang="en-US" sz="1500" u="none" cap="none" strike="noStrike">
                <a:solidFill>
                  <a:srgbClr val="2B5672"/>
                </a:solidFill>
                <a:latin typeface="Georgia"/>
                <a:ea typeface="Georgia"/>
                <a:cs typeface="Georgia"/>
                <a:sym typeface="Georgia"/>
              </a:rPr>
              <a:t>1. The neural network</a:t>
            </a:r>
            <a:endParaRPr b="0" i="0" sz="1500" u="none" cap="none" strike="noStrike">
              <a:solidFill>
                <a:schemeClr val="dk1"/>
              </a:solidFill>
              <a:latin typeface="Calibri"/>
              <a:ea typeface="Calibri"/>
              <a:cs typeface="Calibri"/>
              <a:sym typeface="Calibri"/>
            </a:endParaRPr>
          </a:p>
        </p:txBody>
      </p:sp>
      <p:sp>
        <p:nvSpPr>
          <p:cNvPr id="252" name="Google Shape;252;p9"/>
          <p:cNvSpPr/>
          <p:nvPr/>
        </p:nvSpPr>
        <p:spPr>
          <a:xfrm>
            <a:off x="640080" y="1801368"/>
            <a:ext cx="361188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25258"/>
              </a:buClr>
              <a:buSzPts val="1100"/>
              <a:buFont typeface="Calibri"/>
              <a:buNone/>
            </a:pPr>
            <a:r>
              <a:rPr b="0" i="1" lang="en-US" sz="1100" u="none" cap="none" strike="noStrike">
                <a:solidFill>
                  <a:srgbClr val="525258"/>
                </a:solidFill>
                <a:latin typeface="Calibri"/>
                <a:ea typeface="Calibri"/>
                <a:cs typeface="Calibri"/>
                <a:sym typeface="Calibri"/>
              </a:rPr>
              <a:t>Frozen weights — trained once, shipped</a:t>
            </a:r>
            <a:endParaRPr b="0" i="0" sz="1100" u="none" cap="none" strike="noStrike">
              <a:solidFill>
                <a:schemeClr val="dk1"/>
              </a:solidFill>
              <a:latin typeface="Calibri"/>
              <a:ea typeface="Calibri"/>
              <a:cs typeface="Calibri"/>
              <a:sym typeface="Calibri"/>
            </a:endParaRPr>
          </a:p>
        </p:txBody>
      </p:sp>
      <p:sp>
        <p:nvSpPr>
          <p:cNvPr id="253" name="Google Shape;253;p9"/>
          <p:cNvSpPr/>
          <p:nvPr/>
        </p:nvSpPr>
        <p:spPr>
          <a:xfrm>
            <a:off x="1234440" y="2148840"/>
            <a:ext cx="2286000" cy="256032"/>
          </a:xfrm>
          <a:prstGeom prst="rect">
            <a:avLst/>
          </a:prstGeom>
          <a:solidFill>
            <a:srgbClr val="FFFFFF"/>
          </a:solidFill>
          <a:ln cap="flat" cmpd="sng" w="12700">
            <a:solidFill>
              <a:srgbClr val="2B56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9"/>
          <p:cNvSpPr/>
          <p:nvPr/>
        </p:nvSpPr>
        <p:spPr>
          <a:xfrm>
            <a:off x="1234440" y="2148840"/>
            <a:ext cx="228600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12121"/>
              </a:buClr>
              <a:buSzPts val="1000"/>
              <a:buFont typeface="Calibri"/>
              <a:buNone/>
            </a:pPr>
            <a:r>
              <a:rPr b="0" i="0" lang="en-US" sz="1000" u="none" cap="none" strike="noStrike">
                <a:solidFill>
                  <a:srgbClr val="212121"/>
                </a:solidFill>
                <a:latin typeface="Calibri"/>
                <a:ea typeface="Calibri"/>
                <a:cs typeface="Calibri"/>
                <a:sym typeface="Calibri"/>
              </a:rPr>
              <a:t>Input tokens</a:t>
            </a:r>
            <a:endParaRPr b="0" i="0" sz="1000" u="none" cap="none" strike="noStrike">
              <a:solidFill>
                <a:schemeClr val="dk1"/>
              </a:solidFill>
              <a:latin typeface="Calibri"/>
              <a:ea typeface="Calibri"/>
              <a:cs typeface="Calibri"/>
              <a:sym typeface="Calibri"/>
            </a:endParaRPr>
          </a:p>
        </p:txBody>
      </p:sp>
      <p:cxnSp>
        <p:nvCxnSpPr>
          <p:cNvPr id="255" name="Google Shape;255;p9"/>
          <p:cNvCxnSpPr/>
          <p:nvPr/>
        </p:nvCxnSpPr>
        <p:spPr>
          <a:xfrm>
            <a:off x="2377440" y="2404872"/>
            <a:ext cx="0" cy="91440"/>
          </a:xfrm>
          <a:prstGeom prst="straightConnector1">
            <a:avLst/>
          </a:prstGeom>
          <a:noFill/>
          <a:ln cap="flat" cmpd="sng" w="12700">
            <a:solidFill>
              <a:srgbClr val="1E3E52"/>
            </a:solidFill>
            <a:prstDash val="solid"/>
            <a:round/>
            <a:headEnd len="sm" w="sm" type="none"/>
            <a:tailEnd len="med" w="med" type="triangle"/>
          </a:ln>
        </p:spPr>
      </p:cxnSp>
      <p:sp>
        <p:nvSpPr>
          <p:cNvPr id="256" name="Google Shape;256;p9"/>
          <p:cNvSpPr/>
          <p:nvPr/>
        </p:nvSpPr>
        <p:spPr>
          <a:xfrm>
            <a:off x="1234440" y="2496312"/>
            <a:ext cx="2286000" cy="256032"/>
          </a:xfrm>
          <a:prstGeom prst="rect">
            <a:avLst/>
          </a:prstGeom>
          <a:solidFill>
            <a:srgbClr val="FFFFFF"/>
          </a:solidFill>
          <a:ln cap="flat" cmpd="sng" w="12700">
            <a:solidFill>
              <a:srgbClr val="2B56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9"/>
          <p:cNvSpPr/>
          <p:nvPr/>
        </p:nvSpPr>
        <p:spPr>
          <a:xfrm>
            <a:off x="1234440" y="2496312"/>
            <a:ext cx="228600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12121"/>
              </a:buClr>
              <a:buSzPts val="1000"/>
              <a:buFont typeface="Calibri"/>
              <a:buNone/>
            </a:pPr>
            <a:r>
              <a:rPr b="0" i="0" lang="en-US" sz="1000" u="none" cap="none" strike="noStrike">
                <a:solidFill>
                  <a:srgbClr val="212121"/>
                </a:solidFill>
                <a:latin typeface="Calibri"/>
                <a:ea typeface="Calibri"/>
                <a:cs typeface="Calibri"/>
                <a:sym typeface="Calibri"/>
              </a:rPr>
              <a:t>Token embeddings</a:t>
            </a:r>
            <a:endParaRPr b="0" i="0" sz="1000" u="none" cap="none" strike="noStrike">
              <a:solidFill>
                <a:schemeClr val="dk1"/>
              </a:solidFill>
              <a:latin typeface="Calibri"/>
              <a:ea typeface="Calibri"/>
              <a:cs typeface="Calibri"/>
              <a:sym typeface="Calibri"/>
            </a:endParaRPr>
          </a:p>
        </p:txBody>
      </p:sp>
      <p:cxnSp>
        <p:nvCxnSpPr>
          <p:cNvPr id="258" name="Google Shape;258;p9"/>
          <p:cNvCxnSpPr/>
          <p:nvPr/>
        </p:nvCxnSpPr>
        <p:spPr>
          <a:xfrm>
            <a:off x="2377440" y="2752344"/>
            <a:ext cx="0" cy="73152"/>
          </a:xfrm>
          <a:prstGeom prst="straightConnector1">
            <a:avLst/>
          </a:prstGeom>
          <a:noFill/>
          <a:ln cap="flat" cmpd="sng" w="12700">
            <a:solidFill>
              <a:srgbClr val="1E3E52"/>
            </a:solidFill>
            <a:prstDash val="solid"/>
            <a:round/>
            <a:headEnd len="sm" w="sm" type="none"/>
            <a:tailEnd len="med" w="med" type="triangle"/>
          </a:ln>
        </p:spPr>
      </p:cxnSp>
      <p:sp>
        <p:nvSpPr>
          <p:cNvPr id="259" name="Google Shape;259;p9"/>
          <p:cNvSpPr/>
          <p:nvPr/>
        </p:nvSpPr>
        <p:spPr>
          <a:xfrm>
            <a:off x="1234440" y="2825496"/>
            <a:ext cx="2286000" cy="274320"/>
          </a:xfrm>
          <a:prstGeom prst="rect">
            <a:avLst/>
          </a:prstGeom>
          <a:solidFill>
            <a:srgbClr val="2B5672"/>
          </a:solidFill>
          <a:ln cap="flat" cmpd="sng" w="12700">
            <a:solidFill>
              <a:srgbClr val="2B56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9"/>
          <p:cNvSpPr/>
          <p:nvPr/>
        </p:nvSpPr>
        <p:spPr>
          <a:xfrm>
            <a:off x="1234440" y="2825496"/>
            <a:ext cx="22860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Self-attention</a:t>
            </a:r>
            <a:r>
              <a:rPr b="0" i="0" lang="en-US" sz="900" u="none" cap="none" strike="noStrike">
                <a:solidFill>
                  <a:srgbClr val="5D7A8E"/>
                </a:solidFill>
                <a:latin typeface="Calibri"/>
                <a:ea typeface="Calibri"/>
                <a:cs typeface="Calibri"/>
                <a:sym typeface="Calibri"/>
              </a:rPr>
              <a:t>  +  </a:t>
            </a:r>
            <a:r>
              <a:rPr b="1" i="0" lang="en-US" sz="900" u="none" cap="none" strike="noStrike">
                <a:solidFill>
                  <a:srgbClr val="FFFFFF"/>
                </a:solidFill>
                <a:latin typeface="Calibri"/>
                <a:ea typeface="Calibri"/>
                <a:cs typeface="Calibri"/>
                <a:sym typeface="Calibri"/>
              </a:rPr>
              <a:t>Feedforward</a:t>
            </a:r>
            <a:endParaRPr b="0" i="0" sz="900" u="none" cap="none" strike="noStrike">
              <a:solidFill>
                <a:schemeClr val="dk1"/>
              </a:solidFill>
              <a:latin typeface="Calibri"/>
              <a:ea typeface="Calibri"/>
              <a:cs typeface="Calibri"/>
              <a:sym typeface="Calibri"/>
            </a:endParaRPr>
          </a:p>
        </p:txBody>
      </p:sp>
      <p:sp>
        <p:nvSpPr>
          <p:cNvPr id="261" name="Google Shape;261;p9"/>
          <p:cNvSpPr/>
          <p:nvPr/>
        </p:nvSpPr>
        <p:spPr>
          <a:xfrm>
            <a:off x="1234440" y="3136392"/>
            <a:ext cx="2286000" cy="274320"/>
          </a:xfrm>
          <a:prstGeom prst="rect">
            <a:avLst/>
          </a:prstGeom>
          <a:solidFill>
            <a:srgbClr val="2B5672"/>
          </a:solidFill>
          <a:ln cap="flat" cmpd="sng" w="12700">
            <a:solidFill>
              <a:srgbClr val="2B56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9"/>
          <p:cNvSpPr/>
          <p:nvPr/>
        </p:nvSpPr>
        <p:spPr>
          <a:xfrm>
            <a:off x="1234440" y="3136392"/>
            <a:ext cx="22860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Self-attention</a:t>
            </a:r>
            <a:r>
              <a:rPr b="0" i="0" lang="en-US" sz="900" u="none" cap="none" strike="noStrike">
                <a:solidFill>
                  <a:srgbClr val="5D7A8E"/>
                </a:solidFill>
                <a:latin typeface="Calibri"/>
                <a:ea typeface="Calibri"/>
                <a:cs typeface="Calibri"/>
                <a:sym typeface="Calibri"/>
              </a:rPr>
              <a:t>  +  </a:t>
            </a:r>
            <a:r>
              <a:rPr b="1" i="0" lang="en-US" sz="900" u="none" cap="none" strike="noStrike">
                <a:solidFill>
                  <a:srgbClr val="FFFFFF"/>
                </a:solidFill>
                <a:latin typeface="Calibri"/>
                <a:ea typeface="Calibri"/>
                <a:cs typeface="Calibri"/>
                <a:sym typeface="Calibri"/>
              </a:rPr>
              <a:t>Feedforward</a:t>
            </a:r>
            <a:endParaRPr b="0" i="0" sz="900" u="none" cap="none" strike="noStrike">
              <a:solidFill>
                <a:schemeClr val="dk1"/>
              </a:solidFill>
              <a:latin typeface="Calibri"/>
              <a:ea typeface="Calibri"/>
              <a:cs typeface="Calibri"/>
              <a:sym typeface="Calibri"/>
            </a:endParaRPr>
          </a:p>
        </p:txBody>
      </p:sp>
      <p:sp>
        <p:nvSpPr>
          <p:cNvPr id="263" name="Google Shape;263;p9"/>
          <p:cNvSpPr/>
          <p:nvPr/>
        </p:nvSpPr>
        <p:spPr>
          <a:xfrm>
            <a:off x="1234440" y="3447288"/>
            <a:ext cx="2286000" cy="274320"/>
          </a:xfrm>
          <a:prstGeom prst="rect">
            <a:avLst/>
          </a:prstGeom>
          <a:solidFill>
            <a:srgbClr val="2B5672"/>
          </a:solidFill>
          <a:ln cap="flat" cmpd="sng" w="12700">
            <a:solidFill>
              <a:srgbClr val="2B56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9"/>
          <p:cNvSpPr/>
          <p:nvPr/>
        </p:nvSpPr>
        <p:spPr>
          <a:xfrm>
            <a:off x="1234440" y="3447288"/>
            <a:ext cx="22860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Self-attention</a:t>
            </a:r>
            <a:r>
              <a:rPr b="0" i="0" lang="en-US" sz="900" u="none" cap="none" strike="noStrike">
                <a:solidFill>
                  <a:srgbClr val="5D7A8E"/>
                </a:solidFill>
                <a:latin typeface="Calibri"/>
                <a:ea typeface="Calibri"/>
                <a:cs typeface="Calibri"/>
                <a:sym typeface="Calibri"/>
              </a:rPr>
              <a:t>  +  </a:t>
            </a:r>
            <a:r>
              <a:rPr b="1" i="0" lang="en-US" sz="900" u="none" cap="none" strike="noStrike">
                <a:solidFill>
                  <a:srgbClr val="FFFFFF"/>
                </a:solidFill>
                <a:latin typeface="Calibri"/>
                <a:ea typeface="Calibri"/>
                <a:cs typeface="Calibri"/>
                <a:sym typeface="Calibri"/>
              </a:rPr>
              <a:t>Feedforward</a:t>
            </a:r>
            <a:endParaRPr b="0" i="0" sz="900" u="none" cap="none" strike="noStrike">
              <a:solidFill>
                <a:schemeClr val="dk1"/>
              </a:solidFill>
              <a:latin typeface="Calibri"/>
              <a:ea typeface="Calibri"/>
              <a:cs typeface="Calibri"/>
              <a:sym typeface="Calibri"/>
            </a:endParaRPr>
          </a:p>
        </p:txBody>
      </p:sp>
      <p:sp>
        <p:nvSpPr>
          <p:cNvPr id="265" name="Google Shape;265;p9"/>
          <p:cNvSpPr/>
          <p:nvPr/>
        </p:nvSpPr>
        <p:spPr>
          <a:xfrm>
            <a:off x="3575304" y="3108960"/>
            <a:ext cx="50292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D7A8E"/>
              </a:buClr>
              <a:buSzPts val="1400"/>
              <a:buFont typeface="Georgia"/>
              <a:buNone/>
            </a:pPr>
            <a:r>
              <a:rPr b="1" i="1" lang="en-US" sz="1400" u="none" cap="none" strike="noStrike">
                <a:solidFill>
                  <a:srgbClr val="5D7A8E"/>
                </a:solidFill>
                <a:latin typeface="Georgia"/>
                <a:ea typeface="Georgia"/>
                <a:cs typeface="Georgia"/>
                <a:sym typeface="Georgia"/>
              </a:rPr>
              <a:t>× N</a:t>
            </a:r>
            <a:endParaRPr b="0" i="0" sz="1400" u="none" cap="none" strike="noStrike">
              <a:solidFill>
                <a:schemeClr val="dk1"/>
              </a:solidFill>
              <a:latin typeface="Calibri"/>
              <a:ea typeface="Calibri"/>
              <a:cs typeface="Calibri"/>
              <a:sym typeface="Calibri"/>
            </a:endParaRPr>
          </a:p>
        </p:txBody>
      </p:sp>
      <p:cxnSp>
        <p:nvCxnSpPr>
          <p:cNvPr id="266" name="Google Shape;266;p9"/>
          <p:cNvCxnSpPr/>
          <p:nvPr/>
        </p:nvCxnSpPr>
        <p:spPr>
          <a:xfrm>
            <a:off x="3547872" y="2825496"/>
            <a:ext cx="0" cy="896112"/>
          </a:xfrm>
          <a:prstGeom prst="straightConnector1">
            <a:avLst/>
          </a:prstGeom>
          <a:noFill/>
          <a:ln cap="flat" cmpd="sng" w="12700">
            <a:solidFill>
              <a:srgbClr val="5D7A8E"/>
            </a:solidFill>
            <a:prstDash val="solid"/>
            <a:round/>
            <a:headEnd len="sm" w="sm" type="none"/>
            <a:tailEnd len="sm" w="sm" type="none"/>
          </a:ln>
        </p:spPr>
      </p:cxnSp>
      <p:cxnSp>
        <p:nvCxnSpPr>
          <p:cNvPr id="267" name="Google Shape;267;p9"/>
          <p:cNvCxnSpPr/>
          <p:nvPr/>
        </p:nvCxnSpPr>
        <p:spPr>
          <a:xfrm>
            <a:off x="2377440" y="3721608"/>
            <a:ext cx="0" cy="73152"/>
          </a:xfrm>
          <a:prstGeom prst="straightConnector1">
            <a:avLst/>
          </a:prstGeom>
          <a:noFill/>
          <a:ln cap="flat" cmpd="sng" w="12700">
            <a:solidFill>
              <a:srgbClr val="1E3E52"/>
            </a:solidFill>
            <a:prstDash val="solid"/>
            <a:round/>
            <a:headEnd len="sm" w="sm" type="none"/>
            <a:tailEnd len="med" w="med" type="triangle"/>
          </a:ln>
        </p:spPr>
      </p:cxnSp>
      <p:sp>
        <p:nvSpPr>
          <p:cNvPr id="268" name="Google Shape;268;p9"/>
          <p:cNvSpPr/>
          <p:nvPr/>
        </p:nvSpPr>
        <p:spPr>
          <a:xfrm>
            <a:off x="1234440" y="3794760"/>
            <a:ext cx="2286000" cy="274320"/>
          </a:xfrm>
          <a:prstGeom prst="rect">
            <a:avLst/>
          </a:prstGeom>
          <a:solidFill>
            <a:srgbClr val="5D7A8E"/>
          </a:solidFill>
          <a:ln cap="flat" cmpd="sng" w="12700">
            <a:solidFill>
              <a:srgbClr val="5D7A8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9"/>
          <p:cNvSpPr/>
          <p:nvPr/>
        </p:nvSpPr>
        <p:spPr>
          <a:xfrm>
            <a:off x="1234440" y="3794760"/>
            <a:ext cx="22860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Next-token probabilities</a:t>
            </a:r>
            <a:endParaRPr b="0" i="0" sz="1000" u="none" cap="none" strike="noStrike">
              <a:solidFill>
                <a:schemeClr val="dk1"/>
              </a:solidFill>
              <a:latin typeface="Calibri"/>
              <a:ea typeface="Calibri"/>
              <a:cs typeface="Calibri"/>
              <a:sym typeface="Calibri"/>
            </a:endParaRPr>
          </a:p>
        </p:txBody>
      </p:sp>
      <p:sp>
        <p:nvSpPr>
          <p:cNvPr id="270" name="Google Shape;270;p9"/>
          <p:cNvSpPr/>
          <p:nvPr/>
        </p:nvSpPr>
        <p:spPr>
          <a:xfrm>
            <a:off x="548640" y="4069080"/>
            <a:ext cx="365760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25258"/>
              </a:buClr>
              <a:buSzPts val="1000"/>
              <a:buFont typeface="Calibri"/>
              <a:buNone/>
            </a:pPr>
            <a:r>
              <a:rPr b="0" i="1" lang="en-US" sz="1000" u="none" cap="none" strike="noStrike">
                <a:solidFill>
                  <a:srgbClr val="525258"/>
                </a:solidFill>
                <a:latin typeface="Calibri"/>
                <a:ea typeface="Calibri"/>
                <a:cs typeface="Calibri"/>
                <a:sym typeface="Calibri"/>
              </a:rPr>
              <a:t>Learned parameters — the “knowledge” baked in at training time.</a:t>
            </a:r>
            <a:endParaRPr b="0" i="0" sz="1000" u="none" cap="none" strike="noStrike">
              <a:solidFill>
                <a:schemeClr val="dk1"/>
              </a:solidFill>
              <a:latin typeface="Calibri"/>
              <a:ea typeface="Calibri"/>
              <a:cs typeface="Calibri"/>
              <a:sym typeface="Calibri"/>
            </a:endParaRPr>
          </a:p>
        </p:txBody>
      </p:sp>
      <p:sp>
        <p:nvSpPr>
          <p:cNvPr id="271" name="Google Shape;271;p9"/>
          <p:cNvSpPr/>
          <p:nvPr/>
        </p:nvSpPr>
        <p:spPr>
          <a:xfrm>
            <a:off x="4800600" y="1417320"/>
            <a:ext cx="3931920" cy="2971800"/>
          </a:xfrm>
          <a:prstGeom prst="rect">
            <a:avLst/>
          </a:prstGeom>
          <a:solidFill>
            <a:srgbClr val="F7F6F5"/>
          </a:solidFill>
          <a:ln cap="flat" cmpd="sng" w="9525">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9"/>
          <p:cNvSpPr/>
          <p:nvPr/>
        </p:nvSpPr>
        <p:spPr>
          <a:xfrm>
            <a:off x="4800600" y="1417320"/>
            <a:ext cx="54864" cy="2971800"/>
          </a:xfrm>
          <a:prstGeom prst="rect">
            <a:avLst/>
          </a:prstGeom>
          <a:solidFill>
            <a:srgbClr val="5D7A8E"/>
          </a:solidFill>
          <a:ln cap="flat" cmpd="sng" w="12700">
            <a:solidFill>
              <a:srgbClr val="5D7A8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9"/>
          <p:cNvSpPr/>
          <p:nvPr/>
        </p:nvSpPr>
        <p:spPr>
          <a:xfrm>
            <a:off x="5029200" y="1508760"/>
            <a:ext cx="36118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5672"/>
              </a:buClr>
              <a:buSzPts val="1500"/>
              <a:buFont typeface="Georgia"/>
              <a:buNone/>
            </a:pPr>
            <a:r>
              <a:rPr b="1" i="0" lang="en-US" sz="1500" u="none" cap="none" strike="noStrike">
                <a:solidFill>
                  <a:srgbClr val="2B5672"/>
                </a:solidFill>
                <a:latin typeface="Georgia"/>
                <a:ea typeface="Georgia"/>
                <a:cs typeface="Georgia"/>
                <a:sym typeface="Georgia"/>
              </a:rPr>
              <a:t>2. Your Markdown</a:t>
            </a:r>
            <a:endParaRPr b="0" i="0" sz="1500" u="none" cap="none" strike="noStrike">
              <a:solidFill>
                <a:schemeClr val="dk1"/>
              </a:solidFill>
              <a:latin typeface="Calibri"/>
              <a:ea typeface="Calibri"/>
              <a:cs typeface="Calibri"/>
              <a:sym typeface="Calibri"/>
            </a:endParaRPr>
          </a:p>
        </p:txBody>
      </p:sp>
      <p:sp>
        <p:nvSpPr>
          <p:cNvPr id="274" name="Google Shape;274;p9"/>
          <p:cNvSpPr/>
          <p:nvPr/>
        </p:nvSpPr>
        <p:spPr>
          <a:xfrm>
            <a:off x="5029200" y="1801368"/>
            <a:ext cx="361188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25258"/>
              </a:buClr>
              <a:buSzPts val="1100"/>
              <a:buFont typeface="Calibri"/>
              <a:buNone/>
            </a:pPr>
            <a:r>
              <a:rPr b="0" i="1" lang="en-US" sz="1100" u="none" cap="none" strike="noStrike">
                <a:solidFill>
                  <a:srgbClr val="525258"/>
                </a:solidFill>
                <a:latin typeface="Calibri"/>
                <a:ea typeface="Calibri"/>
                <a:cs typeface="Calibri"/>
                <a:sym typeface="Calibri"/>
              </a:rPr>
              <a:t>Runtime context — read fresh every session</a:t>
            </a:r>
            <a:endParaRPr b="0" i="0" sz="1100" u="none" cap="none" strike="noStrike">
              <a:solidFill>
                <a:schemeClr val="dk1"/>
              </a:solidFill>
              <a:latin typeface="Calibri"/>
              <a:ea typeface="Calibri"/>
              <a:cs typeface="Calibri"/>
              <a:sym typeface="Calibri"/>
            </a:endParaRPr>
          </a:p>
        </p:txBody>
      </p:sp>
      <p:sp>
        <p:nvSpPr>
          <p:cNvPr id="275" name="Google Shape;275;p9"/>
          <p:cNvSpPr/>
          <p:nvPr/>
        </p:nvSpPr>
        <p:spPr>
          <a:xfrm>
            <a:off x="5120640" y="2194560"/>
            <a:ext cx="3291840" cy="310896"/>
          </a:xfrm>
          <a:prstGeom prst="rect">
            <a:avLst/>
          </a:prstGeom>
          <a:solidFill>
            <a:srgbClr val="FFFFFF"/>
          </a:solidFill>
          <a:ln cap="flat" cmpd="sng" w="9525">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9"/>
          <p:cNvSpPr/>
          <p:nvPr/>
        </p:nvSpPr>
        <p:spPr>
          <a:xfrm>
            <a:off x="5248656" y="2286000"/>
            <a:ext cx="128016" cy="128016"/>
          </a:xfrm>
          <a:prstGeom prst="ellipse">
            <a:avLst/>
          </a:prstGeom>
          <a:solidFill>
            <a:srgbClr val="5D7A8E"/>
          </a:solidFill>
          <a:ln cap="flat" cmpd="sng" w="12700">
            <a:solidFill>
              <a:srgbClr val="5D7A8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9"/>
          <p:cNvSpPr/>
          <p:nvPr/>
        </p:nvSpPr>
        <p:spPr>
          <a:xfrm>
            <a:off x="5486400" y="2194560"/>
            <a:ext cx="283464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5672"/>
              </a:buClr>
              <a:buSzPts val="1050"/>
              <a:buFont typeface="Courier New"/>
              <a:buNone/>
            </a:pPr>
            <a:r>
              <a:rPr b="1" i="0" lang="en-US" sz="1050" u="none" cap="none" strike="noStrike">
                <a:solidFill>
                  <a:srgbClr val="2B5672"/>
                </a:solidFill>
                <a:latin typeface="Courier New"/>
                <a:ea typeface="Courier New"/>
                <a:cs typeface="Courier New"/>
                <a:sym typeface="Courier New"/>
              </a:rPr>
              <a:t>CLAUDE.md</a:t>
            </a:r>
            <a:r>
              <a:rPr b="0" i="1" lang="en-US" sz="950" u="none" cap="none" strike="noStrike">
                <a:solidFill>
                  <a:srgbClr val="525258"/>
                </a:solidFill>
                <a:latin typeface="Calibri"/>
                <a:ea typeface="Calibri"/>
                <a:cs typeface="Calibri"/>
                <a:sym typeface="Calibri"/>
              </a:rPr>
              <a:t>   —   project + user instructions</a:t>
            </a:r>
            <a:endParaRPr b="0" i="0" sz="1050" u="none" cap="none" strike="noStrike">
              <a:solidFill>
                <a:schemeClr val="dk1"/>
              </a:solidFill>
              <a:latin typeface="Calibri"/>
              <a:ea typeface="Calibri"/>
              <a:cs typeface="Calibri"/>
              <a:sym typeface="Calibri"/>
            </a:endParaRPr>
          </a:p>
        </p:txBody>
      </p:sp>
      <p:sp>
        <p:nvSpPr>
          <p:cNvPr id="278" name="Google Shape;278;p9"/>
          <p:cNvSpPr/>
          <p:nvPr/>
        </p:nvSpPr>
        <p:spPr>
          <a:xfrm>
            <a:off x="5120640" y="2587752"/>
            <a:ext cx="3291840" cy="310896"/>
          </a:xfrm>
          <a:prstGeom prst="rect">
            <a:avLst/>
          </a:prstGeom>
          <a:solidFill>
            <a:srgbClr val="FFFFFF"/>
          </a:solidFill>
          <a:ln cap="flat" cmpd="sng" w="9525">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9"/>
          <p:cNvSpPr/>
          <p:nvPr/>
        </p:nvSpPr>
        <p:spPr>
          <a:xfrm>
            <a:off x="5248656" y="2679192"/>
            <a:ext cx="128016" cy="128016"/>
          </a:xfrm>
          <a:prstGeom prst="ellipse">
            <a:avLst/>
          </a:prstGeom>
          <a:solidFill>
            <a:srgbClr val="5D7A8E"/>
          </a:solidFill>
          <a:ln cap="flat" cmpd="sng" w="12700">
            <a:solidFill>
              <a:srgbClr val="5D7A8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9"/>
          <p:cNvSpPr/>
          <p:nvPr/>
        </p:nvSpPr>
        <p:spPr>
          <a:xfrm>
            <a:off x="5486400" y="2587752"/>
            <a:ext cx="283464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5672"/>
              </a:buClr>
              <a:buSzPts val="1050"/>
              <a:buFont typeface="Courier New"/>
              <a:buNone/>
            </a:pPr>
            <a:r>
              <a:rPr b="1" i="0" lang="en-US" sz="1050" u="none" cap="none" strike="noStrike">
                <a:solidFill>
                  <a:srgbClr val="2B5672"/>
                </a:solidFill>
                <a:latin typeface="Courier New"/>
                <a:ea typeface="Courier New"/>
                <a:cs typeface="Courier New"/>
                <a:sym typeface="Courier New"/>
              </a:rPr>
              <a:t>SKILL.md  (pptx, xlsx, …)</a:t>
            </a:r>
            <a:r>
              <a:rPr b="0" i="1" lang="en-US" sz="950" u="none" cap="none" strike="noStrike">
                <a:solidFill>
                  <a:srgbClr val="525258"/>
                </a:solidFill>
                <a:latin typeface="Calibri"/>
                <a:ea typeface="Calibri"/>
                <a:cs typeface="Calibri"/>
                <a:sym typeface="Calibri"/>
              </a:rPr>
              <a:t>   —   how to do a task well</a:t>
            </a:r>
            <a:endParaRPr b="0" i="0" sz="1050" u="none" cap="none" strike="noStrike">
              <a:solidFill>
                <a:schemeClr val="dk1"/>
              </a:solidFill>
              <a:latin typeface="Calibri"/>
              <a:ea typeface="Calibri"/>
              <a:cs typeface="Calibri"/>
              <a:sym typeface="Calibri"/>
            </a:endParaRPr>
          </a:p>
        </p:txBody>
      </p:sp>
      <p:sp>
        <p:nvSpPr>
          <p:cNvPr id="281" name="Google Shape;281;p9"/>
          <p:cNvSpPr/>
          <p:nvPr/>
        </p:nvSpPr>
        <p:spPr>
          <a:xfrm>
            <a:off x="5120640" y="2980944"/>
            <a:ext cx="3291840" cy="310896"/>
          </a:xfrm>
          <a:prstGeom prst="rect">
            <a:avLst/>
          </a:prstGeom>
          <a:solidFill>
            <a:srgbClr val="FFFFFF"/>
          </a:solidFill>
          <a:ln cap="flat" cmpd="sng" w="9525">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9"/>
          <p:cNvSpPr/>
          <p:nvPr/>
        </p:nvSpPr>
        <p:spPr>
          <a:xfrm>
            <a:off x="5248656" y="3072384"/>
            <a:ext cx="128016" cy="128016"/>
          </a:xfrm>
          <a:prstGeom prst="ellipse">
            <a:avLst/>
          </a:prstGeom>
          <a:solidFill>
            <a:srgbClr val="5D7A8E"/>
          </a:solidFill>
          <a:ln cap="flat" cmpd="sng" w="12700">
            <a:solidFill>
              <a:srgbClr val="5D7A8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9"/>
          <p:cNvSpPr/>
          <p:nvPr/>
        </p:nvSpPr>
        <p:spPr>
          <a:xfrm>
            <a:off x="5486400" y="2980944"/>
            <a:ext cx="283464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5672"/>
              </a:buClr>
              <a:buSzPts val="1050"/>
              <a:buFont typeface="Courier New"/>
              <a:buNone/>
            </a:pPr>
            <a:r>
              <a:rPr b="1" i="0" lang="en-US" sz="1050" u="none" cap="none" strike="noStrike">
                <a:solidFill>
                  <a:srgbClr val="2B5672"/>
                </a:solidFill>
                <a:latin typeface="Courier New"/>
                <a:ea typeface="Courier New"/>
                <a:cs typeface="Courier New"/>
                <a:sym typeface="Courier New"/>
              </a:rPr>
              <a:t>User preferences</a:t>
            </a:r>
            <a:r>
              <a:rPr b="0" i="1" lang="en-US" sz="950" u="none" cap="none" strike="noStrike">
                <a:solidFill>
                  <a:srgbClr val="525258"/>
                </a:solidFill>
                <a:latin typeface="Calibri"/>
                <a:ea typeface="Calibri"/>
                <a:cs typeface="Calibri"/>
                <a:sym typeface="Calibri"/>
              </a:rPr>
              <a:t>   —   style, language, habits</a:t>
            </a:r>
            <a:endParaRPr b="0" i="0" sz="1050" u="none" cap="none" strike="noStrike">
              <a:solidFill>
                <a:schemeClr val="dk1"/>
              </a:solidFill>
              <a:latin typeface="Calibri"/>
              <a:ea typeface="Calibri"/>
              <a:cs typeface="Calibri"/>
              <a:sym typeface="Calibri"/>
            </a:endParaRPr>
          </a:p>
        </p:txBody>
      </p:sp>
      <p:sp>
        <p:nvSpPr>
          <p:cNvPr id="284" name="Google Shape;284;p9"/>
          <p:cNvSpPr/>
          <p:nvPr/>
        </p:nvSpPr>
        <p:spPr>
          <a:xfrm>
            <a:off x="5120640" y="3374136"/>
            <a:ext cx="3291840" cy="310896"/>
          </a:xfrm>
          <a:prstGeom prst="rect">
            <a:avLst/>
          </a:prstGeom>
          <a:solidFill>
            <a:srgbClr val="FFFFFF"/>
          </a:solidFill>
          <a:ln cap="flat" cmpd="sng" w="9525">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9"/>
          <p:cNvSpPr/>
          <p:nvPr/>
        </p:nvSpPr>
        <p:spPr>
          <a:xfrm>
            <a:off x="5248656" y="3465576"/>
            <a:ext cx="128016" cy="128016"/>
          </a:xfrm>
          <a:prstGeom prst="ellipse">
            <a:avLst/>
          </a:prstGeom>
          <a:solidFill>
            <a:srgbClr val="5D7A8E"/>
          </a:solidFill>
          <a:ln cap="flat" cmpd="sng" w="12700">
            <a:solidFill>
              <a:srgbClr val="5D7A8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9"/>
          <p:cNvSpPr/>
          <p:nvPr/>
        </p:nvSpPr>
        <p:spPr>
          <a:xfrm>
            <a:off x="5486400" y="3374136"/>
            <a:ext cx="283464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5672"/>
              </a:buClr>
              <a:buSzPts val="1050"/>
              <a:buFont typeface="Courier New"/>
              <a:buNone/>
            </a:pPr>
            <a:r>
              <a:rPr b="1" i="0" lang="en-US" sz="1050" u="none" cap="none" strike="noStrike">
                <a:solidFill>
                  <a:srgbClr val="2B5672"/>
                </a:solidFill>
                <a:latin typeface="Courier New"/>
                <a:ea typeface="Courier New"/>
                <a:cs typeface="Courier New"/>
                <a:sym typeface="Courier New"/>
              </a:rPr>
              <a:t>Conversation history</a:t>
            </a:r>
            <a:r>
              <a:rPr b="0" i="1" lang="en-US" sz="950" u="none" cap="none" strike="noStrike">
                <a:solidFill>
                  <a:srgbClr val="525258"/>
                </a:solidFill>
                <a:latin typeface="Calibri"/>
                <a:ea typeface="Calibri"/>
                <a:cs typeface="Calibri"/>
                <a:sym typeface="Calibri"/>
              </a:rPr>
              <a:t>   —   what we've said so far</a:t>
            </a:r>
            <a:endParaRPr b="0" i="0" sz="1050" u="none" cap="none" strike="noStrike">
              <a:solidFill>
                <a:schemeClr val="dk1"/>
              </a:solidFill>
              <a:latin typeface="Calibri"/>
              <a:ea typeface="Calibri"/>
              <a:cs typeface="Calibri"/>
              <a:sym typeface="Calibri"/>
            </a:endParaRPr>
          </a:p>
        </p:txBody>
      </p:sp>
      <p:sp>
        <p:nvSpPr>
          <p:cNvPr id="287" name="Google Shape;287;p9"/>
          <p:cNvSpPr/>
          <p:nvPr/>
        </p:nvSpPr>
        <p:spPr>
          <a:xfrm>
            <a:off x="5120640" y="3767328"/>
            <a:ext cx="3291840" cy="310896"/>
          </a:xfrm>
          <a:prstGeom prst="rect">
            <a:avLst/>
          </a:prstGeom>
          <a:solidFill>
            <a:srgbClr val="FFFFFF"/>
          </a:solidFill>
          <a:ln cap="flat" cmpd="sng" w="9525">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9"/>
          <p:cNvSpPr/>
          <p:nvPr/>
        </p:nvSpPr>
        <p:spPr>
          <a:xfrm>
            <a:off x="5248656" y="3858768"/>
            <a:ext cx="128016" cy="128016"/>
          </a:xfrm>
          <a:prstGeom prst="ellipse">
            <a:avLst/>
          </a:prstGeom>
          <a:solidFill>
            <a:srgbClr val="5D7A8E"/>
          </a:solidFill>
          <a:ln cap="flat" cmpd="sng" w="12700">
            <a:solidFill>
              <a:srgbClr val="5D7A8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9"/>
          <p:cNvSpPr/>
          <p:nvPr/>
        </p:nvSpPr>
        <p:spPr>
          <a:xfrm>
            <a:off x="5486400" y="3767328"/>
            <a:ext cx="283464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5672"/>
              </a:buClr>
              <a:buSzPts val="1050"/>
              <a:buFont typeface="Courier New"/>
              <a:buNone/>
            </a:pPr>
            <a:r>
              <a:rPr b="1" i="0" lang="en-US" sz="1050" u="none" cap="none" strike="noStrike">
                <a:solidFill>
                  <a:srgbClr val="2B5672"/>
                </a:solidFill>
                <a:latin typeface="Courier New"/>
                <a:ea typeface="Courier New"/>
                <a:cs typeface="Courier New"/>
                <a:sym typeface="Courier New"/>
              </a:rPr>
              <a:t>Your message</a:t>
            </a:r>
            <a:r>
              <a:rPr b="0" i="1" lang="en-US" sz="950" u="none" cap="none" strike="noStrike">
                <a:solidFill>
                  <a:srgbClr val="525258"/>
                </a:solidFill>
                <a:latin typeface="Calibri"/>
                <a:ea typeface="Calibri"/>
                <a:cs typeface="Calibri"/>
                <a:sym typeface="Calibri"/>
              </a:rPr>
              <a:t>   —   the new request</a:t>
            </a:r>
            <a:endParaRPr b="0" i="0" sz="1050" u="none" cap="none" strike="noStrike">
              <a:solidFill>
                <a:schemeClr val="dk1"/>
              </a:solidFill>
              <a:latin typeface="Calibri"/>
              <a:ea typeface="Calibri"/>
              <a:cs typeface="Calibri"/>
              <a:sym typeface="Calibri"/>
            </a:endParaRPr>
          </a:p>
        </p:txBody>
      </p:sp>
      <p:sp>
        <p:nvSpPr>
          <p:cNvPr id="290" name="Google Shape;290;p9"/>
          <p:cNvSpPr/>
          <p:nvPr/>
        </p:nvSpPr>
        <p:spPr>
          <a:xfrm>
            <a:off x="411480" y="4526280"/>
            <a:ext cx="8321040" cy="274320"/>
          </a:xfrm>
          <a:prstGeom prst="rect">
            <a:avLst/>
          </a:prstGeom>
          <a:solidFill>
            <a:srgbClr val="FFE599"/>
          </a:solidFill>
          <a:ln>
            <a:noFill/>
          </a:ln>
        </p:spPr>
        <p:txBody>
          <a:bodyPr anchorCtr="0" anchor="ctr" bIns="0" lIns="0" spcFirstLastPara="1" rIns="0" wrap="square" tIns="0">
            <a:noAutofit/>
          </a:bodyPr>
          <a:lstStyle/>
          <a:p>
            <a:pPr indent="0" lvl="0" marL="0" marR="0" rtl="0" algn="ctr">
              <a:spcBef>
                <a:spcPts val="0"/>
              </a:spcBef>
              <a:spcAft>
                <a:spcPts val="0"/>
              </a:spcAft>
              <a:buClr>
                <a:srgbClr val="5D7A8E"/>
              </a:buClr>
              <a:buSzPts val="1300"/>
              <a:buFont typeface="Calibri"/>
              <a:buNone/>
            </a:pPr>
            <a:r>
              <a:rPr b="1" i="0" lang="en-US" sz="1300" u="none" cap="none" strike="noStrike">
                <a:solidFill>
                  <a:srgbClr val="5D7A8E"/>
                </a:solidFill>
                <a:latin typeface="Calibri"/>
                <a:ea typeface="Calibri"/>
                <a:cs typeface="Calibri"/>
                <a:sym typeface="Calibri"/>
              </a:rPr>
              <a:t>Claude Opus 4.6</a:t>
            </a:r>
            <a:r>
              <a:rPr b="0" i="0" lang="en-US" sz="1300" u="none" cap="none" strike="noStrike">
                <a:solidFill>
                  <a:srgbClr val="212121"/>
                </a:solidFill>
                <a:latin typeface="Calibri"/>
                <a:ea typeface="Calibri"/>
                <a:cs typeface="Calibri"/>
                <a:sym typeface="Calibri"/>
              </a:rPr>
              <a:t>  =  </a:t>
            </a:r>
            <a:r>
              <a:rPr b="1" i="0" lang="en-US" sz="1300" u="none" cap="none" strike="noStrike">
                <a:solidFill>
                  <a:srgbClr val="2B5672"/>
                </a:solidFill>
                <a:latin typeface="Calibri"/>
                <a:ea typeface="Calibri"/>
                <a:cs typeface="Calibri"/>
                <a:sym typeface="Calibri"/>
              </a:rPr>
              <a:t>frozen weights</a:t>
            </a:r>
            <a:r>
              <a:rPr b="0" i="0" lang="en-US" sz="1300" u="none" cap="none" strike="noStrike">
                <a:solidFill>
                  <a:srgbClr val="212121"/>
                </a:solidFill>
                <a:latin typeface="Calibri"/>
                <a:ea typeface="Calibri"/>
                <a:cs typeface="Calibri"/>
                <a:sym typeface="Calibri"/>
              </a:rPr>
              <a:t> (what it knows)   +   </a:t>
            </a:r>
            <a:r>
              <a:rPr b="1" i="0" lang="en-US" sz="1300" u="none" cap="none" strike="noStrike">
                <a:solidFill>
                  <a:srgbClr val="2B5672"/>
                </a:solidFill>
                <a:latin typeface="Calibri"/>
                <a:ea typeface="Calibri"/>
                <a:cs typeface="Calibri"/>
                <a:sym typeface="Calibri"/>
              </a:rPr>
              <a:t>your Markdown</a:t>
            </a:r>
            <a:r>
              <a:rPr b="0" i="0" lang="en-US" sz="1300" u="none" cap="none" strike="noStrike">
                <a:solidFill>
                  <a:srgbClr val="212121"/>
                </a:solidFill>
                <a:latin typeface="Calibri"/>
                <a:ea typeface="Calibri"/>
                <a:cs typeface="Calibri"/>
                <a:sym typeface="Calibri"/>
              </a:rPr>
              <a:t> (how it behaves today).</a:t>
            </a:r>
            <a:endParaRPr b="0" i="0" sz="1300" u="none" cap="none" strike="noStrike">
              <a:solidFill>
                <a:schemeClr val="dk1"/>
              </a:solidFill>
              <a:latin typeface="Calibri"/>
              <a:ea typeface="Calibri"/>
              <a:cs typeface="Calibri"/>
              <a:sym typeface="Calibri"/>
            </a:endParaRPr>
          </a:p>
        </p:txBody>
      </p:sp>
      <p:sp>
        <p:nvSpPr>
          <p:cNvPr id="291" name="Google Shape;291;p9"/>
          <p:cNvSpPr/>
          <p:nvPr/>
        </p:nvSpPr>
        <p:spPr>
          <a:xfrm>
            <a:off x="8412480" y="486460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25258"/>
              </a:buClr>
              <a:buSzPts val="900"/>
              <a:buFont typeface="Calibri"/>
              <a:buNone/>
            </a:pPr>
            <a:r>
              <a:rPr b="0" i="0" lang="en-US" sz="900" u="none" cap="none" strike="noStrike">
                <a:solidFill>
                  <a:srgbClr val="525258"/>
                </a:solidFill>
                <a:latin typeface="Calibri"/>
                <a:ea typeface="Calibri"/>
                <a:cs typeface="Calibri"/>
                <a:sym typeface="Calibri"/>
              </a:rPr>
              <a:t>4</a:t>
            </a:r>
            <a:endParaRPr b="0" i="0" sz="900" u="none" cap="none" strike="noStrike">
              <a:solidFill>
                <a:schemeClr val="dk1"/>
              </a:solidFill>
              <a:latin typeface="Calibri"/>
              <a:ea typeface="Calibri"/>
              <a:cs typeface="Calibri"/>
              <a:sym typeface="Calibri"/>
            </a:endParaRPr>
          </a:p>
        </p:txBody>
      </p:sp>
      <p:sp>
        <p:nvSpPr>
          <p:cNvPr id="292" name="Google Shape;292;p9"/>
          <p:cNvSpPr/>
          <p:nvPr/>
        </p:nvSpPr>
        <p:spPr>
          <a:xfrm>
            <a:off x="411480" y="4864608"/>
            <a:ext cx="54864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25258"/>
              </a:buClr>
              <a:buSzPts val="900"/>
              <a:buFont typeface="Calibri"/>
              <a:buNone/>
            </a:pPr>
            <a:r>
              <a:rPr b="0" i="0" lang="en-US" sz="900" u="none" cap="none" strike="noStrike">
                <a:solidFill>
                  <a:srgbClr val="525258"/>
                </a:solidFill>
                <a:latin typeface="Calibri"/>
                <a:ea typeface="Calibri"/>
                <a:cs typeface="Calibri"/>
                <a:sym typeface="Calibri"/>
              </a:rPr>
              <a:t>How Claude Works  ·</a:t>
            </a:r>
            <a:r>
              <a:rPr lang="en-US" sz="900">
                <a:solidFill>
                  <a:srgbClr val="525258"/>
                </a:solidFill>
                <a:latin typeface="Calibri"/>
                <a:ea typeface="Calibri"/>
                <a:cs typeface="Calibri"/>
                <a:sym typeface="Calibri"/>
              </a:rPr>
              <a:t> Giulio Ruffini</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pic>
        <p:nvPicPr>
          <p:cNvPr id="298" name="Google Shape;298;p10"/>
          <p:cNvPicPr preferRelativeResize="0"/>
          <p:nvPr/>
        </p:nvPicPr>
        <p:blipFill>
          <a:blip r:embed="rId3">
            <a:alphaModFix/>
          </a:blip>
          <a:stretch>
            <a:fillRect/>
          </a:stretch>
        </p:blipFill>
        <p:spPr>
          <a:xfrm>
            <a:off x="-64600" y="-38550"/>
            <a:ext cx="8956626" cy="5038125"/>
          </a:xfrm>
          <a:prstGeom prst="rect">
            <a:avLst/>
          </a:prstGeom>
          <a:noFill/>
          <a:ln>
            <a:noFill/>
          </a:ln>
        </p:spPr>
      </p:pic>
      <p:sp>
        <p:nvSpPr>
          <p:cNvPr id="299" name="Google Shape;299;p10"/>
          <p:cNvSpPr txBox="1"/>
          <p:nvPr/>
        </p:nvSpPr>
        <p:spPr>
          <a:xfrm>
            <a:off x="525227" y="889761"/>
            <a:ext cx="8629500" cy="5541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200"/>
              <a:t>The LLM is stateless. "Context" is the full blob — system prompt + CLAUDE.md + history + your message — that the application rebuilds and sends on every API call. The illusion of memory lives in the app, not the model.</a:t>
            </a:r>
            <a:endParaRPr sz="12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4" name="Shape 304"/>
        <p:cNvGrpSpPr/>
        <p:nvPr/>
      </p:nvGrpSpPr>
      <p:grpSpPr>
        <a:xfrm>
          <a:off x="0" y="0"/>
          <a:ext cx="0" cy="0"/>
          <a:chOff x="0" y="0"/>
          <a:chExt cx="0" cy="0"/>
        </a:xfrm>
      </p:grpSpPr>
      <p:sp>
        <p:nvSpPr>
          <p:cNvPr id="305" name="Google Shape;305;p11"/>
          <p:cNvSpPr/>
          <p:nvPr/>
        </p:nvSpPr>
        <p:spPr>
          <a:xfrm>
            <a:off x="0" y="0"/>
            <a:ext cx="73152" cy="5143500"/>
          </a:xfrm>
          <a:prstGeom prst="rect">
            <a:avLst/>
          </a:prstGeom>
          <a:solidFill>
            <a:srgbClr val="2B5672"/>
          </a:solidFill>
          <a:ln cap="flat" cmpd="sng" w="12700">
            <a:solidFill>
              <a:srgbClr val="2B56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1"/>
          <p:cNvSpPr/>
          <p:nvPr/>
        </p:nvSpPr>
        <p:spPr>
          <a:xfrm>
            <a:off x="411480" y="256032"/>
            <a:ext cx="83210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D7A8E"/>
              </a:buClr>
              <a:buSzPts val="1000"/>
              <a:buFont typeface="Calibri"/>
              <a:buNone/>
            </a:pPr>
            <a:r>
              <a:rPr b="1" i="0" lang="en-US" sz="1000" u="none" cap="none" strike="noStrike">
                <a:solidFill>
                  <a:srgbClr val="5D7A8E"/>
                </a:solidFill>
                <a:latin typeface="Calibri"/>
                <a:ea typeface="Calibri"/>
                <a:cs typeface="Calibri"/>
                <a:sym typeface="Calibri"/>
              </a:rPr>
              <a:t>SIDEBAR</a:t>
            </a:r>
            <a:endParaRPr b="0" i="0" sz="1000" u="none" cap="none" strike="noStrike">
              <a:solidFill>
                <a:schemeClr val="dk1"/>
              </a:solidFill>
              <a:latin typeface="Calibri"/>
              <a:ea typeface="Calibri"/>
              <a:cs typeface="Calibri"/>
              <a:sym typeface="Calibri"/>
            </a:endParaRPr>
          </a:p>
        </p:txBody>
      </p:sp>
      <p:sp>
        <p:nvSpPr>
          <p:cNvPr id="307" name="Google Shape;307;p11"/>
          <p:cNvSpPr/>
          <p:nvPr/>
        </p:nvSpPr>
        <p:spPr>
          <a:xfrm>
            <a:off x="411480" y="502920"/>
            <a:ext cx="83210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5672"/>
              </a:buClr>
              <a:buSzPts val="2400"/>
              <a:buFont typeface="Georgia"/>
              <a:buNone/>
            </a:pPr>
            <a:r>
              <a:rPr b="1" i="0" lang="en-US" sz="2400" u="none" cap="none" strike="noStrike">
                <a:solidFill>
                  <a:srgbClr val="2B5672"/>
                </a:solidFill>
                <a:latin typeface="Georgia"/>
                <a:ea typeface="Georgia"/>
                <a:cs typeface="Georgia"/>
                <a:sym typeface="Georgia"/>
              </a:rPr>
              <a:t>A quick detour — what is a Markdown (.md) file?</a:t>
            </a:r>
            <a:endParaRPr b="0" i="0" sz="2400" u="none" cap="none" strike="noStrike">
              <a:solidFill>
                <a:schemeClr val="dk1"/>
              </a:solidFill>
              <a:latin typeface="Calibri"/>
              <a:ea typeface="Calibri"/>
              <a:cs typeface="Calibri"/>
              <a:sym typeface="Calibri"/>
            </a:endParaRPr>
          </a:p>
        </p:txBody>
      </p:sp>
      <p:sp>
        <p:nvSpPr>
          <p:cNvPr id="308" name="Google Shape;308;p11"/>
          <p:cNvSpPr/>
          <p:nvPr/>
        </p:nvSpPr>
        <p:spPr>
          <a:xfrm>
            <a:off x="411480" y="1143000"/>
            <a:ext cx="83210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25258"/>
              </a:buClr>
              <a:buSzPts val="1200"/>
              <a:buFont typeface="Calibri"/>
              <a:buNone/>
            </a:pPr>
            <a:r>
              <a:rPr b="0" i="1" lang="en-US" sz="1200" u="none" cap="none" strike="noStrike">
                <a:solidFill>
                  <a:srgbClr val="525258"/>
                </a:solidFill>
                <a:latin typeface="Calibri"/>
                <a:ea typeface="Calibri"/>
                <a:cs typeface="Calibri"/>
                <a:sym typeface="Calibri"/>
              </a:rPr>
              <a:t>Every file we've mentioned — CLAUDE.md, SKILL.md, memory.md — is a Markdown file. Here's why that format keeps showing up.</a:t>
            </a:r>
            <a:endParaRPr b="0" i="0" sz="1200" u="none" cap="none" strike="noStrike">
              <a:solidFill>
                <a:schemeClr val="dk1"/>
              </a:solidFill>
              <a:latin typeface="Calibri"/>
              <a:ea typeface="Calibri"/>
              <a:cs typeface="Calibri"/>
              <a:sym typeface="Calibri"/>
            </a:endParaRPr>
          </a:p>
        </p:txBody>
      </p:sp>
      <p:sp>
        <p:nvSpPr>
          <p:cNvPr id="309" name="Google Shape;309;p11"/>
          <p:cNvSpPr/>
          <p:nvPr/>
        </p:nvSpPr>
        <p:spPr>
          <a:xfrm>
            <a:off x="411480" y="1737360"/>
            <a:ext cx="4023360" cy="2971800"/>
          </a:xfrm>
          <a:prstGeom prst="rect">
            <a:avLst/>
          </a:prstGeom>
          <a:solidFill>
            <a:srgbClr val="F7F6F5"/>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1"/>
          <p:cNvSpPr/>
          <p:nvPr/>
        </p:nvSpPr>
        <p:spPr>
          <a:xfrm>
            <a:off x="411480" y="1737360"/>
            <a:ext cx="73152" cy="2971800"/>
          </a:xfrm>
          <a:prstGeom prst="rect">
            <a:avLst/>
          </a:prstGeom>
          <a:solidFill>
            <a:srgbClr val="5D7A8E"/>
          </a:solidFill>
          <a:ln cap="flat" cmpd="sng" w="12700">
            <a:solidFill>
              <a:srgbClr val="5D7A8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1"/>
          <p:cNvSpPr/>
          <p:nvPr/>
        </p:nvSpPr>
        <p:spPr>
          <a:xfrm>
            <a:off x="640080" y="1874520"/>
            <a:ext cx="3657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5672"/>
              </a:buClr>
              <a:buSzPts val="1800"/>
              <a:buFont typeface="Georgia"/>
              <a:buNone/>
            </a:pPr>
            <a:r>
              <a:rPr b="1" i="0" lang="en-US" sz="1800" u="none" cap="none" strike="noStrike">
                <a:solidFill>
                  <a:srgbClr val="2B5672"/>
                </a:solidFill>
                <a:latin typeface="Georgia"/>
                <a:ea typeface="Georgia"/>
                <a:cs typeface="Georgia"/>
                <a:sym typeface="Georgia"/>
              </a:rPr>
              <a:t>What is it?</a:t>
            </a:r>
            <a:endParaRPr b="0" i="0" sz="1800" u="none" cap="none" strike="noStrike">
              <a:solidFill>
                <a:schemeClr val="dk1"/>
              </a:solidFill>
              <a:latin typeface="Calibri"/>
              <a:ea typeface="Calibri"/>
              <a:cs typeface="Calibri"/>
              <a:sym typeface="Calibri"/>
            </a:endParaRPr>
          </a:p>
        </p:txBody>
      </p:sp>
      <p:sp>
        <p:nvSpPr>
          <p:cNvPr id="312" name="Google Shape;312;p11"/>
          <p:cNvSpPr/>
          <p:nvPr/>
        </p:nvSpPr>
        <p:spPr>
          <a:xfrm>
            <a:off x="640080" y="2267712"/>
            <a:ext cx="3657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25258"/>
              </a:buClr>
              <a:buSzPts val="1100"/>
              <a:buFont typeface="Calibri"/>
              <a:buNone/>
            </a:pPr>
            <a:r>
              <a:rPr b="0" i="1" lang="en-US" sz="1100" u="none" cap="none" strike="noStrike">
                <a:solidFill>
                  <a:srgbClr val="525258"/>
                </a:solidFill>
                <a:latin typeface="Calibri"/>
                <a:ea typeface="Calibri"/>
                <a:cs typeface="Calibri"/>
                <a:sym typeface="Calibri"/>
              </a:rPr>
              <a:t>Plain text + a few conventions for structure.</a:t>
            </a:r>
            <a:endParaRPr b="0" i="0" sz="1100" u="none" cap="none" strike="noStrike">
              <a:solidFill>
                <a:schemeClr val="dk1"/>
              </a:solidFill>
              <a:latin typeface="Calibri"/>
              <a:ea typeface="Calibri"/>
              <a:cs typeface="Calibri"/>
              <a:sym typeface="Calibri"/>
            </a:endParaRPr>
          </a:p>
        </p:txBody>
      </p:sp>
      <p:sp>
        <p:nvSpPr>
          <p:cNvPr id="313" name="Google Shape;313;p11"/>
          <p:cNvSpPr/>
          <p:nvPr/>
        </p:nvSpPr>
        <p:spPr>
          <a:xfrm>
            <a:off x="685800" y="2651760"/>
            <a:ext cx="3474720" cy="1554480"/>
          </a:xfrm>
          <a:prstGeom prst="rect">
            <a:avLst/>
          </a:prstGeom>
          <a:solidFill>
            <a:srgbClr val="2B5672"/>
          </a:solidFill>
          <a:ln cap="flat" cmpd="sng" w="12700">
            <a:solidFill>
              <a:srgbClr val="2B56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1"/>
          <p:cNvSpPr/>
          <p:nvPr/>
        </p:nvSpPr>
        <p:spPr>
          <a:xfrm>
            <a:off x="795528" y="2697480"/>
            <a:ext cx="329184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DA3B8"/>
              </a:buClr>
              <a:buSzPts val="900"/>
              <a:buFont typeface="Calibri"/>
              <a:buNone/>
            </a:pPr>
            <a:r>
              <a:rPr b="0" i="1" lang="en-US" sz="900" u="none" cap="none" strike="noStrike">
                <a:solidFill>
                  <a:srgbClr val="8DA3B8"/>
                </a:solidFill>
                <a:latin typeface="Calibri"/>
                <a:ea typeface="Calibri"/>
                <a:cs typeface="Calibri"/>
                <a:sym typeface="Calibri"/>
              </a:rPr>
              <a:t>example.md</a:t>
            </a:r>
            <a:endParaRPr b="0" i="0" sz="900" u="none" cap="none" strike="noStrike">
              <a:solidFill>
                <a:schemeClr val="dk1"/>
              </a:solidFill>
              <a:latin typeface="Calibri"/>
              <a:ea typeface="Calibri"/>
              <a:cs typeface="Calibri"/>
              <a:sym typeface="Calibri"/>
            </a:endParaRPr>
          </a:p>
        </p:txBody>
      </p:sp>
      <p:sp>
        <p:nvSpPr>
          <p:cNvPr id="315" name="Google Shape;315;p11"/>
          <p:cNvSpPr/>
          <p:nvPr/>
        </p:nvSpPr>
        <p:spPr>
          <a:xfrm>
            <a:off x="795528" y="2907792"/>
            <a:ext cx="3291840" cy="12344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D7A8E"/>
              </a:buClr>
              <a:buSzPts val="1100"/>
              <a:buFont typeface="Consolas"/>
              <a:buNone/>
            </a:pPr>
            <a:r>
              <a:rPr b="0" i="0" lang="en-US" sz="1100" u="none" cap="none" strike="noStrike">
                <a:solidFill>
                  <a:srgbClr val="5D7A8E"/>
                </a:solidFill>
                <a:latin typeface="Consolas"/>
                <a:ea typeface="Consolas"/>
                <a:cs typeface="Consolas"/>
                <a:sym typeface="Consolas"/>
              </a:rPr>
              <a:t># </a:t>
            </a:r>
            <a:r>
              <a:rPr b="0" i="0" lang="en-US" sz="1100" u="none" cap="none" strike="noStrike">
                <a:solidFill>
                  <a:srgbClr val="FFFFFF"/>
                </a:solidFill>
                <a:latin typeface="Consolas"/>
                <a:ea typeface="Consolas"/>
                <a:cs typeface="Consolas"/>
                <a:sym typeface="Consolas"/>
              </a:rPr>
              <a:t>My Project</a:t>
            </a:r>
            <a:endParaRPr b="0" i="0" sz="11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5D7A8E"/>
              </a:buClr>
              <a:buSzPts val="1100"/>
              <a:buFont typeface="Consolas"/>
              <a:buNone/>
            </a:pPr>
            <a:r>
              <a:rPr b="0" i="0" lang="en-US" sz="1100" u="none" cap="none" strike="noStrike">
                <a:solidFill>
                  <a:srgbClr val="5D7A8E"/>
                </a:solidFill>
                <a:latin typeface="Consolas"/>
                <a:ea typeface="Consolas"/>
                <a:cs typeface="Consolas"/>
                <a:sym typeface="Consolas"/>
              </a:rPr>
              <a:t>## </a:t>
            </a:r>
            <a:r>
              <a:rPr b="0" i="0" lang="en-US" sz="1100" u="none" cap="none" strike="noStrike">
                <a:solidFill>
                  <a:srgbClr val="FFFFFF"/>
                </a:solidFill>
                <a:latin typeface="Consolas"/>
                <a:ea typeface="Consolas"/>
                <a:cs typeface="Consolas"/>
                <a:sym typeface="Consolas"/>
              </a:rPr>
              <a:t>Rules</a:t>
            </a:r>
            <a:endParaRPr b="0" i="0" sz="11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5D7A8E"/>
              </a:buClr>
              <a:buSzPts val="1100"/>
              <a:buFont typeface="Consolas"/>
              <a:buNone/>
            </a:pPr>
            <a:r>
              <a:rPr b="0" i="0" lang="en-US" sz="1100" u="none" cap="none" strike="noStrike">
                <a:solidFill>
                  <a:srgbClr val="5D7A8E"/>
                </a:solidFill>
                <a:latin typeface="Consolas"/>
                <a:ea typeface="Consolas"/>
                <a:cs typeface="Consolas"/>
                <a:sym typeface="Consolas"/>
              </a:rPr>
              <a:t>- </a:t>
            </a:r>
            <a:r>
              <a:rPr b="0" i="0" lang="en-US" sz="1100" u="none" cap="none" strike="noStrike">
                <a:solidFill>
                  <a:srgbClr val="FFFFFF"/>
                </a:solidFill>
                <a:latin typeface="Consolas"/>
                <a:ea typeface="Consolas"/>
                <a:cs typeface="Consolas"/>
                <a:sym typeface="Consolas"/>
              </a:rPr>
              <a:t>Always use American English.</a:t>
            </a:r>
            <a:endParaRPr b="0" i="0" sz="11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5D7A8E"/>
              </a:buClr>
              <a:buSzPts val="1100"/>
              <a:buFont typeface="Consolas"/>
              <a:buNone/>
            </a:pPr>
            <a:r>
              <a:rPr b="0" i="0" lang="en-US" sz="1100" u="none" cap="none" strike="noStrike">
                <a:solidFill>
                  <a:srgbClr val="5D7A8E"/>
                </a:solidFill>
                <a:latin typeface="Consolas"/>
                <a:ea typeface="Consolas"/>
                <a:cs typeface="Consolas"/>
                <a:sym typeface="Consolas"/>
              </a:rPr>
              <a:t>- **</a:t>
            </a:r>
            <a:r>
              <a:rPr b="1" i="0" lang="en-US" sz="1100" u="none" cap="none" strike="noStrike">
                <a:solidFill>
                  <a:srgbClr val="FFFFFF"/>
                </a:solidFill>
                <a:latin typeface="Consolas"/>
                <a:ea typeface="Consolas"/>
                <a:cs typeface="Consolas"/>
                <a:sym typeface="Consolas"/>
              </a:rPr>
              <a:t>Never</a:t>
            </a:r>
            <a:r>
              <a:rPr b="0" i="0" lang="en-US" sz="1100" u="none" cap="none" strike="noStrike">
                <a:solidFill>
                  <a:srgbClr val="5D7A8E"/>
                </a:solidFill>
                <a:latin typeface="Consolas"/>
                <a:ea typeface="Consolas"/>
                <a:cs typeface="Consolas"/>
                <a:sym typeface="Consolas"/>
              </a:rPr>
              <a:t>** </a:t>
            </a:r>
            <a:r>
              <a:rPr b="0" i="0" lang="en-US" sz="1100" u="none" cap="none" strike="noStrike">
                <a:solidFill>
                  <a:srgbClr val="FFFFFF"/>
                </a:solidFill>
                <a:latin typeface="Consolas"/>
                <a:ea typeface="Consolas"/>
                <a:cs typeface="Consolas"/>
                <a:sym typeface="Consolas"/>
              </a:rPr>
              <a:t>commit secrets.</a:t>
            </a:r>
            <a:endParaRPr b="0" i="0" sz="1100" u="none" cap="none" strike="noStrike">
              <a:solidFill>
                <a:schemeClr val="dk1"/>
              </a:solidFill>
              <a:latin typeface="Calibri"/>
              <a:ea typeface="Calibri"/>
              <a:cs typeface="Calibri"/>
              <a:sym typeface="Calibri"/>
            </a:endParaRPr>
          </a:p>
        </p:txBody>
      </p:sp>
      <p:sp>
        <p:nvSpPr>
          <p:cNvPr id="316" name="Google Shape;316;p11"/>
          <p:cNvSpPr/>
          <p:nvPr/>
        </p:nvSpPr>
        <p:spPr>
          <a:xfrm>
            <a:off x="640080" y="4251960"/>
            <a:ext cx="3657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25258"/>
              </a:buClr>
              <a:buSzPts val="1000"/>
              <a:buFont typeface="Calibri"/>
              <a:buNone/>
            </a:pPr>
            <a:r>
              <a:rPr b="0" i="1" lang="en-US" sz="1000" u="none" cap="none" strike="noStrike">
                <a:solidFill>
                  <a:srgbClr val="525258"/>
                </a:solidFill>
                <a:latin typeface="Calibri"/>
                <a:ea typeface="Calibri"/>
                <a:cs typeface="Calibri"/>
                <a:sym typeface="Calibri"/>
              </a:rPr>
              <a:t>Markdown was invented by John Gruber and Aaron Swartz in 2004. It's readable as source and renders to HTML anywhere.</a:t>
            </a:r>
            <a:endParaRPr b="0" i="0" sz="1000" u="none" cap="none" strike="noStrike">
              <a:solidFill>
                <a:schemeClr val="dk1"/>
              </a:solidFill>
              <a:latin typeface="Calibri"/>
              <a:ea typeface="Calibri"/>
              <a:cs typeface="Calibri"/>
              <a:sym typeface="Calibri"/>
            </a:endParaRPr>
          </a:p>
        </p:txBody>
      </p:sp>
      <p:sp>
        <p:nvSpPr>
          <p:cNvPr id="317" name="Google Shape;317;p11"/>
          <p:cNvSpPr/>
          <p:nvPr/>
        </p:nvSpPr>
        <p:spPr>
          <a:xfrm>
            <a:off x="4709160" y="1737360"/>
            <a:ext cx="4023360" cy="2971800"/>
          </a:xfrm>
          <a:prstGeom prst="rect">
            <a:avLst/>
          </a:prstGeom>
          <a:solidFill>
            <a:srgbClr val="F7F6F5"/>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1"/>
          <p:cNvSpPr/>
          <p:nvPr/>
        </p:nvSpPr>
        <p:spPr>
          <a:xfrm>
            <a:off x="4709160" y="1737360"/>
            <a:ext cx="73152" cy="2971800"/>
          </a:xfrm>
          <a:prstGeom prst="rect">
            <a:avLst/>
          </a:prstGeom>
          <a:solidFill>
            <a:srgbClr val="5D7A8E"/>
          </a:solidFill>
          <a:ln cap="flat" cmpd="sng" w="12700">
            <a:solidFill>
              <a:srgbClr val="5D7A8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1"/>
          <p:cNvSpPr/>
          <p:nvPr/>
        </p:nvSpPr>
        <p:spPr>
          <a:xfrm>
            <a:off x="4937760" y="1874520"/>
            <a:ext cx="3657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5672"/>
              </a:buClr>
              <a:buSzPts val="1800"/>
              <a:buFont typeface="Georgia"/>
              <a:buNone/>
            </a:pPr>
            <a:r>
              <a:rPr b="1" i="0" lang="en-US" sz="1800" u="none" cap="none" strike="noStrike">
                <a:solidFill>
                  <a:srgbClr val="2B5672"/>
                </a:solidFill>
                <a:latin typeface="Georgia"/>
                <a:ea typeface="Georgia"/>
                <a:cs typeface="Georgia"/>
                <a:sym typeface="Georgia"/>
              </a:rPr>
              <a:t>Why AI loves it</a:t>
            </a:r>
            <a:endParaRPr b="0" i="0" sz="1800" u="none" cap="none" strike="noStrike">
              <a:solidFill>
                <a:schemeClr val="dk1"/>
              </a:solidFill>
              <a:latin typeface="Calibri"/>
              <a:ea typeface="Calibri"/>
              <a:cs typeface="Calibri"/>
              <a:sym typeface="Calibri"/>
            </a:endParaRPr>
          </a:p>
        </p:txBody>
      </p:sp>
      <p:sp>
        <p:nvSpPr>
          <p:cNvPr id="320" name="Google Shape;320;p11"/>
          <p:cNvSpPr/>
          <p:nvPr/>
        </p:nvSpPr>
        <p:spPr>
          <a:xfrm>
            <a:off x="4937760" y="2267712"/>
            <a:ext cx="3657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25258"/>
              </a:buClr>
              <a:buSzPts val="1100"/>
              <a:buFont typeface="Calibri"/>
              <a:buNone/>
            </a:pPr>
            <a:r>
              <a:rPr b="0" i="1" lang="en-US" sz="1100" u="none" cap="none" strike="noStrike">
                <a:solidFill>
                  <a:srgbClr val="525258"/>
                </a:solidFill>
                <a:latin typeface="Calibri"/>
                <a:ea typeface="Calibri"/>
                <a:cs typeface="Calibri"/>
                <a:sym typeface="Calibri"/>
              </a:rPr>
              <a:t>The format that fell into AI's lap</a:t>
            </a:r>
            <a:endParaRPr b="0" i="0" sz="1100" u="none" cap="none" strike="noStrike">
              <a:solidFill>
                <a:schemeClr val="dk1"/>
              </a:solidFill>
              <a:latin typeface="Calibri"/>
              <a:ea typeface="Calibri"/>
              <a:cs typeface="Calibri"/>
              <a:sym typeface="Calibri"/>
            </a:endParaRPr>
          </a:p>
        </p:txBody>
      </p:sp>
      <p:sp>
        <p:nvSpPr>
          <p:cNvPr id="321" name="Google Shape;321;p11"/>
          <p:cNvSpPr/>
          <p:nvPr/>
        </p:nvSpPr>
        <p:spPr>
          <a:xfrm>
            <a:off x="4983480" y="2651760"/>
            <a:ext cx="3566160" cy="196596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212121"/>
              </a:buClr>
              <a:buSzPts val="1050"/>
              <a:buFont typeface="Calibri"/>
              <a:buChar char="•"/>
            </a:pPr>
            <a:r>
              <a:rPr b="0" i="0" lang="en-US" sz="1050" u="none" cap="none" strike="noStrike">
                <a:solidFill>
                  <a:srgbClr val="212121"/>
                </a:solidFill>
                <a:latin typeface="Calibri"/>
                <a:ea typeface="Calibri"/>
                <a:cs typeface="Calibri"/>
                <a:sym typeface="Calibri"/>
              </a:rPr>
              <a:t>Plain text — no binary, no proprietary format, every tool can read it.</a:t>
            </a:r>
            <a:endParaRPr b="0" i="0" sz="1050" u="none" cap="none" strike="noStrike">
              <a:solidFill>
                <a:schemeClr val="dk1"/>
              </a:solidFill>
              <a:latin typeface="Calibri"/>
              <a:ea typeface="Calibri"/>
              <a:cs typeface="Calibri"/>
              <a:sym typeface="Calibri"/>
            </a:endParaRPr>
          </a:p>
          <a:p>
            <a:pPr indent="-342900" lvl="0" marL="342900" marR="0" rtl="0" algn="l">
              <a:spcBef>
                <a:spcPts val="500"/>
              </a:spcBef>
              <a:spcAft>
                <a:spcPts val="0"/>
              </a:spcAft>
              <a:buClr>
                <a:srgbClr val="212121"/>
              </a:buClr>
              <a:buSzPts val="1050"/>
              <a:buFont typeface="Calibri"/>
              <a:buChar char="•"/>
            </a:pPr>
            <a:r>
              <a:rPr b="0" i="0" lang="en-US" sz="1050" u="none" cap="none" strike="noStrike">
                <a:solidFill>
                  <a:srgbClr val="212121"/>
                </a:solidFill>
                <a:latin typeface="Calibri"/>
                <a:ea typeface="Calibri"/>
                <a:cs typeface="Calibri"/>
                <a:sym typeface="Calibri"/>
              </a:rPr>
              <a:t>LLMs are trained on enormous volumes of it: GitHub READMEs, docs, blogs, Stack Overflow.</a:t>
            </a:r>
            <a:endParaRPr b="0" i="0" sz="1050" u="none" cap="none" strike="noStrike">
              <a:solidFill>
                <a:schemeClr val="dk1"/>
              </a:solidFill>
              <a:latin typeface="Calibri"/>
              <a:ea typeface="Calibri"/>
              <a:cs typeface="Calibri"/>
              <a:sym typeface="Calibri"/>
            </a:endParaRPr>
          </a:p>
          <a:p>
            <a:pPr indent="-342900" lvl="0" marL="342900" marR="0" rtl="0" algn="l">
              <a:spcBef>
                <a:spcPts val="500"/>
              </a:spcBef>
              <a:spcAft>
                <a:spcPts val="0"/>
              </a:spcAft>
              <a:buClr>
                <a:srgbClr val="212121"/>
              </a:buClr>
              <a:buSzPts val="1050"/>
              <a:buFont typeface="Calibri"/>
              <a:buChar char="•"/>
            </a:pPr>
            <a:r>
              <a:rPr b="0" i="0" lang="en-US" sz="1050" u="none" cap="none" strike="noStrike">
                <a:solidFill>
                  <a:srgbClr val="212121"/>
                </a:solidFill>
                <a:latin typeface="Calibri"/>
                <a:ea typeface="Calibri"/>
                <a:cs typeface="Calibri"/>
                <a:sym typeface="Calibri"/>
              </a:rPr>
              <a:t>Headings, lists, and emphasis survive tokenization cleanly — structure is unambiguous.</a:t>
            </a:r>
            <a:endParaRPr b="0" i="0" sz="1050" u="none" cap="none" strike="noStrike">
              <a:solidFill>
                <a:schemeClr val="dk1"/>
              </a:solidFill>
              <a:latin typeface="Calibri"/>
              <a:ea typeface="Calibri"/>
              <a:cs typeface="Calibri"/>
              <a:sym typeface="Calibri"/>
            </a:endParaRPr>
          </a:p>
          <a:p>
            <a:pPr indent="-342900" lvl="0" marL="342900" marR="0" rtl="0" algn="l">
              <a:spcBef>
                <a:spcPts val="500"/>
              </a:spcBef>
              <a:spcAft>
                <a:spcPts val="0"/>
              </a:spcAft>
              <a:buClr>
                <a:srgbClr val="212121"/>
              </a:buClr>
              <a:buSzPts val="1050"/>
              <a:buFont typeface="Calibri"/>
              <a:buChar char="•"/>
            </a:pPr>
            <a:r>
              <a:rPr b="0" i="0" lang="en-US" sz="1050" u="none" cap="none" strike="noStrike">
                <a:solidFill>
                  <a:srgbClr val="212121"/>
                </a:solidFill>
                <a:latin typeface="Calibri"/>
                <a:ea typeface="Calibri"/>
                <a:cs typeface="Calibri"/>
                <a:sym typeface="Calibri"/>
              </a:rPr>
              <a:t>Humans write it in any editor; machines parse it in one line.</a:t>
            </a:r>
            <a:endParaRPr b="0" i="0" sz="1050" u="none" cap="none" strike="noStrike">
              <a:solidFill>
                <a:schemeClr val="dk1"/>
              </a:solidFill>
              <a:latin typeface="Calibri"/>
              <a:ea typeface="Calibri"/>
              <a:cs typeface="Calibri"/>
              <a:sym typeface="Calibri"/>
            </a:endParaRPr>
          </a:p>
          <a:p>
            <a:pPr indent="-342900" lvl="0" marL="342900" marR="0" rtl="0" algn="l">
              <a:spcBef>
                <a:spcPts val="500"/>
              </a:spcBef>
              <a:spcAft>
                <a:spcPts val="0"/>
              </a:spcAft>
              <a:buClr>
                <a:srgbClr val="212121"/>
              </a:buClr>
              <a:buSzPts val="1050"/>
              <a:buFont typeface="Calibri"/>
              <a:buChar char="•"/>
            </a:pPr>
            <a:r>
              <a:rPr b="0" i="0" lang="en-US" sz="1050" u="none" cap="none" strike="noStrike">
                <a:solidFill>
                  <a:srgbClr val="212121"/>
                </a:solidFill>
                <a:latin typeface="Calibri"/>
                <a:ea typeface="Calibri"/>
                <a:cs typeface="Calibri"/>
                <a:sym typeface="Calibri"/>
              </a:rPr>
              <a:t>One file works as both source and rendered document.</a:t>
            </a:r>
            <a:endParaRPr b="0" i="0" sz="1050" u="none" cap="none" strike="noStrike">
              <a:solidFill>
                <a:schemeClr val="dk1"/>
              </a:solidFill>
              <a:latin typeface="Calibri"/>
              <a:ea typeface="Calibri"/>
              <a:cs typeface="Calibri"/>
              <a:sym typeface="Calibri"/>
            </a:endParaRPr>
          </a:p>
        </p:txBody>
      </p:sp>
      <p:sp>
        <p:nvSpPr>
          <p:cNvPr id="322" name="Google Shape;322;p11"/>
          <p:cNvSpPr/>
          <p:nvPr/>
        </p:nvSpPr>
        <p:spPr>
          <a:xfrm>
            <a:off x="411480" y="4782312"/>
            <a:ext cx="8321040" cy="2103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5672"/>
              </a:buClr>
              <a:buSzPts val="1100"/>
              <a:buFont typeface="Calibri"/>
              <a:buNone/>
            </a:pPr>
            <a:r>
              <a:rPr b="1" i="1" lang="en-US" sz="1100" u="none" cap="none" strike="noStrike">
                <a:solidFill>
                  <a:srgbClr val="2B5672"/>
                </a:solidFill>
                <a:latin typeface="Calibri"/>
                <a:ea typeface="Calibri"/>
                <a:cs typeface="Calibri"/>
                <a:sym typeface="Calibri"/>
              </a:rPr>
              <a:t>If Claude has a native file format, this is it.</a:t>
            </a:r>
            <a:endParaRPr b="0" i="0" sz="1100" u="none" cap="none" strike="noStrike">
              <a:solidFill>
                <a:schemeClr val="dk1"/>
              </a:solidFill>
              <a:latin typeface="Calibri"/>
              <a:ea typeface="Calibri"/>
              <a:cs typeface="Calibri"/>
              <a:sym typeface="Calibri"/>
            </a:endParaRPr>
          </a:p>
        </p:txBody>
      </p:sp>
      <p:sp>
        <p:nvSpPr>
          <p:cNvPr id="323" name="Google Shape;323;p11"/>
          <p:cNvSpPr/>
          <p:nvPr/>
        </p:nvSpPr>
        <p:spPr>
          <a:xfrm>
            <a:off x="8412480" y="486460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25258"/>
              </a:buClr>
              <a:buSzPts val="900"/>
              <a:buFont typeface="Calibri"/>
              <a:buNone/>
            </a:pPr>
            <a:r>
              <a:rPr b="0" i="0" lang="en-US" sz="900" u="none" cap="none" strike="noStrike">
                <a:solidFill>
                  <a:srgbClr val="525258"/>
                </a:solidFill>
                <a:latin typeface="Calibri"/>
                <a:ea typeface="Calibri"/>
                <a:cs typeface="Calibri"/>
                <a:sym typeface="Calibri"/>
              </a:rPr>
              <a:t>8</a:t>
            </a:r>
            <a:endParaRPr b="0" i="0" sz="900" u="none" cap="none" strike="noStrike">
              <a:solidFill>
                <a:schemeClr val="dk1"/>
              </a:solidFill>
              <a:latin typeface="Calibri"/>
              <a:ea typeface="Calibri"/>
              <a:cs typeface="Calibri"/>
              <a:sym typeface="Calibri"/>
            </a:endParaRPr>
          </a:p>
        </p:txBody>
      </p:sp>
      <p:sp>
        <p:nvSpPr>
          <p:cNvPr id="324" name="Google Shape;324;p11"/>
          <p:cNvSpPr/>
          <p:nvPr/>
        </p:nvSpPr>
        <p:spPr>
          <a:xfrm>
            <a:off x="411480" y="4864608"/>
            <a:ext cx="54864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25258"/>
              </a:buClr>
              <a:buSzPts val="900"/>
              <a:buFont typeface="Calibri"/>
              <a:buNone/>
            </a:pPr>
            <a:r>
              <a:rPr b="0" i="0" lang="en-US" sz="900" u="none" cap="none" strike="noStrike">
                <a:solidFill>
                  <a:srgbClr val="525258"/>
                </a:solidFill>
                <a:latin typeface="Calibri"/>
                <a:ea typeface="Calibri"/>
                <a:cs typeface="Calibri"/>
                <a:sym typeface="Calibri"/>
              </a:rPr>
              <a:t>How Claude Works  ·</a:t>
            </a:r>
            <a:r>
              <a:rPr lang="en-US" sz="900">
                <a:solidFill>
                  <a:srgbClr val="525258"/>
                </a:solidFill>
                <a:latin typeface="Calibri"/>
                <a:ea typeface="Calibri"/>
                <a:cs typeface="Calibri"/>
                <a:sym typeface="Calibri"/>
              </a:rPr>
              <a:t> Giulio Ruffini</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9" name="Shape 329"/>
        <p:cNvGrpSpPr/>
        <p:nvPr/>
      </p:nvGrpSpPr>
      <p:grpSpPr>
        <a:xfrm>
          <a:off x="0" y="0"/>
          <a:ext cx="0" cy="0"/>
          <a:chOff x="0" y="0"/>
          <a:chExt cx="0" cy="0"/>
        </a:xfrm>
      </p:grpSpPr>
      <p:sp>
        <p:nvSpPr>
          <p:cNvPr id="330" name="Google Shape;330;p12"/>
          <p:cNvSpPr/>
          <p:nvPr/>
        </p:nvSpPr>
        <p:spPr>
          <a:xfrm>
            <a:off x="0" y="0"/>
            <a:ext cx="73152" cy="5143500"/>
          </a:xfrm>
          <a:prstGeom prst="rect">
            <a:avLst/>
          </a:prstGeom>
          <a:solidFill>
            <a:srgbClr val="2B5672"/>
          </a:solidFill>
          <a:ln cap="flat" cmpd="sng" w="12700">
            <a:solidFill>
              <a:srgbClr val="2B56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2"/>
          <p:cNvSpPr/>
          <p:nvPr/>
        </p:nvSpPr>
        <p:spPr>
          <a:xfrm>
            <a:off x="411480" y="256032"/>
            <a:ext cx="83210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D7A8E"/>
              </a:buClr>
              <a:buSzPts val="1000"/>
              <a:buFont typeface="Calibri"/>
              <a:buNone/>
            </a:pPr>
            <a:r>
              <a:rPr b="1" i="0" lang="en-US" sz="1000" u="none" cap="none" strike="noStrike">
                <a:solidFill>
                  <a:srgbClr val="5D7A8E"/>
                </a:solidFill>
                <a:latin typeface="Calibri"/>
                <a:ea typeface="Calibri"/>
                <a:cs typeface="Calibri"/>
                <a:sym typeface="Calibri"/>
              </a:rPr>
              <a:t>LESSON 4</a:t>
            </a:r>
            <a:endParaRPr b="0" i="0" sz="1000" u="none" cap="none" strike="noStrike">
              <a:solidFill>
                <a:schemeClr val="dk1"/>
              </a:solidFill>
              <a:latin typeface="Calibri"/>
              <a:ea typeface="Calibri"/>
              <a:cs typeface="Calibri"/>
              <a:sym typeface="Calibri"/>
            </a:endParaRPr>
          </a:p>
        </p:txBody>
      </p:sp>
      <p:sp>
        <p:nvSpPr>
          <p:cNvPr id="332" name="Google Shape;332;p12"/>
          <p:cNvSpPr/>
          <p:nvPr/>
        </p:nvSpPr>
        <p:spPr>
          <a:xfrm>
            <a:off x="411480" y="502920"/>
            <a:ext cx="83210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5672"/>
              </a:buClr>
              <a:buSzPts val="2400"/>
              <a:buFont typeface="Georgia"/>
              <a:buNone/>
            </a:pPr>
            <a:r>
              <a:rPr b="1" i="0" lang="en-US" sz="2400" u="none" cap="none" strike="noStrike">
                <a:solidFill>
                  <a:srgbClr val="2B5672"/>
                </a:solidFill>
                <a:latin typeface="Georgia"/>
                <a:ea typeface="Georgia"/>
                <a:cs typeface="Georgia"/>
                <a:sym typeface="Georgia"/>
              </a:rPr>
              <a:t>What the model actually sees on every query</a:t>
            </a:r>
            <a:endParaRPr b="0" i="0" sz="2400" u="none" cap="none" strike="noStrike">
              <a:solidFill>
                <a:schemeClr val="dk1"/>
              </a:solidFill>
              <a:latin typeface="Calibri"/>
              <a:ea typeface="Calibri"/>
              <a:cs typeface="Calibri"/>
              <a:sym typeface="Calibri"/>
            </a:endParaRPr>
          </a:p>
        </p:txBody>
      </p:sp>
      <p:sp>
        <p:nvSpPr>
          <p:cNvPr id="333" name="Google Shape;333;p12"/>
          <p:cNvSpPr/>
          <p:nvPr/>
        </p:nvSpPr>
        <p:spPr>
          <a:xfrm>
            <a:off x="411480" y="1143000"/>
            <a:ext cx="83210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2121"/>
              </a:buClr>
              <a:buSzPts val="1200"/>
              <a:buFont typeface="Calibri"/>
              <a:buNone/>
            </a:pPr>
            <a:r>
              <a:rPr b="0" i="0" lang="en-US" sz="1200" u="none" cap="none" strike="noStrike">
                <a:solidFill>
                  <a:srgbClr val="212121"/>
                </a:solidFill>
                <a:latin typeface="Calibri"/>
                <a:ea typeface="Calibri"/>
                <a:cs typeface="Calibri"/>
                <a:sym typeface="Calibri"/>
              </a:rPr>
              <a:t>Each message you send is wrapped in layers of instructions. The whole stack becomes the model's context — the text it "sees" before it answers. Zooming into the blob from the previous slide — here's what gets concatenated, in priority order.</a:t>
            </a:r>
            <a:endParaRPr b="0" i="0" sz="1200" u="none" cap="none" strike="noStrike">
              <a:solidFill>
                <a:schemeClr val="dk1"/>
              </a:solidFill>
              <a:latin typeface="Calibri"/>
              <a:ea typeface="Calibri"/>
              <a:cs typeface="Calibri"/>
              <a:sym typeface="Calibri"/>
            </a:endParaRPr>
          </a:p>
        </p:txBody>
      </p:sp>
      <p:sp>
        <p:nvSpPr>
          <p:cNvPr id="334" name="Google Shape;334;p12"/>
          <p:cNvSpPr/>
          <p:nvPr/>
        </p:nvSpPr>
        <p:spPr>
          <a:xfrm>
            <a:off x="502920" y="1737360"/>
            <a:ext cx="4572000" cy="347472"/>
          </a:xfrm>
          <a:prstGeom prst="rect">
            <a:avLst/>
          </a:prstGeom>
          <a:solidFill>
            <a:srgbClr val="5D7A8E"/>
          </a:solidFill>
          <a:ln cap="flat" cmpd="sng" w="12700">
            <a:solidFill>
              <a:srgbClr val="5D7A8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12"/>
          <p:cNvSpPr/>
          <p:nvPr/>
        </p:nvSpPr>
        <p:spPr>
          <a:xfrm>
            <a:off x="640080" y="1737360"/>
            <a:ext cx="192024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Your message</a:t>
            </a:r>
            <a:endParaRPr b="0" i="0" sz="1100" u="none" cap="none" strike="noStrike">
              <a:solidFill>
                <a:schemeClr val="dk1"/>
              </a:solidFill>
              <a:latin typeface="Calibri"/>
              <a:ea typeface="Calibri"/>
              <a:cs typeface="Calibri"/>
              <a:sym typeface="Calibri"/>
            </a:endParaRPr>
          </a:p>
        </p:txBody>
      </p:sp>
      <p:sp>
        <p:nvSpPr>
          <p:cNvPr id="336" name="Google Shape;336;p12"/>
          <p:cNvSpPr/>
          <p:nvPr/>
        </p:nvSpPr>
        <p:spPr>
          <a:xfrm>
            <a:off x="2606040" y="1737360"/>
            <a:ext cx="237744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950"/>
              <a:buFont typeface="Calibri"/>
              <a:buNone/>
            </a:pPr>
            <a:r>
              <a:rPr b="0" i="1" lang="en-US" sz="950" u="none" cap="none" strike="noStrike">
                <a:solidFill>
                  <a:srgbClr val="CADCFC"/>
                </a:solidFill>
                <a:latin typeface="Calibri"/>
                <a:ea typeface="Calibri"/>
                <a:cs typeface="Calibri"/>
                <a:sym typeface="Calibri"/>
              </a:rPr>
              <a:t>what you just typed</a:t>
            </a:r>
            <a:endParaRPr b="0" i="0" sz="950" u="none" cap="none" strike="noStrike">
              <a:solidFill>
                <a:schemeClr val="dk1"/>
              </a:solidFill>
              <a:latin typeface="Calibri"/>
              <a:ea typeface="Calibri"/>
              <a:cs typeface="Calibri"/>
              <a:sym typeface="Calibri"/>
            </a:endParaRPr>
          </a:p>
        </p:txBody>
      </p:sp>
      <p:sp>
        <p:nvSpPr>
          <p:cNvPr id="337" name="Google Shape;337;p12"/>
          <p:cNvSpPr/>
          <p:nvPr/>
        </p:nvSpPr>
        <p:spPr>
          <a:xfrm>
            <a:off x="502920" y="2121408"/>
            <a:ext cx="4572000" cy="347472"/>
          </a:xfrm>
          <a:prstGeom prst="rect">
            <a:avLst/>
          </a:prstGeom>
          <a:solidFill>
            <a:srgbClr val="14B8A6"/>
          </a:solidFill>
          <a:ln cap="flat" cmpd="sng" w="12700">
            <a:solidFill>
              <a:srgbClr val="14B8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2"/>
          <p:cNvSpPr/>
          <p:nvPr/>
        </p:nvSpPr>
        <p:spPr>
          <a:xfrm>
            <a:off x="640080" y="2121408"/>
            <a:ext cx="192024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Conversation history</a:t>
            </a:r>
            <a:endParaRPr b="0" i="0" sz="1100" u="none" cap="none" strike="noStrike">
              <a:solidFill>
                <a:schemeClr val="dk1"/>
              </a:solidFill>
              <a:latin typeface="Calibri"/>
              <a:ea typeface="Calibri"/>
              <a:cs typeface="Calibri"/>
              <a:sym typeface="Calibri"/>
            </a:endParaRPr>
          </a:p>
        </p:txBody>
      </p:sp>
      <p:sp>
        <p:nvSpPr>
          <p:cNvPr id="339" name="Google Shape;339;p12"/>
          <p:cNvSpPr/>
          <p:nvPr/>
        </p:nvSpPr>
        <p:spPr>
          <a:xfrm>
            <a:off x="2606040" y="2121408"/>
            <a:ext cx="237744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950"/>
              <a:buFont typeface="Calibri"/>
              <a:buNone/>
            </a:pPr>
            <a:r>
              <a:rPr b="0" i="1" lang="en-US" sz="950" u="none" cap="none" strike="noStrike">
                <a:solidFill>
                  <a:srgbClr val="CADCFC"/>
                </a:solidFill>
                <a:latin typeface="Calibri"/>
                <a:ea typeface="Calibri"/>
                <a:cs typeface="Calibri"/>
                <a:sym typeface="Calibri"/>
              </a:rPr>
              <a:t>previous turns in the session</a:t>
            </a:r>
            <a:endParaRPr b="0" i="0" sz="950" u="none" cap="none" strike="noStrike">
              <a:solidFill>
                <a:schemeClr val="dk1"/>
              </a:solidFill>
              <a:latin typeface="Calibri"/>
              <a:ea typeface="Calibri"/>
              <a:cs typeface="Calibri"/>
              <a:sym typeface="Calibri"/>
            </a:endParaRPr>
          </a:p>
        </p:txBody>
      </p:sp>
      <p:sp>
        <p:nvSpPr>
          <p:cNvPr id="340" name="Google Shape;340;p12"/>
          <p:cNvSpPr/>
          <p:nvPr/>
        </p:nvSpPr>
        <p:spPr>
          <a:xfrm>
            <a:off x="502920" y="2505456"/>
            <a:ext cx="4572000" cy="347472"/>
          </a:xfrm>
          <a:prstGeom prst="rect">
            <a:avLst/>
          </a:prstGeom>
          <a:solidFill>
            <a:srgbClr val="0D9488"/>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2"/>
          <p:cNvSpPr/>
          <p:nvPr/>
        </p:nvSpPr>
        <p:spPr>
          <a:xfrm>
            <a:off x="640080" y="2505456"/>
            <a:ext cx="192024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User preferences</a:t>
            </a:r>
            <a:endParaRPr b="0" i="0" sz="1100" u="none" cap="none" strike="noStrike">
              <a:solidFill>
                <a:schemeClr val="dk1"/>
              </a:solidFill>
              <a:latin typeface="Calibri"/>
              <a:ea typeface="Calibri"/>
              <a:cs typeface="Calibri"/>
              <a:sym typeface="Calibri"/>
            </a:endParaRPr>
          </a:p>
        </p:txBody>
      </p:sp>
      <p:sp>
        <p:nvSpPr>
          <p:cNvPr id="342" name="Google Shape;342;p12"/>
          <p:cNvSpPr/>
          <p:nvPr/>
        </p:nvSpPr>
        <p:spPr>
          <a:xfrm>
            <a:off x="2606040" y="2505456"/>
            <a:ext cx="237744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950"/>
              <a:buFont typeface="Calibri"/>
              <a:buNone/>
            </a:pPr>
            <a:r>
              <a:rPr b="0" i="1" lang="en-US" sz="950" u="none" cap="none" strike="noStrike">
                <a:solidFill>
                  <a:srgbClr val="CADCFC"/>
                </a:solidFill>
                <a:latin typeface="Calibri"/>
                <a:ea typeface="Calibri"/>
                <a:cs typeface="Calibri"/>
                <a:sym typeface="Calibri"/>
              </a:rPr>
              <a:t>e.g. "always use American English"</a:t>
            </a:r>
            <a:endParaRPr b="0" i="0" sz="950" u="none" cap="none" strike="noStrike">
              <a:solidFill>
                <a:schemeClr val="dk1"/>
              </a:solidFill>
              <a:latin typeface="Calibri"/>
              <a:ea typeface="Calibri"/>
              <a:cs typeface="Calibri"/>
              <a:sym typeface="Calibri"/>
            </a:endParaRPr>
          </a:p>
        </p:txBody>
      </p:sp>
      <p:sp>
        <p:nvSpPr>
          <p:cNvPr id="343" name="Google Shape;343;p12"/>
          <p:cNvSpPr/>
          <p:nvPr/>
        </p:nvSpPr>
        <p:spPr>
          <a:xfrm>
            <a:off x="502920" y="2889504"/>
            <a:ext cx="4572000" cy="347472"/>
          </a:xfrm>
          <a:prstGeom prst="rect">
            <a:avLst/>
          </a:prstGeom>
          <a:solidFill>
            <a:srgbClr val="1E3A5F"/>
          </a:solidFill>
          <a:ln cap="flat" cmpd="sng" w="12700">
            <a:solidFill>
              <a:srgbClr val="1E3A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2"/>
          <p:cNvSpPr/>
          <p:nvPr/>
        </p:nvSpPr>
        <p:spPr>
          <a:xfrm>
            <a:off x="640080" y="2889504"/>
            <a:ext cx="192024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Project claude.md</a:t>
            </a:r>
            <a:endParaRPr b="0" i="0" sz="1100" u="none" cap="none" strike="noStrike">
              <a:solidFill>
                <a:schemeClr val="dk1"/>
              </a:solidFill>
              <a:latin typeface="Calibri"/>
              <a:ea typeface="Calibri"/>
              <a:cs typeface="Calibri"/>
              <a:sym typeface="Calibri"/>
            </a:endParaRPr>
          </a:p>
        </p:txBody>
      </p:sp>
      <p:sp>
        <p:nvSpPr>
          <p:cNvPr id="345" name="Google Shape;345;p12"/>
          <p:cNvSpPr/>
          <p:nvPr/>
        </p:nvSpPr>
        <p:spPr>
          <a:xfrm>
            <a:off x="2606040" y="2889504"/>
            <a:ext cx="237744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950"/>
              <a:buFont typeface="Calibri"/>
              <a:buNone/>
            </a:pPr>
            <a:r>
              <a:rPr b="0" i="1" lang="en-US" sz="950" u="none" cap="none" strike="noStrike">
                <a:solidFill>
                  <a:srgbClr val="CADCFC"/>
                </a:solidFill>
                <a:latin typeface="Calibri"/>
                <a:ea typeface="Calibri"/>
                <a:cs typeface="Calibri"/>
                <a:sym typeface="Calibri"/>
              </a:rPr>
              <a:t>instructions checked into this folder</a:t>
            </a:r>
            <a:endParaRPr b="0" i="0" sz="950" u="none" cap="none" strike="noStrike">
              <a:solidFill>
                <a:schemeClr val="dk1"/>
              </a:solidFill>
              <a:latin typeface="Calibri"/>
              <a:ea typeface="Calibri"/>
              <a:cs typeface="Calibri"/>
              <a:sym typeface="Calibri"/>
            </a:endParaRPr>
          </a:p>
        </p:txBody>
      </p:sp>
      <p:sp>
        <p:nvSpPr>
          <p:cNvPr id="346" name="Google Shape;346;p12"/>
          <p:cNvSpPr/>
          <p:nvPr/>
        </p:nvSpPr>
        <p:spPr>
          <a:xfrm>
            <a:off x="502920" y="3273552"/>
            <a:ext cx="4572000" cy="347472"/>
          </a:xfrm>
          <a:prstGeom prst="rect">
            <a:avLst/>
          </a:prstGeom>
          <a:solidFill>
            <a:srgbClr val="0F2540"/>
          </a:solidFill>
          <a:ln cap="flat" cmpd="sng" w="12700">
            <a:solidFill>
              <a:srgbClr val="0F25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12"/>
          <p:cNvSpPr/>
          <p:nvPr/>
        </p:nvSpPr>
        <p:spPr>
          <a:xfrm>
            <a:off x="640080" y="3273552"/>
            <a:ext cx="192024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Global CLAUDE.md</a:t>
            </a:r>
            <a:endParaRPr b="0" i="0" sz="1100" u="none" cap="none" strike="noStrike">
              <a:solidFill>
                <a:schemeClr val="dk1"/>
              </a:solidFill>
              <a:latin typeface="Calibri"/>
              <a:ea typeface="Calibri"/>
              <a:cs typeface="Calibri"/>
              <a:sym typeface="Calibri"/>
            </a:endParaRPr>
          </a:p>
        </p:txBody>
      </p:sp>
      <p:sp>
        <p:nvSpPr>
          <p:cNvPr id="348" name="Google Shape;348;p12"/>
          <p:cNvSpPr/>
          <p:nvPr/>
        </p:nvSpPr>
        <p:spPr>
          <a:xfrm>
            <a:off x="2606040" y="3273552"/>
            <a:ext cx="237744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950"/>
              <a:buFont typeface="Calibri"/>
              <a:buNone/>
            </a:pPr>
            <a:r>
              <a:rPr b="0" i="1" lang="en-US" sz="950" u="none" cap="none" strike="noStrike">
                <a:solidFill>
                  <a:srgbClr val="CADCFC"/>
                </a:solidFill>
                <a:latin typeface="Calibri"/>
                <a:ea typeface="Calibri"/>
                <a:cs typeface="Calibri"/>
                <a:sym typeface="Calibri"/>
              </a:rPr>
              <a:t>your personal, cross-project rules</a:t>
            </a:r>
            <a:endParaRPr b="0" i="0" sz="950" u="none" cap="none" strike="noStrike">
              <a:solidFill>
                <a:schemeClr val="dk1"/>
              </a:solidFill>
              <a:latin typeface="Calibri"/>
              <a:ea typeface="Calibri"/>
              <a:cs typeface="Calibri"/>
              <a:sym typeface="Calibri"/>
            </a:endParaRPr>
          </a:p>
        </p:txBody>
      </p:sp>
      <p:sp>
        <p:nvSpPr>
          <p:cNvPr id="349" name="Google Shape;349;p12"/>
          <p:cNvSpPr/>
          <p:nvPr/>
        </p:nvSpPr>
        <p:spPr>
          <a:xfrm>
            <a:off x="502920" y="3657600"/>
            <a:ext cx="4572000" cy="347472"/>
          </a:xfrm>
          <a:prstGeom prst="rect">
            <a:avLst/>
          </a:prstGeom>
          <a:solidFill>
            <a:srgbClr val="1E3E52"/>
          </a:solidFill>
          <a:ln cap="flat" cmpd="sng" w="12700">
            <a:solidFill>
              <a:srgbClr val="1E3E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2"/>
          <p:cNvSpPr/>
          <p:nvPr/>
        </p:nvSpPr>
        <p:spPr>
          <a:xfrm>
            <a:off x="640080" y="3657600"/>
            <a:ext cx="192024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Skills &amp; tools</a:t>
            </a:r>
            <a:endParaRPr b="0" i="0" sz="1100" u="none" cap="none" strike="noStrike">
              <a:solidFill>
                <a:schemeClr val="dk1"/>
              </a:solidFill>
              <a:latin typeface="Calibri"/>
              <a:ea typeface="Calibri"/>
              <a:cs typeface="Calibri"/>
              <a:sym typeface="Calibri"/>
            </a:endParaRPr>
          </a:p>
        </p:txBody>
      </p:sp>
      <p:sp>
        <p:nvSpPr>
          <p:cNvPr id="351" name="Google Shape;351;p12"/>
          <p:cNvSpPr/>
          <p:nvPr/>
        </p:nvSpPr>
        <p:spPr>
          <a:xfrm>
            <a:off x="2606040" y="3657600"/>
            <a:ext cx="237744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950"/>
              <a:buFont typeface="Calibri"/>
              <a:buNone/>
            </a:pPr>
            <a:r>
              <a:rPr b="0" i="1" lang="en-US" sz="950" u="none" cap="none" strike="noStrike">
                <a:solidFill>
                  <a:srgbClr val="CADCFC"/>
                </a:solidFill>
                <a:latin typeface="Calibri"/>
                <a:ea typeface="Calibri"/>
                <a:cs typeface="Calibri"/>
                <a:sym typeface="Calibri"/>
              </a:rPr>
              <a:t>pptx, xlsx, pdf, MCP connectors …</a:t>
            </a:r>
            <a:endParaRPr b="0" i="0" sz="950" u="none" cap="none" strike="noStrike">
              <a:solidFill>
                <a:schemeClr val="dk1"/>
              </a:solidFill>
              <a:latin typeface="Calibri"/>
              <a:ea typeface="Calibri"/>
              <a:cs typeface="Calibri"/>
              <a:sym typeface="Calibri"/>
            </a:endParaRPr>
          </a:p>
        </p:txBody>
      </p:sp>
      <p:sp>
        <p:nvSpPr>
          <p:cNvPr id="352" name="Google Shape;352;p12"/>
          <p:cNvSpPr/>
          <p:nvPr/>
        </p:nvSpPr>
        <p:spPr>
          <a:xfrm>
            <a:off x="502920" y="4041648"/>
            <a:ext cx="4572000" cy="347472"/>
          </a:xfrm>
          <a:prstGeom prst="rect">
            <a:avLst/>
          </a:prstGeom>
          <a:solidFill>
            <a:srgbClr val="2B5672"/>
          </a:solidFill>
          <a:ln cap="flat" cmpd="sng" w="12700">
            <a:solidFill>
              <a:srgbClr val="2B56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2"/>
          <p:cNvSpPr/>
          <p:nvPr/>
        </p:nvSpPr>
        <p:spPr>
          <a:xfrm>
            <a:off x="640080" y="4041648"/>
            <a:ext cx="192024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System prompt</a:t>
            </a:r>
            <a:endParaRPr b="0" i="0" sz="1100" u="none" cap="none" strike="noStrike">
              <a:solidFill>
                <a:schemeClr val="dk1"/>
              </a:solidFill>
              <a:latin typeface="Calibri"/>
              <a:ea typeface="Calibri"/>
              <a:cs typeface="Calibri"/>
              <a:sym typeface="Calibri"/>
            </a:endParaRPr>
          </a:p>
        </p:txBody>
      </p:sp>
      <p:sp>
        <p:nvSpPr>
          <p:cNvPr id="354" name="Google Shape;354;p12"/>
          <p:cNvSpPr/>
          <p:nvPr/>
        </p:nvSpPr>
        <p:spPr>
          <a:xfrm>
            <a:off x="2606040" y="4041648"/>
            <a:ext cx="237744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950"/>
              <a:buFont typeface="Calibri"/>
              <a:buNone/>
            </a:pPr>
            <a:r>
              <a:rPr b="0" i="1" lang="en-US" sz="950" u="none" cap="none" strike="noStrike">
                <a:solidFill>
                  <a:srgbClr val="CADCFC"/>
                </a:solidFill>
                <a:latin typeface="Calibri"/>
                <a:ea typeface="Calibri"/>
                <a:cs typeface="Calibri"/>
                <a:sym typeface="Calibri"/>
              </a:rPr>
              <a:t>Anthropic's core behavior and safety rules</a:t>
            </a:r>
            <a:endParaRPr b="0" i="0" sz="950" u="none" cap="none" strike="noStrike">
              <a:solidFill>
                <a:schemeClr val="dk1"/>
              </a:solidFill>
              <a:latin typeface="Calibri"/>
              <a:ea typeface="Calibri"/>
              <a:cs typeface="Calibri"/>
              <a:sym typeface="Calibri"/>
            </a:endParaRPr>
          </a:p>
        </p:txBody>
      </p:sp>
      <p:cxnSp>
        <p:nvCxnSpPr>
          <p:cNvPr id="355" name="Google Shape;355;p12"/>
          <p:cNvCxnSpPr/>
          <p:nvPr/>
        </p:nvCxnSpPr>
        <p:spPr>
          <a:xfrm>
            <a:off x="5212080" y="1737360"/>
            <a:ext cx="0" cy="2651760"/>
          </a:xfrm>
          <a:prstGeom prst="straightConnector1">
            <a:avLst/>
          </a:prstGeom>
          <a:noFill/>
          <a:ln cap="flat" cmpd="sng" w="12700">
            <a:solidFill>
              <a:srgbClr val="525258"/>
            </a:solidFill>
            <a:prstDash val="solid"/>
            <a:round/>
            <a:headEnd len="sm" w="sm" type="none"/>
            <a:tailEnd len="sm" w="sm" type="none"/>
          </a:ln>
        </p:spPr>
      </p:cxnSp>
      <p:sp>
        <p:nvSpPr>
          <p:cNvPr id="356" name="Google Shape;356;p12"/>
          <p:cNvSpPr/>
          <p:nvPr/>
        </p:nvSpPr>
        <p:spPr>
          <a:xfrm>
            <a:off x="5303520" y="2834640"/>
            <a:ext cx="11887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25258"/>
              </a:buClr>
              <a:buSzPts val="1000"/>
              <a:buFont typeface="Calibri"/>
              <a:buNone/>
            </a:pPr>
            <a:r>
              <a:rPr b="0" i="1" lang="en-US" sz="1000" u="none" cap="none" strike="noStrike">
                <a:solidFill>
                  <a:srgbClr val="525258"/>
                </a:solidFill>
                <a:latin typeface="Calibri"/>
                <a:ea typeface="Calibri"/>
                <a:cs typeface="Calibri"/>
                <a:sym typeface="Calibri"/>
              </a:rPr>
              <a:t>one combined</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25258"/>
              </a:buClr>
              <a:buSzPts val="1000"/>
              <a:buFont typeface="Calibri"/>
              <a:buNone/>
            </a:pPr>
            <a:r>
              <a:rPr b="0" i="1" lang="en-US" sz="1000" u="none" cap="none" strike="noStrike">
                <a:solidFill>
                  <a:srgbClr val="525258"/>
                </a:solidFill>
                <a:latin typeface="Calibri"/>
                <a:ea typeface="Calibri"/>
                <a:cs typeface="Calibri"/>
                <a:sym typeface="Calibri"/>
              </a:rPr>
              <a:t>context window</a:t>
            </a:r>
            <a:endParaRPr b="0" i="0" sz="1000" u="none" cap="none" strike="noStrike">
              <a:solidFill>
                <a:schemeClr val="dk1"/>
              </a:solidFill>
              <a:latin typeface="Calibri"/>
              <a:ea typeface="Calibri"/>
              <a:cs typeface="Calibri"/>
              <a:sym typeface="Calibri"/>
            </a:endParaRPr>
          </a:p>
        </p:txBody>
      </p:sp>
      <p:sp>
        <p:nvSpPr>
          <p:cNvPr id="357" name="Google Shape;357;p12"/>
          <p:cNvSpPr/>
          <p:nvPr/>
        </p:nvSpPr>
        <p:spPr>
          <a:xfrm>
            <a:off x="6400800" y="1737360"/>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5672"/>
              </a:buClr>
              <a:buSzPts val="1400"/>
              <a:buFont typeface="Georgia"/>
              <a:buNone/>
            </a:pPr>
            <a:r>
              <a:rPr b="1" i="0" lang="en-US" sz="1400" u="none" cap="none" strike="noStrike">
                <a:solidFill>
                  <a:srgbClr val="2B5672"/>
                </a:solidFill>
                <a:latin typeface="Georgia"/>
                <a:ea typeface="Georgia"/>
                <a:cs typeface="Georgia"/>
                <a:sym typeface="Georgia"/>
              </a:rPr>
              <a:t>Reading the stack</a:t>
            </a:r>
            <a:endParaRPr b="0" i="0" sz="1400" u="none" cap="none" strike="noStrike">
              <a:solidFill>
                <a:schemeClr val="dk1"/>
              </a:solidFill>
              <a:latin typeface="Calibri"/>
              <a:ea typeface="Calibri"/>
              <a:cs typeface="Calibri"/>
              <a:sym typeface="Calibri"/>
            </a:endParaRPr>
          </a:p>
        </p:txBody>
      </p:sp>
      <p:sp>
        <p:nvSpPr>
          <p:cNvPr id="358" name="Google Shape;358;p12"/>
          <p:cNvSpPr/>
          <p:nvPr/>
        </p:nvSpPr>
        <p:spPr>
          <a:xfrm>
            <a:off x="6400800" y="2103120"/>
            <a:ext cx="2651760" cy="246888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212121"/>
              </a:buClr>
              <a:buSzPts val="1050"/>
              <a:buFont typeface="Calibri"/>
              <a:buChar char="•"/>
            </a:pPr>
            <a:r>
              <a:rPr b="0" i="0" lang="en-US" sz="1050" u="none" cap="none" strike="noStrike">
                <a:solidFill>
                  <a:srgbClr val="212121"/>
                </a:solidFill>
                <a:latin typeface="Calibri"/>
                <a:ea typeface="Calibri"/>
                <a:cs typeface="Calibri"/>
                <a:sym typeface="Calibri"/>
              </a:rPr>
              <a:t>Top = most specific / most recent.</a:t>
            </a:r>
            <a:endParaRPr b="0" i="0" sz="10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212121"/>
              </a:buClr>
              <a:buSzPts val="1050"/>
              <a:buFont typeface="Calibri"/>
              <a:buChar char="•"/>
            </a:pPr>
            <a:r>
              <a:rPr b="0" i="0" lang="en-US" sz="1050" u="none" cap="none" strike="noStrike">
                <a:solidFill>
                  <a:srgbClr val="212121"/>
                </a:solidFill>
                <a:latin typeface="Calibri"/>
                <a:ea typeface="Calibri"/>
                <a:cs typeface="Calibri"/>
                <a:sym typeface="Calibri"/>
              </a:rPr>
              <a:t>Bottom = most general / always-on.</a:t>
            </a:r>
            <a:endParaRPr b="0" i="0" sz="10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212121"/>
              </a:buClr>
              <a:buSzPts val="1050"/>
              <a:buFont typeface="Calibri"/>
              <a:buChar char="•"/>
            </a:pPr>
            <a:r>
              <a:rPr b="0" i="0" lang="en-US" sz="1050" u="none" cap="none" strike="noStrike">
                <a:solidFill>
                  <a:srgbClr val="212121"/>
                </a:solidFill>
                <a:latin typeface="Calibri"/>
                <a:ea typeface="Calibri"/>
                <a:cs typeface="Calibri"/>
                <a:sym typeface="Calibri"/>
              </a:rPr>
              <a:t>Higher-priority rules usually win when in conflict.</a:t>
            </a:r>
            <a:endParaRPr b="0" i="0" sz="10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212121"/>
              </a:buClr>
              <a:buSzPts val="1050"/>
              <a:buFont typeface="Calibri"/>
              <a:buChar char="•"/>
            </a:pPr>
            <a:r>
              <a:rPr b="0" i="0" lang="en-US" sz="1050" u="none" cap="none" strike="noStrike">
                <a:solidFill>
                  <a:srgbClr val="212121"/>
                </a:solidFill>
                <a:latin typeface="Calibri"/>
                <a:ea typeface="Calibri"/>
                <a:cs typeface="Calibri"/>
                <a:sym typeface="Calibri"/>
              </a:rPr>
              <a:t>A Project is just a shared claude.md + files that anyone on that project inherits.</a:t>
            </a:r>
            <a:endParaRPr b="0" i="0" sz="1050" u="none" cap="none" strike="noStrike">
              <a:solidFill>
                <a:schemeClr val="dk1"/>
              </a:solidFill>
              <a:latin typeface="Calibri"/>
              <a:ea typeface="Calibri"/>
              <a:cs typeface="Calibri"/>
              <a:sym typeface="Calibri"/>
            </a:endParaRPr>
          </a:p>
        </p:txBody>
      </p:sp>
      <p:sp>
        <p:nvSpPr>
          <p:cNvPr id="359" name="Google Shape;359;p12"/>
          <p:cNvSpPr/>
          <p:nvPr/>
        </p:nvSpPr>
        <p:spPr>
          <a:xfrm>
            <a:off x="8412480" y="486460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25258"/>
              </a:buClr>
              <a:buSzPts val="900"/>
              <a:buFont typeface="Calibri"/>
              <a:buNone/>
            </a:pPr>
            <a:r>
              <a:rPr b="0" i="0" lang="en-US" sz="900" u="none" cap="none" strike="noStrike">
                <a:solidFill>
                  <a:srgbClr val="525258"/>
                </a:solidFill>
                <a:latin typeface="Calibri"/>
                <a:ea typeface="Calibri"/>
                <a:cs typeface="Calibri"/>
                <a:sym typeface="Calibri"/>
              </a:rPr>
              <a:t>7</a:t>
            </a:r>
            <a:endParaRPr b="0" i="0" sz="900" u="none" cap="none" strike="noStrike">
              <a:solidFill>
                <a:schemeClr val="dk1"/>
              </a:solidFill>
              <a:latin typeface="Calibri"/>
              <a:ea typeface="Calibri"/>
              <a:cs typeface="Calibri"/>
              <a:sym typeface="Calibri"/>
            </a:endParaRPr>
          </a:p>
        </p:txBody>
      </p:sp>
      <p:sp>
        <p:nvSpPr>
          <p:cNvPr id="360" name="Google Shape;360;p12"/>
          <p:cNvSpPr/>
          <p:nvPr/>
        </p:nvSpPr>
        <p:spPr>
          <a:xfrm>
            <a:off x="411480" y="4864608"/>
            <a:ext cx="54864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25258"/>
              </a:buClr>
              <a:buSzPts val="900"/>
              <a:buFont typeface="Calibri"/>
              <a:buNone/>
            </a:pPr>
            <a:r>
              <a:rPr b="0" i="0" lang="en-US" sz="900" u="none" cap="none" strike="noStrike">
                <a:solidFill>
                  <a:srgbClr val="525258"/>
                </a:solidFill>
                <a:latin typeface="Calibri"/>
                <a:ea typeface="Calibri"/>
                <a:cs typeface="Calibri"/>
                <a:sym typeface="Calibri"/>
              </a:rPr>
              <a:t>How Claude Works  ·</a:t>
            </a:r>
            <a:r>
              <a:rPr lang="en-US" sz="900">
                <a:solidFill>
                  <a:srgbClr val="525258"/>
                </a:solidFill>
                <a:latin typeface="Calibri"/>
                <a:ea typeface="Calibri"/>
                <a:cs typeface="Calibri"/>
                <a:sym typeface="Calibri"/>
              </a:rPr>
              <a:t> Giulio Ruffini</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pic>
        <p:nvPicPr>
          <p:cNvPr id="366" name="Google Shape;366;p13"/>
          <p:cNvPicPr preferRelativeResize="0"/>
          <p:nvPr/>
        </p:nvPicPr>
        <p:blipFill>
          <a:blip r:embed="rId3">
            <a:alphaModFix/>
          </a:blip>
          <a:stretch>
            <a:fillRect/>
          </a:stretch>
        </p:blipFill>
        <p:spPr>
          <a:xfrm>
            <a:off x="1865043" y="633560"/>
            <a:ext cx="4828949" cy="4154825"/>
          </a:xfrm>
          <a:prstGeom prst="rect">
            <a:avLst/>
          </a:prstGeom>
          <a:noFill/>
          <a:ln>
            <a:noFill/>
          </a:ln>
        </p:spPr>
      </p:pic>
      <p:sp>
        <p:nvSpPr>
          <p:cNvPr id="367" name="Google Shape;367;p13"/>
          <p:cNvSpPr/>
          <p:nvPr/>
        </p:nvSpPr>
        <p:spPr>
          <a:xfrm>
            <a:off x="411480" y="4864608"/>
            <a:ext cx="54864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25258"/>
              </a:buClr>
              <a:buSzPts val="900"/>
              <a:buFont typeface="Calibri"/>
              <a:buNone/>
            </a:pPr>
            <a:r>
              <a:rPr b="0" i="0" lang="en-US" sz="900" u="none" cap="none" strike="noStrike">
                <a:solidFill>
                  <a:srgbClr val="525258"/>
                </a:solidFill>
                <a:latin typeface="Calibri"/>
                <a:ea typeface="Calibri"/>
                <a:cs typeface="Calibri"/>
                <a:sym typeface="Calibri"/>
              </a:rPr>
              <a:t>How Claude Works  ·</a:t>
            </a:r>
            <a:r>
              <a:rPr lang="en-US" sz="900">
                <a:solidFill>
                  <a:srgbClr val="525258"/>
                </a:solidFill>
                <a:latin typeface="Calibri"/>
                <a:ea typeface="Calibri"/>
                <a:cs typeface="Calibri"/>
                <a:sym typeface="Calibri"/>
              </a:rPr>
              <a:t> Giulio Ruffini</a:t>
            </a:r>
            <a:endParaRPr b="0" i="0" sz="900" u="none" cap="none" strike="noStrike">
              <a:solidFill>
                <a:schemeClr val="dk1"/>
              </a:solidFill>
              <a:latin typeface="Calibri"/>
              <a:ea typeface="Calibri"/>
              <a:cs typeface="Calibri"/>
              <a:sym typeface="Calibri"/>
            </a:endParaRPr>
          </a:p>
        </p:txBody>
      </p:sp>
      <p:sp>
        <p:nvSpPr>
          <p:cNvPr id="368" name="Google Shape;368;p13"/>
          <p:cNvSpPr txBox="1"/>
          <p:nvPr/>
        </p:nvSpPr>
        <p:spPr>
          <a:xfrm>
            <a:off x="152400" y="152400"/>
            <a:ext cx="8739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solidFill>
                  <a:schemeClr val="dk1"/>
                </a:solidFill>
                <a:latin typeface="Calibri"/>
                <a:ea typeface="Calibri"/>
                <a:cs typeface="Calibri"/>
                <a:sym typeface="Calibri"/>
              </a:rPr>
              <a:t>Here are some example context files used by Claude: it is a hierarchical system!</a:t>
            </a:r>
            <a:endParaRPr sz="18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3" name="Shape 373"/>
        <p:cNvGrpSpPr/>
        <p:nvPr/>
      </p:nvGrpSpPr>
      <p:grpSpPr>
        <a:xfrm>
          <a:off x="0" y="0"/>
          <a:ext cx="0" cy="0"/>
          <a:chOff x="0" y="0"/>
          <a:chExt cx="0" cy="0"/>
        </a:xfrm>
      </p:grpSpPr>
      <p:sp>
        <p:nvSpPr>
          <p:cNvPr id="374" name="Google Shape;374;p14"/>
          <p:cNvSpPr/>
          <p:nvPr/>
        </p:nvSpPr>
        <p:spPr>
          <a:xfrm>
            <a:off x="0" y="0"/>
            <a:ext cx="73152" cy="5143500"/>
          </a:xfrm>
          <a:prstGeom prst="rect">
            <a:avLst/>
          </a:prstGeom>
          <a:solidFill>
            <a:srgbClr val="2B5672"/>
          </a:solidFill>
          <a:ln cap="flat" cmpd="sng" w="12700">
            <a:solidFill>
              <a:srgbClr val="2B56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4"/>
          <p:cNvSpPr/>
          <p:nvPr/>
        </p:nvSpPr>
        <p:spPr>
          <a:xfrm>
            <a:off x="411480" y="256032"/>
            <a:ext cx="83210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D7A8E"/>
              </a:buClr>
              <a:buSzPts val="1000"/>
              <a:buFont typeface="Calibri"/>
              <a:buNone/>
            </a:pPr>
            <a:r>
              <a:rPr b="1" i="0" lang="en-US" sz="1000" u="none" cap="none" strike="noStrike">
                <a:solidFill>
                  <a:srgbClr val="5D7A8E"/>
                </a:solidFill>
                <a:latin typeface="Calibri"/>
                <a:ea typeface="Calibri"/>
                <a:cs typeface="Calibri"/>
                <a:sym typeface="Calibri"/>
              </a:rPr>
              <a:t>LESSON 5</a:t>
            </a:r>
            <a:endParaRPr b="0" i="0" sz="1000" u="none" cap="none" strike="noStrike">
              <a:solidFill>
                <a:schemeClr val="dk1"/>
              </a:solidFill>
              <a:latin typeface="Calibri"/>
              <a:ea typeface="Calibri"/>
              <a:cs typeface="Calibri"/>
              <a:sym typeface="Calibri"/>
            </a:endParaRPr>
          </a:p>
        </p:txBody>
      </p:sp>
      <p:sp>
        <p:nvSpPr>
          <p:cNvPr id="376" name="Google Shape;376;p14"/>
          <p:cNvSpPr/>
          <p:nvPr/>
        </p:nvSpPr>
        <p:spPr>
          <a:xfrm>
            <a:off x="411480" y="502920"/>
            <a:ext cx="83210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5672"/>
              </a:buClr>
              <a:buSzPts val="2400"/>
              <a:buFont typeface="Georgia"/>
              <a:buNone/>
            </a:pPr>
            <a:r>
              <a:rPr b="1" i="0" lang="en-US" sz="2400" u="none" cap="none" strike="noStrike">
                <a:solidFill>
                  <a:srgbClr val="2B5672"/>
                </a:solidFill>
                <a:latin typeface="Georgia"/>
                <a:ea typeface="Georgia"/>
                <a:cs typeface="Georgia"/>
                <a:sym typeface="Georgia"/>
              </a:rPr>
              <a:t>Skills and tools — how Claude reaches out</a:t>
            </a:r>
            <a:endParaRPr b="0" i="0" sz="2400" u="none" cap="none" strike="noStrike">
              <a:solidFill>
                <a:schemeClr val="dk1"/>
              </a:solidFill>
              <a:latin typeface="Calibri"/>
              <a:ea typeface="Calibri"/>
              <a:cs typeface="Calibri"/>
              <a:sym typeface="Calibri"/>
            </a:endParaRPr>
          </a:p>
        </p:txBody>
      </p:sp>
      <p:sp>
        <p:nvSpPr>
          <p:cNvPr id="377" name="Google Shape;377;p14"/>
          <p:cNvSpPr/>
          <p:nvPr/>
        </p:nvSpPr>
        <p:spPr>
          <a:xfrm>
            <a:off x="411480" y="1097280"/>
            <a:ext cx="83210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25258"/>
              </a:buClr>
              <a:buSzPts val="1300"/>
              <a:buFont typeface="Calibri"/>
              <a:buNone/>
            </a:pPr>
            <a:r>
              <a:rPr b="0" i="1" lang="en-US" sz="1300" u="none" cap="none" strike="noStrike">
                <a:solidFill>
                  <a:srgbClr val="525258"/>
                </a:solidFill>
                <a:latin typeface="Calibri"/>
                <a:ea typeface="Calibri"/>
                <a:cs typeface="Calibri"/>
                <a:sym typeface="Calibri"/>
              </a:rPr>
              <a:t>On top of the base model, Claude is extended with modular capabilities.</a:t>
            </a:r>
            <a:endParaRPr b="0" i="0" sz="1300" u="none" cap="none" strike="noStrike">
              <a:solidFill>
                <a:schemeClr val="dk1"/>
              </a:solidFill>
              <a:latin typeface="Calibri"/>
              <a:ea typeface="Calibri"/>
              <a:cs typeface="Calibri"/>
              <a:sym typeface="Calibri"/>
            </a:endParaRPr>
          </a:p>
        </p:txBody>
      </p:sp>
      <p:sp>
        <p:nvSpPr>
          <p:cNvPr id="378" name="Google Shape;378;p14"/>
          <p:cNvSpPr/>
          <p:nvPr/>
        </p:nvSpPr>
        <p:spPr>
          <a:xfrm>
            <a:off x="411480" y="1554480"/>
            <a:ext cx="4023360" cy="3108960"/>
          </a:xfrm>
          <a:prstGeom prst="rect">
            <a:avLst/>
          </a:prstGeom>
          <a:solidFill>
            <a:srgbClr val="F7F6F5"/>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4"/>
          <p:cNvSpPr/>
          <p:nvPr/>
        </p:nvSpPr>
        <p:spPr>
          <a:xfrm>
            <a:off x="411480" y="1554480"/>
            <a:ext cx="73152" cy="3108960"/>
          </a:xfrm>
          <a:prstGeom prst="rect">
            <a:avLst/>
          </a:prstGeom>
          <a:solidFill>
            <a:srgbClr val="5D7A8E"/>
          </a:solidFill>
          <a:ln cap="flat" cmpd="sng" w="12700">
            <a:solidFill>
              <a:srgbClr val="5D7A8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4"/>
          <p:cNvSpPr/>
          <p:nvPr/>
        </p:nvSpPr>
        <p:spPr>
          <a:xfrm>
            <a:off x="640080" y="1691640"/>
            <a:ext cx="3657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5672"/>
              </a:buClr>
              <a:buSzPts val="1800"/>
              <a:buFont typeface="Georgia"/>
              <a:buNone/>
            </a:pPr>
            <a:r>
              <a:rPr b="1" i="0" lang="en-US" sz="1800" u="none" cap="none" strike="noStrike">
                <a:solidFill>
                  <a:srgbClr val="2B5672"/>
                </a:solidFill>
                <a:latin typeface="Georgia"/>
                <a:ea typeface="Georgia"/>
                <a:cs typeface="Georgia"/>
                <a:sym typeface="Georgia"/>
              </a:rPr>
              <a:t>Skills</a:t>
            </a:r>
            <a:endParaRPr b="0" i="0" sz="1800" u="none" cap="none" strike="noStrike">
              <a:solidFill>
                <a:schemeClr val="dk1"/>
              </a:solidFill>
              <a:latin typeface="Calibri"/>
              <a:ea typeface="Calibri"/>
              <a:cs typeface="Calibri"/>
              <a:sym typeface="Calibri"/>
            </a:endParaRPr>
          </a:p>
        </p:txBody>
      </p:sp>
      <p:sp>
        <p:nvSpPr>
          <p:cNvPr id="381" name="Google Shape;381;p14"/>
          <p:cNvSpPr/>
          <p:nvPr/>
        </p:nvSpPr>
        <p:spPr>
          <a:xfrm>
            <a:off x="640080" y="2084832"/>
            <a:ext cx="3657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25258"/>
              </a:buClr>
              <a:buSzPts val="1100"/>
              <a:buFont typeface="Calibri"/>
              <a:buNone/>
            </a:pPr>
            <a:r>
              <a:rPr b="0" i="1" lang="en-US" sz="1100" u="none" cap="none" strike="noStrike">
                <a:solidFill>
                  <a:srgbClr val="525258"/>
                </a:solidFill>
                <a:latin typeface="Calibri"/>
                <a:ea typeface="Calibri"/>
                <a:cs typeface="Calibri"/>
                <a:sym typeface="Calibri"/>
              </a:rPr>
              <a:t>Reusable instruction packages</a:t>
            </a:r>
            <a:endParaRPr b="0" i="0" sz="1100" u="none" cap="none" strike="noStrike">
              <a:solidFill>
                <a:schemeClr val="dk1"/>
              </a:solidFill>
              <a:latin typeface="Calibri"/>
              <a:ea typeface="Calibri"/>
              <a:cs typeface="Calibri"/>
              <a:sym typeface="Calibri"/>
            </a:endParaRPr>
          </a:p>
        </p:txBody>
      </p:sp>
      <p:sp>
        <p:nvSpPr>
          <p:cNvPr id="382" name="Google Shape;382;p14"/>
          <p:cNvSpPr/>
          <p:nvPr/>
        </p:nvSpPr>
        <p:spPr>
          <a:xfrm>
            <a:off x="685800" y="2468880"/>
            <a:ext cx="3566100" cy="210300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212121"/>
              </a:buClr>
              <a:buSzPts val="1100"/>
              <a:buFont typeface="Calibri"/>
              <a:buChar char="•"/>
            </a:pPr>
            <a:r>
              <a:rPr b="0" i="0" lang="en-US" sz="1100" u="none" cap="none" strike="noStrike">
                <a:solidFill>
                  <a:srgbClr val="212121"/>
                </a:solidFill>
                <a:latin typeface="Calibri"/>
                <a:ea typeface="Calibri"/>
                <a:cs typeface="Calibri"/>
                <a:sym typeface="Calibri"/>
              </a:rPr>
              <a:t>Small folders with a </a:t>
            </a:r>
            <a:r>
              <a:rPr b="1" i="0" lang="en-US" sz="1100" u="none" cap="none" strike="noStrike">
                <a:solidFill>
                  <a:srgbClr val="212121"/>
                </a:solidFill>
                <a:latin typeface="Calibri"/>
                <a:ea typeface="Calibri"/>
                <a:cs typeface="Calibri"/>
                <a:sym typeface="Calibri"/>
              </a:rPr>
              <a:t>SKILL.md and scripts </a:t>
            </a:r>
            <a:r>
              <a:rPr b="0" i="0" lang="en-US" sz="1100" u="none" cap="none" strike="noStrike">
                <a:solidFill>
                  <a:srgbClr val="212121"/>
                </a:solidFill>
                <a:latin typeface="Calibri"/>
                <a:ea typeface="Calibri"/>
                <a:cs typeface="Calibri"/>
                <a:sym typeface="Calibri"/>
              </a:rPr>
              <a:t>that teaches Claude a specific workflow.</a:t>
            </a:r>
            <a:endParaRPr b="0" i="0" sz="11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212121"/>
              </a:buClr>
              <a:buSzPts val="1100"/>
              <a:buFont typeface="Calibri"/>
              <a:buChar char="•"/>
            </a:pPr>
            <a:r>
              <a:rPr b="0" i="0" lang="en-US" sz="1100" u="none" cap="none" strike="noStrike">
                <a:solidFill>
                  <a:srgbClr val="212121"/>
                </a:solidFill>
                <a:latin typeface="Calibri"/>
                <a:ea typeface="Calibri"/>
                <a:cs typeface="Calibri"/>
                <a:sym typeface="Calibri"/>
              </a:rPr>
              <a:t>Examples: pptx, xlsx, pdf, canvas-design, skill-creator.</a:t>
            </a:r>
            <a:endParaRPr b="0" i="0" sz="11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212121"/>
              </a:buClr>
              <a:buSzPts val="1100"/>
              <a:buFont typeface="Calibri"/>
              <a:buChar char="•"/>
            </a:pPr>
            <a:r>
              <a:rPr b="0" i="0" lang="en-US" sz="1100" u="none" cap="none" strike="noStrike">
                <a:solidFill>
                  <a:srgbClr val="212121"/>
                </a:solidFill>
                <a:latin typeface="Calibri"/>
                <a:ea typeface="Calibri"/>
                <a:cs typeface="Calibri"/>
                <a:sym typeface="Calibri"/>
              </a:rPr>
              <a:t>Loaded on demand when the task matches the skill's description.</a:t>
            </a:r>
            <a:endParaRPr b="0" i="0" sz="11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212121"/>
              </a:buClr>
              <a:buSzPts val="1100"/>
              <a:buFont typeface="Calibri"/>
              <a:buChar char="•"/>
            </a:pPr>
            <a:r>
              <a:rPr b="0" i="0" lang="en-US" sz="1100" u="none" cap="none" strike="noStrike">
                <a:solidFill>
                  <a:srgbClr val="212121"/>
                </a:solidFill>
                <a:latin typeface="Calibri"/>
                <a:ea typeface="Calibri"/>
                <a:cs typeface="Calibri"/>
                <a:sym typeface="Calibri"/>
              </a:rPr>
              <a:t>Your organization can write its own — e.g. a DHF-drafting skill for RAQA.</a:t>
            </a:r>
            <a:endParaRPr b="0" i="0" sz="1100" u="none" cap="none" strike="noStrike">
              <a:solidFill>
                <a:schemeClr val="dk1"/>
              </a:solidFill>
              <a:latin typeface="Calibri"/>
              <a:ea typeface="Calibri"/>
              <a:cs typeface="Calibri"/>
              <a:sym typeface="Calibri"/>
            </a:endParaRPr>
          </a:p>
        </p:txBody>
      </p:sp>
      <p:sp>
        <p:nvSpPr>
          <p:cNvPr id="383" name="Google Shape;383;p14"/>
          <p:cNvSpPr/>
          <p:nvPr/>
        </p:nvSpPr>
        <p:spPr>
          <a:xfrm>
            <a:off x="4709160" y="1554480"/>
            <a:ext cx="4023360" cy="3108960"/>
          </a:xfrm>
          <a:prstGeom prst="rect">
            <a:avLst/>
          </a:prstGeom>
          <a:solidFill>
            <a:srgbClr val="F7F6F5"/>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4"/>
          <p:cNvSpPr/>
          <p:nvPr/>
        </p:nvSpPr>
        <p:spPr>
          <a:xfrm>
            <a:off x="4709160" y="1554480"/>
            <a:ext cx="73152" cy="3108960"/>
          </a:xfrm>
          <a:prstGeom prst="rect">
            <a:avLst/>
          </a:prstGeom>
          <a:solidFill>
            <a:srgbClr val="5D7A8E"/>
          </a:solidFill>
          <a:ln cap="flat" cmpd="sng" w="12700">
            <a:solidFill>
              <a:srgbClr val="5D7A8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4"/>
          <p:cNvSpPr/>
          <p:nvPr/>
        </p:nvSpPr>
        <p:spPr>
          <a:xfrm>
            <a:off x="4937760" y="1691640"/>
            <a:ext cx="3657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5672"/>
              </a:buClr>
              <a:buSzPts val="1800"/>
              <a:buFont typeface="Georgia"/>
              <a:buNone/>
            </a:pPr>
            <a:r>
              <a:rPr b="1" i="0" lang="en-US" sz="1800" u="none" cap="none" strike="noStrike">
                <a:solidFill>
                  <a:srgbClr val="2B5672"/>
                </a:solidFill>
                <a:latin typeface="Georgia"/>
                <a:ea typeface="Georgia"/>
                <a:cs typeface="Georgia"/>
                <a:sym typeface="Georgia"/>
              </a:rPr>
              <a:t>Tools and MCP</a:t>
            </a:r>
            <a:endParaRPr b="0" i="0" sz="1800" u="none" cap="none" strike="noStrike">
              <a:solidFill>
                <a:schemeClr val="dk1"/>
              </a:solidFill>
              <a:latin typeface="Calibri"/>
              <a:ea typeface="Calibri"/>
              <a:cs typeface="Calibri"/>
              <a:sym typeface="Calibri"/>
            </a:endParaRPr>
          </a:p>
        </p:txBody>
      </p:sp>
      <p:sp>
        <p:nvSpPr>
          <p:cNvPr id="386" name="Google Shape;386;p14"/>
          <p:cNvSpPr/>
          <p:nvPr/>
        </p:nvSpPr>
        <p:spPr>
          <a:xfrm>
            <a:off x="4937760" y="2084832"/>
            <a:ext cx="3657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25258"/>
              </a:buClr>
              <a:buSzPts val="1100"/>
              <a:buFont typeface="Calibri"/>
              <a:buNone/>
            </a:pPr>
            <a:r>
              <a:rPr b="0" i="1" lang="en-US" sz="1100" u="none" cap="none" strike="noStrike">
                <a:solidFill>
                  <a:srgbClr val="525258"/>
                </a:solidFill>
                <a:latin typeface="Calibri"/>
                <a:ea typeface="Calibri"/>
                <a:cs typeface="Calibri"/>
                <a:sym typeface="Calibri"/>
              </a:rPr>
              <a:t>Functions Claude can call</a:t>
            </a:r>
            <a:endParaRPr b="0" i="0" sz="1100" u="none" cap="none" strike="noStrike">
              <a:solidFill>
                <a:schemeClr val="dk1"/>
              </a:solidFill>
              <a:latin typeface="Calibri"/>
              <a:ea typeface="Calibri"/>
              <a:cs typeface="Calibri"/>
              <a:sym typeface="Calibri"/>
            </a:endParaRPr>
          </a:p>
        </p:txBody>
      </p:sp>
      <p:sp>
        <p:nvSpPr>
          <p:cNvPr id="387" name="Google Shape;387;p14"/>
          <p:cNvSpPr/>
          <p:nvPr/>
        </p:nvSpPr>
        <p:spPr>
          <a:xfrm>
            <a:off x="4983480" y="2468880"/>
            <a:ext cx="3566160" cy="210312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212121"/>
              </a:buClr>
              <a:buSzPts val="1100"/>
              <a:buFont typeface="Calibri"/>
              <a:buChar char="•"/>
            </a:pPr>
            <a:r>
              <a:rPr b="0" i="0" lang="en-US" sz="1100" u="none" cap="none" strike="noStrike">
                <a:solidFill>
                  <a:srgbClr val="212121"/>
                </a:solidFill>
                <a:latin typeface="Calibri"/>
                <a:ea typeface="Calibri"/>
                <a:cs typeface="Calibri"/>
                <a:sym typeface="Calibri"/>
              </a:rPr>
              <a:t>Built-in tools: Read, Write, Edit, Bash, WebSearch, WebFetch.</a:t>
            </a:r>
            <a:endParaRPr b="0" i="0" sz="11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212121"/>
              </a:buClr>
              <a:buSzPts val="1100"/>
              <a:buFont typeface="Calibri"/>
              <a:buChar char="•"/>
            </a:pPr>
            <a:r>
              <a:rPr b="0" i="0" lang="en-US" sz="1100" u="none" cap="none" strike="noStrike">
                <a:solidFill>
                  <a:srgbClr val="212121"/>
                </a:solidFill>
                <a:latin typeface="Calibri"/>
                <a:ea typeface="Calibri"/>
                <a:cs typeface="Calibri"/>
                <a:sym typeface="Calibri"/>
              </a:rPr>
              <a:t>MCP connectors: Gmail, Calendar, Drive, Notion, Linear, Figma, your own servers.</a:t>
            </a:r>
            <a:endParaRPr b="0" i="0" sz="11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212121"/>
              </a:buClr>
              <a:buSzPts val="1100"/>
              <a:buFont typeface="Calibri"/>
              <a:buChar char="•"/>
            </a:pPr>
            <a:r>
              <a:rPr b="0" i="0" lang="en-US" sz="1100" u="none" cap="none" strike="noStrike">
                <a:solidFill>
                  <a:srgbClr val="212121"/>
                </a:solidFill>
                <a:latin typeface="Calibri"/>
                <a:ea typeface="Calibri"/>
                <a:cs typeface="Calibri"/>
                <a:sym typeface="Calibri"/>
              </a:rPr>
              <a:t>Each tool call is explicit — Claude asks, the host executes, results come back.</a:t>
            </a:r>
            <a:endParaRPr b="0" i="0" sz="11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212121"/>
              </a:buClr>
              <a:buSzPts val="1100"/>
              <a:buFont typeface="Calibri"/>
              <a:buChar char="•"/>
            </a:pPr>
            <a:r>
              <a:rPr b="0" i="0" lang="en-US" sz="1100" u="none" cap="none" strike="noStrike">
                <a:solidFill>
                  <a:srgbClr val="212121"/>
                </a:solidFill>
                <a:latin typeface="Calibri"/>
                <a:ea typeface="Calibri"/>
                <a:cs typeface="Calibri"/>
                <a:sym typeface="Calibri"/>
              </a:rPr>
              <a:t>MCP = the standard "USB-C for AI" — any compliant service plugs in.</a:t>
            </a:r>
            <a:endParaRPr b="0" i="0" sz="1100" u="none" cap="none" strike="noStrike">
              <a:solidFill>
                <a:schemeClr val="dk1"/>
              </a:solidFill>
              <a:latin typeface="Calibri"/>
              <a:ea typeface="Calibri"/>
              <a:cs typeface="Calibri"/>
              <a:sym typeface="Calibri"/>
            </a:endParaRPr>
          </a:p>
        </p:txBody>
      </p:sp>
      <p:sp>
        <p:nvSpPr>
          <p:cNvPr id="388" name="Google Shape;388;p14"/>
          <p:cNvSpPr/>
          <p:nvPr/>
        </p:nvSpPr>
        <p:spPr>
          <a:xfrm>
            <a:off x="8412480" y="486460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25258"/>
              </a:buClr>
              <a:buSzPts val="900"/>
              <a:buFont typeface="Calibri"/>
              <a:buNone/>
            </a:pPr>
            <a:r>
              <a:rPr b="0" i="0" lang="en-US" sz="900" u="none" cap="none" strike="noStrike">
                <a:solidFill>
                  <a:srgbClr val="525258"/>
                </a:solidFill>
                <a:latin typeface="Calibri"/>
                <a:ea typeface="Calibri"/>
                <a:cs typeface="Calibri"/>
                <a:sym typeface="Calibri"/>
              </a:rPr>
              <a:t>9</a:t>
            </a:r>
            <a:endParaRPr b="0" i="0" sz="900" u="none" cap="none" strike="noStrike">
              <a:solidFill>
                <a:schemeClr val="dk1"/>
              </a:solidFill>
              <a:latin typeface="Calibri"/>
              <a:ea typeface="Calibri"/>
              <a:cs typeface="Calibri"/>
              <a:sym typeface="Calibri"/>
            </a:endParaRPr>
          </a:p>
        </p:txBody>
      </p:sp>
      <p:pic>
        <p:nvPicPr>
          <p:cNvPr id="389" name="Google Shape;389;p14"/>
          <p:cNvPicPr preferRelativeResize="0"/>
          <p:nvPr/>
        </p:nvPicPr>
        <p:blipFill>
          <a:blip r:embed="rId3">
            <a:alphaModFix/>
          </a:blip>
          <a:stretch>
            <a:fillRect/>
          </a:stretch>
        </p:blipFill>
        <p:spPr>
          <a:xfrm>
            <a:off x="6930246" y="898287"/>
            <a:ext cx="2734003" cy="907399"/>
          </a:xfrm>
          <a:prstGeom prst="rect">
            <a:avLst/>
          </a:prstGeom>
          <a:noFill/>
          <a:ln>
            <a:noFill/>
          </a:ln>
        </p:spPr>
      </p:pic>
      <p:sp>
        <p:nvSpPr>
          <p:cNvPr id="390" name="Google Shape;390;p14"/>
          <p:cNvSpPr txBox="1"/>
          <p:nvPr/>
        </p:nvSpPr>
        <p:spPr>
          <a:xfrm>
            <a:off x="2454700" y="4681725"/>
            <a:ext cx="5042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u="sng">
                <a:solidFill>
                  <a:schemeClr val="hlink"/>
                </a:solidFill>
                <a:hlinkClick r:id="rId4"/>
              </a:rPr>
              <a:t>https://code.claude.com/docs/en/best-practices</a:t>
            </a:r>
            <a:r>
              <a:rPr lang="en-US"/>
              <a:t> </a:t>
            </a:r>
            <a:endParaRPr/>
          </a:p>
        </p:txBody>
      </p:sp>
      <p:sp>
        <p:nvSpPr>
          <p:cNvPr id="391" name="Google Shape;391;p14"/>
          <p:cNvSpPr/>
          <p:nvPr/>
        </p:nvSpPr>
        <p:spPr>
          <a:xfrm>
            <a:off x="411480" y="4864608"/>
            <a:ext cx="54864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25258"/>
              </a:buClr>
              <a:buSzPts val="900"/>
              <a:buFont typeface="Calibri"/>
              <a:buNone/>
            </a:pPr>
            <a:r>
              <a:rPr b="0" i="0" lang="en-US" sz="900" u="none" cap="none" strike="noStrike">
                <a:solidFill>
                  <a:srgbClr val="525258"/>
                </a:solidFill>
                <a:latin typeface="Calibri"/>
                <a:ea typeface="Calibri"/>
                <a:cs typeface="Calibri"/>
                <a:sym typeface="Calibri"/>
              </a:rPr>
              <a:t>How Claude Works  ·</a:t>
            </a:r>
            <a:r>
              <a:rPr lang="en-US" sz="900">
                <a:solidFill>
                  <a:srgbClr val="525258"/>
                </a:solidFill>
                <a:latin typeface="Calibri"/>
                <a:ea typeface="Calibri"/>
                <a:cs typeface="Calibri"/>
                <a:sym typeface="Calibri"/>
              </a:rPr>
              <a:t> Giulio Ruffini</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6" name="Shape 396"/>
        <p:cNvGrpSpPr/>
        <p:nvPr/>
      </p:nvGrpSpPr>
      <p:grpSpPr>
        <a:xfrm>
          <a:off x="0" y="0"/>
          <a:ext cx="0" cy="0"/>
          <a:chOff x="0" y="0"/>
          <a:chExt cx="0" cy="0"/>
        </a:xfrm>
      </p:grpSpPr>
      <p:sp>
        <p:nvSpPr>
          <p:cNvPr id="397" name="Google Shape;397;p15"/>
          <p:cNvSpPr/>
          <p:nvPr/>
        </p:nvSpPr>
        <p:spPr>
          <a:xfrm>
            <a:off x="0" y="0"/>
            <a:ext cx="73152" cy="5143500"/>
          </a:xfrm>
          <a:prstGeom prst="rect">
            <a:avLst/>
          </a:prstGeom>
          <a:solidFill>
            <a:srgbClr val="2B5672"/>
          </a:solidFill>
          <a:ln cap="flat" cmpd="sng" w="12700">
            <a:solidFill>
              <a:srgbClr val="2B56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5"/>
          <p:cNvSpPr/>
          <p:nvPr/>
        </p:nvSpPr>
        <p:spPr>
          <a:xfrm>
            <a:off x="411480" y="256032"/>
            <a:ext cx="83210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D7A8E"/>
              </a:buClr>
              <a:buSzPts val="1000"/>
              <a:buFont typeface="Calibri"/>
              <a:buNone/>
            </a:pPr>
            <a:r>
              <a:rPr b="1" i="0" lang="en-US" sz="1000" u="none" cap="none" strike="noStrike">
                <a:solidFill>
                  <a:srgbClr val="5D7A8E"/>
                </a:solidFill>
                <a:latin typeface="Calibri"/>
                <a:ea typeface="Calibri"/>
                <a:cs typeface="Calibri"/>
                <a:sym typeface="Calibri"/>
              </a:rPr>
              <a:t>LESSON 6</a:t>
            </a:r>
            <a:endParaRPr b="0" i="0" sz="1000" u="none" cap="none" strike="noStrike">
              <a:solidFill>
                <a:schemeClr val="dk1"/>
              </a:solidFill>
              <a:latin typeface="Calibri"/>
              <a:ea typeface="Calibri"/>
              <a:cs typeface="Calibri"/>
              <a:sym typeface="Calibri"/>
            </a:endParaRPr>
          </a:p>
        </p:txBody>
      </p:sp>
      <p:sp>
        <p:nvSpPr>
          <p:cNvPr id="399" name="Google Shape;399;p15"/>
          <p:cNvSpPr/>
          <p:nvPr/>
        </p:nvSpPr>
        <p:spPr>
          <a:xfrm>
            <a:off x="411480" y="502920"/>
            <a:ext cx="83210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5672"/>
              </a:buClr>
              <a:buSzPts val="2400"/>
              <a:buFont typeface="Georgia"/>
              <a:buNone/>
            </a:pPr>
            <a:r>
              <a:rPr b="1" i="0" lang="en-US" sz="2400" u="none" cap="none" strike="noStrike">
                <a:solidFill>
                  <a:srgbClr val="2B5672"/>
                </a:solidFill>
                <a:latin typeface="Georgia"/>
                <a:ea typeface="Georgia"/>
                <a:cs typeface="Georgia"/>
                <a:sym typeface="Georgia"/>
              </a:rPr>
              <a:t>What is a sandbox?</a:t>
            </a:r>
            <a:endParaRPr b="0" i="0" sz="2400" u="none" cap="none" strike="noStrike">
              <a:solidFill>
                <a:schemeClr val="dk1"/>
              </a:solidFill>
              <a:latin typeface="Calibri"/>
              <a:ea typeface="Calibri"/>
              <a:cs typeface="Calibri"/>
              <a:sym typeface="Calibri"/>
            </a:endParaRPr>
          </a:p>
        </p:txBody>
      </p:sp>
      <p:sp>
        <p:nvSpPr>
          <p:cNvPr id="400" name="Google Shape;400;p15"/>
          <p:cNvSpPr/>
          <p:nvPr/>
        </p:nvSpPr>
        <p:spPr>
          <a:xfrm>
            <a:off x="411480" y="1234440"/>
            <a:ext cx="83210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2121"/>
              </a:buClr>
              <a:buSzPts val="1300"/>
              <a:buFont typeface="Calibri"/>
              <a:buNone/>
            </a:pPr>
            <a:r>
              <a:rPr b="0" i="0" lang="en-US" sz="1300" u="none" cap="none" strike="noStrike">
                <a:solidFill>
                  <a:srgbClr val="212121"/>
                </a:solidFill>
                <a:latin typeface="Calibri"/>
                <a:ea typeface="Calibri"/>
                <a:cs typeface="Calibri"/>
                <a:sym typeface="Calibri"/>
              </a:rPr>
              <a:t>A sandbox is an isolated, disposable environment where code runs with no access to the host system except what you explicitly grant.</a:t>
            </a:r>
            <a:endParaRPr b="0" i="0" sz="1300" u="none" cap="none" strike="noStrike">
              <a:solidFill>
                <a:schemeClr val="dk1"/>
              </a:solidFill>
              <a:latin typeface="Calibri"/>
              <a:ea typeface="Calibri"/>
              <a:cs typeface="Calibri"/>
              <a:sym typeface="Calibri"/>
            </a:endParaRPr>
          </a:p>
        </p:txBody>
      </p:sp>
      <p:sp>
        <p:nvSpPr>
          <p:cNvPr id="401" name="Google Shape;401;p15"/>
          <p:cNvSpPr/>
          <p:nvPr/>
        </p:nvSpPr>
        <p:spPr>
          <a:xfrm>
            <a:off x="548640" y="2103120"/>
            <a:ext cx="1965960" cy="1371600"/>
          </a:xfrm>
          <a:prstGeom prst="roundRect">
            <a:avLst>
              <a:gd fmla="val 5333"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15"/>
          <p:cNvSpPr/>
          <p:nvPr/>
        </p:nvSpPr>
        <p:spPr>
          <a:xfrm>
            <a:off x="749808" y="2304288"/>
            <a:ext cx="201168" cy="201168"/>
          </a:xfrm>
          <a:prstGeom prst="ellipse">
            <a:avLst/>
          </a:prstGeom>
          <a:solidFill>
            <a:srgbClr val="5D7A8E"/>
          </a:solidFill>
          <a:ln cap="flat" cmpd="sng" w="12700">
            <a:solidFill>
              <a:srgbClr val="5D7A8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15"/>
          <p:cNvSpPr/>
          <p:nvPr/>
        </p:nvSpPr>
        <p:spPr>
          <a:xfrm>
            <a:off x="1051560" y="2240280"/>
            <a:ext cx="14173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5672"/>
              </a:buClr>
              <a:buSzPts val="1400"/>
              <a:buFont typeface="Georgia"/>
              <a:buNone/>
            </a:pPr>
            <a:r>
              <a:rPr b="1" i="0" lang="en-US" sz="1400" u="none" cap="none" strike="noStrike">
                <a:solidFill>
                  <a:srgbClr val="2B5672"/>
                </a:solidFill>
                <a:latin typeface="Georgia"/>
                <a:ea typeface="Georgia"/>
                <a:cs typeface="Georgia"/>
                <a:sym typeface="Georgia"/>
              </a:rPr>
              <a:t>Isolated</a:t>
            </a:r>
            <a:endParaRPr b="0" i="0" sz="1400" u="none" cap="none" strike="noStrike">
              <a:solidFill>
                <a:schemeClr val="dk1"/>
              </a:solidFill>
              <a:latin typeface="Calibri"/>
              <a:ea typeface="Calibri"/>
              <a:cs typeface="Calibri"/>
              <a:sym typeface="Calibri"/>
            </a:endParaRPr>
          </a:p>
        </p:txBody>
      </p:sp>
      <p:sp>
        <p:nvSpPr>
          <p:cNvPr id="404" name="Google Shape;404;p15"/>
          <p:cNvSpPr/>
          <p:nvPr/>
        </p:nvSpPr>
        <p:spPr>
          <a:xfrm>
            <a:off x="749808" y="2697480"/>
            <a:ext cx="16002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2121"/>
              </a:buClr>
              <a:buSzPts val="1100"/>
              <a:buFont typeface="Calibri"/>
              <a:buNone/>
            </a:pPr>
            <a:r>
              <a:rPr b="0" i="0" lang="en-US" sz="1100" u="none" cap="none" strike="noStrike">
                <a:solidFill>
                  <a:srgbClr val="212121"/>
                </a:solidFill>
                <a:latin typeface="Calibri"/>
                <a:ea typeface="Calibri"/>
                <a:cs typeface="Calibri"/>
                <a:sym typeface="Calibri"/>
              </a:rPr>
              <a:t>Separate filesystem,</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12121"/>
              </a:buClr>
              <a:buSzPts val="1100"/>
              <a:buFont typeface="Calibri"/>
              <a:buNone/>
            </a:pPr>
            <a:r>
              <a:rPr b="0" i="0" lang="en-US" sz="1100" u="none" cap="none" strike="noStrike">
                <a:solidFill>
                  <a:srgbClr val="212121"/>
                </a:solidFill>
                <a:latin typeface="Calibri"/>
                <a:ea typeface="Calibri"/>
                <a:cs typeface="Calibri"/>
                <a:sym typeface="Calibri"/>
              </a:rPr>
              <a:t>users, processes.</a:t>
            </a:r>
            <a:endParaRPr b="0" i="0" sz="1100" u="none" cap="none" strike="noStrike">
              <a:solidFill>
                <a:schemeClr val="dk1"/>
              </a:solidFill>
              <a:latin typeface="Calibri"/>
              <a:ea typeface="Calibri"/>
              <a:cs typeface="Calibri"/>
              <a:sym typeface="Calibri"/>
            </a:endParaRPr>
          </a:p>
        </p:txBody>
      </p:sp>
      <p:sp>
        <p:nvSpPr>
          <p:cNvPr id="405" name="Google Shape;405;p15"/>
          <p:cNvSpPr/>
          <p:nvPr/>
        </p:nvSpPr>
        <p:spPr>
          <a:xfrm>
            <a:off x="2679192" y="2103120"/>
            <a:ext cx="1965960" cy="1371600"/>
          </a:xfrm>
          <a:prstGeom prst="roundRect">
            <a:avLst>
              <a:gd fmla="val 5333"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15"/>
          <p:cNvSpPr/>
          <p:nvPr/>
        </p:nvSpPr>
        <p:spPr>
          <a:xfrm>
            <a:off x="2880360" y="2304288"/>
            <a:ext cx="201168" cy="201168"/>
          </a:xfrm>
          <a:prstGeom prst="ellipse">
            <a:avLst/>
          </a:prstGeom>
          <a:solidFill>
            <a:srgbClr val="5D7A8E"/>
          </a:solidFill>
          <a:ln cap="flat" cmpd="sng" w="12700">
            <a:solidFill>
              <a:srgbClr val="5D7A8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15"/>
          <p:cNvSpPr/>
          <p:nvPr/>
        </p:nvSpPr>
        <p:spPr>
          <a:xfrm>
            <a:off x="3182112" y="2240280"/>
            <a:ext cx="14173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5672"/>
              </a:buClr>
              <a:buSzPts val="1400"/>
              <a:buFont typeface="Georgia"/>
              <a:buNone/>
            </a:pPr>
            <a:r>
              <a:rPr b="1" i="0" lang="en-US" sz="1400" u="none" cap="none" strike="noStrike">
                <a:solidFill>
                  <a:srgbClr val="2B5672"/>
                </a:solidFill>
                <a:latin typeface="Georgia"/>
                <a:ea typeface="Georgia"/>
                <a:cs typeface="Georgia"/>
                <a:sym typeface="Georgia"/>
              </a:rPr>
              <a:t>Ephemeral</a:t>
            </a:r>
            <a:endParaRPr b="0" i="0" sz="1400" u="none" cap="none" strike="noStrike">
              <a:solidFill>
                <a:schemeClr val="dk1"/>
              </a:solidFill>
              <a:latin typeface="Calibri"/>
              <a:ea typeface="Calibri"/>
              <a:cs typeface="Calibri"/>
              <a:sym typeface="Calibri"/>
            </a:endParaRPr>
          </a:p>
        </p:txBody>
      </p:sp>
      <p:sp>
        <p:nvSpPr>
          <p:cNvPr id="408" name="Google Shape;408;p15"/>
          <p:cNvSpPr/>
          <p:nvPr/>
        </p:nvSpPr>
        <p:spPr>
          <a:xfrm>
            <a:off x="2880360" y="2697480"/>
            <a:ext cx="16002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2121"/>
              </a:buClr>
              <a:buSzPts val="1100"/>
              <a:buFont typeface="Calibri"/>
              <a:buNone/>
            </a:pPr>
            <a:r>
              <a:rPr b="0" i="0" lang="en-US" sz="1100" u="none" cap="none" strike="noStrike">
                <a:solidFill>
                  <a:srgbClr val="212121"/>
                </a:solidFill>
                <a:latin typeface="Calibri"/>
                <a:ea typeface="Calibri"/>
                <a:cs typeface="Calibri"/>
                <a:sym typeface="Calibri"/>
              </a:rPr>
              <a:t>State is wiped</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12121"/>
              </a:buClr>
              <a:buSzPts val="1100"/>
              <a:buFont typeface="Calibri"/>
              <a:buNone/>
            </a:pPr>
            <a:r>
              <a:rPr b="0" i="0" lang="en-US" sz="1100" u="none" cap="none" strike="noStrike">
                <a:solidFill>
                  <a:srgbClr val="212121"/>
                </a:solidFill>
                <a:latin typeface="Calibri"/>
                <a:ea typeface="Calibri"/>
                <a:cs typeface="Calibri"/>
                <a:sym typeface="Calibri"/>
              </a:rPr>
              <a:t>between sessions.</a:t>
            </a:r>
            <a:endParaRPr b="0" i="0" sz="1100" u="none" cap="none" strike="noStrike">
              <a:solidFill>
                <a:schemeClr val="dk1"/>
              </a:solidFill>
              <a:latin typeface="Calibri"/>
              <a:ea typeface="Calibri"/>
              <a:cs typeface="Calibri"/>
              <a:sym typeface="Calibri"/>
            </a:endParaRPr>
          </a:p>
        </p:txBody>
      </p:sp>
      <p:sp>
        <p:nvSpPr>
          <p:cNvPr id="409" name="Google Shape;409;p15"/>
          <p:cNvSpPr/>
          <p:nvPr/>
        </p:nvSpPr>
        <p:spPr>
          <a:xfrm>
            <a:off x="4809744" y="2103120"/>
            <a:ext cx="1965960" cy="1371600"/>
          </a:xfrm>
          <a:prstGeom prst="roundRect">
            <a:avLst>
              <a:gd fmla="val 5333"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15"/>
          <p:cNvSpPr/>
          <p:nvPr/>
        </p:nvSpPr>
        <p:spPr>
          <a:xfrm>
            <a:off x="5010912" y="2304288"/>
            <a:ext cx="201168" cy="201168"/>
          </a:xfrm>
          <a:prstGeom prst="ellipse">
            <a:avLst/>
          </a:prstGeom>
          <a:solidFill>
            <a:srgbClr val="5D7A8E"/>
          </a:solidFill>
          <a:ln cap="flat" cmpd="sng" w="12700">
            <a:solidFill>
              <a:srgbClr val="5D7A8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15"/>
          <p:cNvSpPr/>
          <p:nvPr/>
        </p:nvSpPr>
        <p:spPr>
          <a:xfrm>
            <a:off x="5312664" y="2240280"/>
            <a:ext cx="14173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5672"/>
              </a:buClr>
              <a:buSzPts val="1400"/>
              <a:buFont typeface="Georgia"/>
              <a:buNone/>
            </a:pPr>
            <a:r>
              <a:rPr b="1" i="0" lang="en-US" sz="1400" u="none" cap="none" strike="noStrike">
                <a:solidFill>
                  <a:srgbClr val="2B5672"/>
                </a:solidFill>
                <a:latin typeface="Georgia"/>
                <a:ea typeface="Georgia"/>
                <a:cs typeface="Georgia"/>
                <a:sym typeface="Georgia"/>
              </a:rPr>
              <a:t>Restricted</a:t>
            </a:r>
            <a:endParaRPr b="0" i="0" sz="1400" u="none" cap="none" strike="noStrike">
              <a:solidFill>
                <a:schemeClr val="dk1"/>
              </a:solidFill>
              <a:latin typeface="Calibri"/>
              <a:ea typeface="Calibri"/>
              <a:cs typeface="Calibri"/>
              <a:sym typeface="Calibri"/>
            </a:endParaRPr>
          </a:p>
        </p:txBody>
      </p:sp>
      <p:sp>
        <p:nvSpPr>
          <p:cNvPr id="412" name="Google Shape;412;p15"/>
          <p:cNvSpPr/>
          <p:nvPr/>
        </p:nvSpPr>
        <p:spPr>
          <a:xfrm>
            <a:off x="5010912" y="2697480"/>
            <a:ext cx="16002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2121"/>
              </a:buClr>
              <a:buSzPts val="1100"/>
              <a:buFont typeface="Calibri"/>
              <a:buNone/>
            </a:pPr>
            <a:r>
              <a:rPr b="0" i="0" lang="en-US" sz="1100" u="none" cap="none" strike="noStrike">
                <a:solidFill>
                  <a:srgbClr val="212121"/>
                </a:solidFill>
                <a:latin typeface="Calibri"/>
                <a:ea typeface="Calibri"/>
                <a:cs typeface="Calibri"/>
                <a:sym typeface="Calibri"/>
              </a:rPr>
              <a:t>Limited network;</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12121"/>
              </a:buClr>
              <a:buSzPts val="1100"/>
              <a:buFont typeface="Calibri"/>
              <a:buNone/>
            </a:pPr>
            <a:r>
              <a:rPr b="0" i="0" lang="en-US" sz="1100" u="none" cap="none" strike="noStrike">
                <a:solidFill>
                  <a:srgbClr val="212121"/>
                </a:solidFill>
                <a:latin typeface="Calibri"/>
                <a:ea typeface="Calibri"/>
                <a:cs typeface="Calibri"/>
                <a:sym typeface="Calibri"/>
              </a:rPr>
              <a:t>no secrets or keys.</a:t>
            </a:r>
            <a:endParaRPr b="0" i="0" sz="1100" u="none" cap="none" strike="noStrike">
              <a:solidFill>
                <a:schemeClr val="dk1"/>
              </a:solidFill>
              <a:latin typeface="Calibri"/>
              <a:ea typeface="Calibri"/>
              <a:cs typeface="Calibri"/>
              <a:sym typeface="Calibri"/>
            </a:endParaRPr>
          </a:p>
        </p:txBody>
      </p:sp>
      <p:sp>
        <p:nvSpPr>
          <p:cNvPr id="413" name="Google Shape;413;p15"/>
          <p:cNvSpPr/>
          <p:nvPr/>
        </p:nvSpPr>
        <p:spPr>
          <a:xfrm>
            <a:off x="6940296" y="2103120"/>
            <a:ext cx="1965960" cy="1371600"/>
          </a:xfrm>
          <a:prstGeom prst="roundRect">
            <a:avLst>
              <a:gd fmla="val 5333"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15"/>
          <p:cNvSpPr/>
          <p:nvPr/>
        </p:nvSpPr>
        <p:spPr>
          <a:xfrm>
            <a:off x="7141464" y="2304288"/>
            <a:ext cx="201168" cy="201168"/>
          </a:xfrm>
          <a:prstGeom prst="ellipse">
            <a:avLst/>
          </a:prstGeom>
          <a:solidFill>
            <a:srgbClr val="5D7A8E"/>
          </a:solidFill>
          <a:ln cap="flat" cmpd="sng" w="12700">
            <a:solidFill>
              <a:srgbClr val="5D7A8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15"/>
          <p:cNvSpPr/>
          <p:nvPr/>
        </p:nvSpPr>
        <p:spPr>
          <a:xfrm>
            <a:off x="7443216" y="2240280"/>
            <a:ext cx="14173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5672"/>
              </a:buClr>
              <a:buSzPts val="1400"/>
              <a:buFont typeface="Georgia"/>
              <a:buNone/>
            </a:pPr>
            <a:r>
              <a:rPr b="1" i="0" lang="en-US" sz="1400" u="none" cap="none" strike="noStrike">
                <a:solidFill>
                  <a:srgbClr val="2B5672"/>
                </a:solidFill>
                <a:latin typeface="Georgia"/>
                <a:ea typeface="Georgia"/>
                <a:cs typeface="Georgia"/>
                <a:sym typeface="Georgia"/>
              </a:rPr>
              <a:t>Safe</a:t>
            </a:r>
            <a:endParaRPr b="0" i="0" sz="1400" u="none" cap="none" strike="noStrike">
              <a:solidFill>
                <a:schemeClr val="dk1"/>
              </a:solidFill>
              <a:latin typeface="Calibri"/>
              <a:ea typeface="Calibri"/>
              <a:cs typeface="Calibri"/>
              <a:sym typeface="Calibri"/>
            </a:endParaRPr>
          </a:p>
        </p:txBody>
      </p:sp>
      <p:sp>
        <p:nvSpPr>
          <p:cNvPr id="416" name="Google Shape;416;p15"/>
          <p:cNvSpPr/>
          <p:nvPr/>
        </p:nvSpPr>
        <p:spPr>
          <a:xfrm>
            <a:off x="7141464" y="2697480"/>
            <a:ext cx="16002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2121"/>
              </a:buClr>
              <a:buSzPts val="1100"/>
              <a:buFont typeface="Calibri"/>
              <a:buNone/>
            </a:pPr>
            <a:r>
              <a:rPr b="0" i="0" lang="en-US" sz="1100" u="none" cap="none" strike="noStrike">
                <a:solidFill>
                  <a:srgbClr val="212121"/>
                </a:solidFill>
                <a:latin typeface="Calibri"/>
                <a:ea typeface="Calibri"/>
                <a:cs typeface="Calibri"/>
                <a:sym typeface="Calibri"/>
              </a:rPr>
              <a:t>Arbitrary code</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12121"/>
              </a:buClr>
              <a:buSzPts val="1100"/>
              <a:buFont typeface="Calibri"/>
              <a:buNone/>
            </a:pPr>
            <a:r>
              <a:rPr b="0" i="0" lang="en-US" sz="1100" u="none" cap="none" strike="noStrike">
                <a:solidFill>
                  <a:srgbClr val="212121"/>
                </a:solidFill>
                <a:latin typeface="Calibri"/>
                <a:ea typeface="Calibri"/>
                <a:cs typeface="Calibri"/>
                <a:sym typeface="Calibri"/>
              </a:rPr>
              <a:t>cannot harm host.</a:t>
            </a:r>
            <a:endParaRPr b="0" i="0" sz="1100" u="none" cap="none" strike="noStrike">
              <a:solidFill>
                <a:schemeClr val="dk1"/>
              </a:solidFill>
              <a:latin typeface="Calibri"/>
              <a:ea typeface="Calibri"/>
              <a:cs typeface="Calibri"/>
              <a:sym typeface="Calibri"/>
            </a:endParaRPr>
          </a:p>
        </p:txBody>
      </p:sp>
      <p:sp>
        <p:nvSpPr>
          <p:cNvPr id="417" name="Google Shape;417;p15"/>
          <p:cNvSpPr/>
          <p:nvPr/>
        </p:nvSpPr>
        <p:spPr>
          <a:xfrm>
            <a:off x="411480" y="3886200"/>
            <a:ext cx="83210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25258"/>
              </a:buClr>
              <a:buSzPts val="1200"/>
              <a:buFont typeface="Calibri"/>
              <a:buNone/>
            </a:pPr>
            <a:r>
              <a:rPr b="0" i="1" lang="en-US" sz="1200" u="none" cap="none" strike="noStrike">
                <a:solidFill>
                  <a:srgbClr val="525258"/>
                </a:solidFill>
                <a:latin typeface="Calibri"/>
                <a:ea typeface="Calibri"/>
                <a:cs typeface="Calibri"/>
                <a:sym typeface="Calibri"/>
              </a:rPr>
              <a:t>Think of it as a locked workshop: Claude can build, test, and throw things — the main building stays safe.</a:t>
            </a:r>
            <a:endParaRPr b="0" i="0" sz="1200" u="none" cap="none" strike="noStrike">
              <a:solidFill>
                <a:schemeClr val="dk1"/>
              </a:solidFill>
              <a:latin typeface="Calibri"/>
              <a:ea typeface="Calibri"/>
              <a:cs typeface="Calibri"/>
              <a:sym typeface="Calibri"/>
            </a:endParaRPr>
          </a:p>
        </p:txBody>
      </p:sp>
      <p:sp>
        <p:nvSpPr>
          <p:cNvPr id="418" name="Google Shape;418;p15"/>
          <p:cNvSpPr/>
          <p:nvPr/>
        </p:nvSpPr>
        <p:spPr>
          <a:xfrm>
            <a:off x="8412480" y="486460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25258"/>
              </a:buClr>
              <a:buSzPts val="900"/>
              <a:buFont typeface="Calibri"/>
              <a:buNone/>
            </a:pPr>
            <a:r>
              <a:rPr b="0" i="0" lang="en-US" sz="900" u="none" cap="none" strike="noStrike">
                <a:solidFill>
                  <a:srgbClr val="525258"/>
                </a:solidFill>
                <a:latin typeface="Calibri"/>
                <a:ea typeface="Calibri"/>
                <a:cs typeface="Calibri"/>
                <a:sym typeface="Calibri"/>
              </a:rPr>
              <a:t>10</a:t>
            </a:r>
            <a:endParaRPr b="0" i="0" sz="900" u="none" cap="none" strike="noStrike">
              <a:solidFill>
                <a:schemeClr val="dk1"/>
              </a:solidFill>
              <a:latin typeface="Calibri"/>
              <a:ea typeface="Calibri"/>
              <a:cs typeface="Calibri"/>
              <a:sym typeface="Calibri"/>
            </a:endParaRPr>
          </a:p>
        </p:txBody>
      </p:sp>
      <p:sp>
        <p:nvSpPr>
          <p:cNvPr id="419" name="Google Shape;419;p15"/>
          <p:cNvSpPr/>
          <p:nvPr/>
        </p:nvSpPr>
        <p:spPr>
          <a:xfrm>
            <a:off x="411480" y="4864608"/>
            <a:ext cx="54864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25258"/>
              </a:buClr>
              <a:buSzPts val="900"/>
              <a:buFont typeface="Calibri"/>
              <a:buNone/>
            </a:pPr>
            <a:r>
              <a:rPr b="0" i="0" lang="en-US" sz="900" u="none" cap="none" strike="noStrike">
                <a:solidFill>
                  <a:srgbClr val="525258"/>
                </a:solidFill>
                <a:latin typeface="Calibri"/>
                <a:ea typeface="Calibri"/>
                <a:cs typeface="Calibri"/>
                <a:sym typeface="Calibri"/>
              </a:rPr>
              <a:t>How Claude Works  ·</a:t>
            </a:r>
            <a:r>
              <a:rPr lang="en-US" sz="900">
                <a:solidFill>
                  <a:srgbClr val="525258"/>
                </a:solidFill>
                <a:latin typeface="Calibri"/>
                <a:ea typeface="Calibri"/>
                <a:cs typeface="Calibri"/>
                <a:sym typeface="Calibri"/>
              </a:rPr>
              <a:t> Giulio Ruffini</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4" name="Shape 424"/>
        <p:cNvGrpSpPr/>
        <p:nvPr/>
      </p:nvGrpSpPr>
      <p:grpSpPr>
        <a:xfrm>
          <a:off x="0" y="0"/>
          <a:ext cx="0" cy="0"/>
          <a:chOff x="0" y="0"/>
          <a:chExt cx="0" cy="0"/>
        </a:xfrm>
      </p:grpSpPr>
      <p:sp>
        <p:nvSpPr>
          <p:cNvPr id="425" name="Google Shape;425;p16"/>
          <p:cNvSpPr/>
          <p:nvPr/>
        </p:nvSpPr>
        <p:spPr>
          <a:xfrm>
            <a:off x="0" y="0"/>
            <a:ext cx="73152" cy="5143500"/>
          </a:xfrm>
          <a:prstGeom prst="rect">
            <a:avLst/>
          </a:prstGeom>
          <a:solidFill>
            <a:srgbClr val="2B5672"/>
          </a:solidFill>
          <a:ln cap="flat" cmpd="sng" w="12700">
            <a:solidFill>
              <a:srgbClr val="2B56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16"/>
          <p:cNvSpPr/>
          <p:nvPr/>
        </p:nvSpPr>
        <p:spPr>
          <a:xfrm>
            <a:off x="411480" y="256032"/>
            <a:ext cx="83210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D7A8E"/>
              </a:buClr>
              <a:buSzPts val="1000"/>
              <a:buFont typeface="Calibri"/>
              <a:buNone/>
            </a:pPr>
            <a:r>
              <a:rPr b="1" i="0" lang="en-US" sz="1000" u="none" cap="none" strike="noStrike">
                <a:solidFill>
                  <a:srgbClr val="5D7A8E"/>
                </a:solidFill>
                <a:latin typeface="Calibri"/>
                <a:ea typeface="Calibri"/>
                <a:cs typeface="Calibri"/>
                <a:sym typeface="Calibri"/>
              </a:rPr>
              <a:t>LESSON 7</a:t>
            </a:r>
            <a:endParaRPr b="0" i="0" sz="1000" u="none" cap="none" strike="noStrike">
              <a:solidFill>
                <a:schemeClr val="dk1"/>
              </a:solidFill>
              <a:latin typeface="Calibri"/>
              <a:ea typeface="Calibri"/>
              <a:cs typeface="Calibri"/>
              <a:sym typeface="Calibri"/>
            </a:endParaRPr>
          </a:p>
        </p:txBody>
      </p:sp>
      <p:sp>
        <p:nvSpPr>
          <p:cNvPr id="427" name="Google Shape;427;p16"/>
          <p:cNvSpPr/>
          <p:nvPr/>
        </p:nvSpPr>
        <p:spPr>
          <a:xfrm>
            <a:off x="411480" y="502920"/>
            <a:ext cx="83210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5672"/>
              </a:buClr>
              <a:buSzPts val="2400"/>
              <a:buFont typeface="Georgia"/>
              <a:buNone/>
            </a:pPr>
            <a:r>
              <a:rPr b="1" i="0" lang="en-US" sz="2400" u="none" cap="none" strike="noStrike">
                <a:solidFill>
                  <a:srgbClr val="2B5672"/>
                </a:solidFill>
                <a:latin typeface="Georgia"/>
                <a:ea typeface="Georgia"/>
                <a:cs typeface="Georgia"/>
                <a:sym typeface="Georgia"/>
              </a:rPr>
              <a:t>Where Claude runs — two sandbox models</a:t>
            </a:r>
            <a:endParaRPr b="0" i="0" sz="2400" u="none" cap="none" strike="noStrike">
              <a:solidFill>
                <a:schemeClr val="dk1"/>
              </a:solidFill>
              <a:latin typeface="Calibri"/>
              <a:ea typeface="Calibri"/>
              <a:cs typeface="Calibri"/>
              <a:sym typeface="Calibri"/>
            </a:endParaRPr>
          </a:p>
        </p:txBody>
      </p:sp>
      <p:sp>
        <p:nvSpPr>
          <p:cNvPr id="428" name="Google Shape;428;p16"/>
          <p:cNvSpPr/>
          <p:nvPr/>
        </p:nvSpPr>
        <p:spPr>
          <a:xfrm>
            <a:off x="411480" y="1234440"/>
            <a:ext cx="4023360" cy="2971800"/>
          </a:xfrm>
          <a:prstGeom prst="rect">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16"/>
          <p:cNvSpPr/>
          <p:nvPr/>
        </p:nvSpPr>
        <p:spPr>
          <a:xfrm>
            <a:off x="411480" y="1234440"/>
            <a:ext cx="4023360" cy="640080"/>
          </a:xfrm>
          <a:prstGeom prst="rect">
            <a:avLst/>
          </a:prstGeom>
          <a:solidFill>
            <a:srgbClr val="2B5672"/>
          </a:solidFill>
          <a:ln cap="flat" cmpd="sng" w="12700">
            <a:solidFill>
              <a:srgbClr val="2B56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16"/>
          <p:cNvSpPr/>
          <p:nvPr/>
        </p:nvSpPr>
        <p:spPr>
          <a:xfrm>
            <a:off x="594360" y="1307592"/>
            <a:ext cx="374904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Georgia"/>
              <a:buNone/>
            </a:pPr>
            <a:r>
              <a:rPr b="1" i="0" lang="en-US" sz="1500" u="none" cap="none" strike="noStrike">
                <a:solidFill>
                  <a:srgbClr val="FFFFFF"/>
                </a:solidFill>
                <a:latin typeface="Georgia"/>
                <a:ea typeface="Georgia"/>
                <a:cs typeface="Georgia"/>
                <a:sym typeface="Georgia"/>
              </a:rPr>
              <a:t>Chat  (claude.ai)</a:t>
            </a:r>
            <a:endParaRPr b="0" i="0" sz="1500" u="none" cap="none" strike="noStrike">
              <a:solidFill>
                <a:schemeClr val="dk1"/>
              </a:solidFill>
              <a:latin typeface="Calibri"/>
              <a:ea typeface="Calibri"/>
              <a:cs typeface="Calibri"/>
              <a:sym typeface="Calibri"/>
            </a:endParaRPr>
          </a:p>
        </p:txBody>
      </p:sp>
      <p:sp>
        <p:nvSpPr>
          <p:cNvPr id="431" name="Google Shape;431;p16"/>
          <p:cNvSpPr/>
          <p:nvPr/>
        </p:nvSpPr>
        <p:spPr>
          <a:xfrm>
            <a:off x="594360" y="1600200"/>
            <a:ext cx="37490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000"/>
              <a:buFont typeface="Calibri"/>
              <a:buNone/>
            </a:pPr>
            <a:r>
              <a:rPr b="0" i="1" lang="en-US" sz="1000" u="none" cap="none" strike="noStrike">
                <a:solidFill>
                  <a:srgbClr val="CADCFC"/>
                </a:solidFill>
                <a:latin typeface="Calibri"/>
                <a:ea typeface="Calibri"/>
                <a:cs typeface="Calibri"/>
                <a:sym typeface="Calibri"/>
              </a:rPr>
              <a:t>Server-side sandbox</a:t>
            </a:r>
            <a:endParaRPr b="0" i="0" sz="1000" u="none" cap="none" strike="noStrike">
              <a:solidFill>
                <a:schemeClr val="dk1"/>
              </a:solidFill>
              <a:latin typeface="Calibri"/>
              <a:ea typeface="Calibri"/>
              <a:cs typeface="Calibri"/>
              <a:sym typeface="Calibri"/>
            </a:endParaRPr>
          </a:p>
        </p:txBody>
      </p:sp>
      <p:sp>
        <p:nvSpPr>
          <p:cNvPr id="432" name="Google Shape;432;p16"/>
          <p:cNvSpPr/>
          <p:nvPr/>
        </p:nvSpPr>
        <p:spPr>
          <a:xfrm>
            <a:off x="640080" y="2011680"/>
            <a:ext cx="3566160" cy="210312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212121"/>
              </a:buClr>
              <a:buSzPts val="1100"/>
              <a:buFont typeface="Calibri"/>
              <a:buChar char="•"/>
            </a:pPr>
            <a:r>
              <a:rPr b="0" i="0" lang="en-US" sz="1100" u="none" cap="none" strike="noStrike">
                <a:solidFill>
                  <a:srgbClr val="212121"/>
                </a:solidFill>
                <a:latin typeface="Calibri"/>
                <a:ea typeface="Calibri"/>
                <a:cs typeface="Calibri"/>
                <a:sym typeface="Calibri"/>
              </a:rPr>
              <a:t>Runs in a disposable container on Anthropic's servers.</a:t>
            </a:r>
            <a:endParaRPr b="0" i="0" sz="11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212121"/>
              </a:buClr>
              <a:buSzPts val="1100"/>
              <a:buFont typeface="Calibri"/>
              <a:buChar char="•"/>
            </a:pPr>
            <a:r>
              <a:rPr b="0" i="0" lang="en-US" sz="1100" u="none" cap="none" strike="noStrike">
                <a:solidFill>
                  <a:srgbClr val="212121"/>
                </a:solidFill>
                <a:latin typeface="Calibri"/>
                <a:ea typeface="Calibri"/>
                <a:cs typeface="Calibri"/>
                <a:sym typeface="Calibri"/>
              </a:rPr>
              <a:t>No access to your computer's filesystem.</a:t>
            </a:r>
            <a:endParaRPr b="0" i="0" sz="11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212121"/>
              </a:buClr>
              <a:buSzPts val="1100"/>
              <a:buFont typeface="Calibri"/>
              <a:buChar char="•"/>
            </a:pPr>
            <a:r>
              <a:rPr b="0" i="0" lang="en-US" sz="1100" u="none" cap="none" strike="noStrike">
                <a:solidFill>
                  <a:srgbClr val="212121"/>
                </a:solidFill>
                <a:latin typeface="Calibri"/>
                <a:ea typeface="Calibri"/>
                <a:cs typeface="Calibri"/>
                <a:sym typeface="Calibri"/>
              </a:rPr>
              <a:t>Files you upload are copied in; files it creates are downloaded.</a:t>
            </a:r>
            <a:endParaRPr b="0" i="0" sz="11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212121"/>
              </a:buClr>
              <a:buSzPts val="1100"/>
              <a:buFont typeface="Calibri"/>
              <a:buChar char="•"/>
            </a:pPr>
            <a:r>
              <a:rPr b="0" i="0" lang="en-US" sz="1100" u="none" cap="none" strike="noStrike">
                <a:solidFill>
                  <a:srgbClr val="212121"/>
                </a:solidFill>
                <a:latin typeface="Calibri"/>
                <a:ea typeface="Calibri"/>
                <a:cs typeface="Calibri"/>
                <a:sym typeface="Calibri"/>
              </a:rPr>
              <a:t>State resets between conversations (unless you use a Project).</a:t>
            </a:r>
            <a:endParaRPr b="0" i="0" sz="11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212121"/>
              </a:buClr>
              <a:buSzPts val="1100"/>
              <a:buFont typeface="Calibri"/>
              <a:buChar char="•"/>
            </a:pPr>
            <a:r>
              <a:rPr b="0" i="0" lang="en-US" sz="1100" u="none" cap="none" strike="noStrike">
                <a:solidFill>
                  <a:srgbClr val="212121"/>
                </a:solidFill>
                <a:latin typeface="Calibri"/>
                <a:ea typeface="Calibri"/>
                <a:cs typeface="Calibri"/>
                <a:sym typeface="Calibri"/>
              </a:rPr>
              <a:t>Great for: drafting, Q&amp;A, quick code, research.</a:t>
            </a:r>
            <a:endParaRPr b="0" i="0" sz="1100" u="none" cap="none" strike="noStrike">
              <a:solidFill>
                <a:schemeClr val="dk1"/>
              </a:solidFill>
              <a:latin typeface="Calibri"/>
              <a:ea typeface="Calibri"/>
              <a:cs typeface="Calibri"/>
              <a:sym typeface="Calibri"/>
            </a:endParaRPr>
          </a:p>
        </p:txBody>
      </p:sp>
      <p:sp>
        <p:nvSpPr>
          <p:cNvPr id="433" name="Google Shape;433;p16"/>
          <p:cNvSpPr/>
          <p:nvPr/>
        </p:nvSpPr>
        <p:spPr>
          <a:xfrm>
            <a:off x="4709160" y="1234440"/>
            <a:ext cx="4023360" cy="2971800"/>
          </a:xfrm>
          <a:prstGeom prst="rect">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6"/>
          <p:cNvSpPr/>
          <p:nvPr/>
        </p:nvSpPr>
        <p:spPr>
          <a:xfrm>
            <a:off x="4709160" y="1234440"/>
            <a:ext cx="4023360" cy="640080"/>
          </a:xfrm>
          <a:prstGeom prst="rect">
            <a:avLst/>
          </a:prstGeom>
          <a:solidFill>
            <a:srgbClr val="5D7A8E"/>
          </a:solidFill>
          <a:ln cap="flat" cmpd="sng" w="12700">
            <a:solidFill>
              <a:srgbClr val="5D7A8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16"/>
          <p:cNvSpPr/>
          <p:nvPr/>
        </p:nvSpPr>
        <p:spPr>
          <a:xfrm>
            <a:off x="4892040" y="1307592"/>
            <a:ext cx="374904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Georgia"/>
              <a:buNone/>
            </a:pPr>
            <a:r>
              <a:rPr b="1" i="0" lang="en-US" sz="1500" u="none" cap="none" strike="noStrike">
                <a:solidFill>
                  <a:srgbClr val="FFFFFF"/>
                </a:solidFill>
                <a:latin typeface="Georgia"/>
                <a:ea typeface="Georgia"/>
                <a:cs typeface="Georgia"/>
                <a:sym typeface="Georgia"/>
              </a:rPr>
              <a:t>File-native Claude</a:t>
            </a:r>
            <a:endParaRPr b="0" i="0" sz="1500" u="none" cap="none" strike="noStrike">
              <a:solidFill>
                <a:schemeClr val="dk1"/>
              </a:solidFill>
              <a:latin typeface="Calibri"/>
              <a:ea typeface="Calibri"/>
              <a:cs typeface="Calibri"/>
              <a:sym typeface="Calibri"/>
            </a:endParaRPr>
          </a:p>
        </p:txBody>
      </p:sp>
      <p:sp>
        <p:nvSpPr>
          <p:cNvPr id="436" name="Google Shape;436;p16"/>
          <p:cNvSpPr/>
          <p:nvPr/>
        </p:nvSpPr>
        <p:spPr>
          <a:xfrm>
            <a:off x="4892040" y="1600200"/>
            <a:ext cx="37490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000"/>
              <a:buFont typeface="Calibri"/>
              <a:buNone/>
            </a:pPr>
            <a:r>
              <a:rPr b="0" i="1" lang="en-US" sz="1000" u="none" cap="none" strike="noStrike">
                <a:solidFill>
                  <a:srgbClr val="CADCFC"/>
                </a:solidFill>
                <a:latin typeface="Calibri"/>
                <a:ea typeface="Calibri"/>
                <a:cs typeface="Calibri"/>
                <a:sym typeface="Calibri"/>
              </a:rPr>
              <a:t>Local sandbox, bound to a folder you pick</a:t>
            </a:r>
            <a:endParaRPr b="0" i="0" sz="1000" u="none" cap="none" strike="noStrike">
              <a:solidFill>
                <a:schemeClr val="dk1"/>
              </a:solidFill>
              <a:latin typeface="Calibri"/>
              <a:ea typeface="Calibri"/>
              <a:cs typeface="Calibri"/>
              <a:sym typeface="Calibri"/>
            </a:endParaRPr>
          </a:p>
        </p:txBody>
      </p:sp>
      <p:sp>
        <p:nvSpPr>
          <p:cNvPr id="437" name="Google Shape;437;p16"/>
          <p:cNvSpPr/>
          <p:nvPr/>
        </p:nvSpPr>
        <p:spPr>
          <a:xfrm>
            <a:off x="4937760" y="2011680"/>
            <a:ext cx="3566160" cy="210312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212121"/>
              </a:buClr>
              <a:buSzPts val="1100"/>
              <a:buFont typeface="Calibri"/>
              <a:buChar char="•"/>
            </a:pPr>
            <a:r>
              <a:rPr b="0" i="0" lang="en-US" sz="1100" u="none" cap="none" strike="noStrike">
                <a:solidFill>
                  <a:srgbClr val="212121"/>
                </a:solidFill>
                <a:latin typeface="Calibri"/>
                <a:ea typeface="Calibri"/>
                <a:cs typeface="Calibri"/>
                <a:sym typeface="Calibri"/>
              </a:rPr>
              <a:t>One architecture, several surfaces — see badges below.</a:t>
            </a:r>
            <a:endParaRPr b="0" i="0" sz="11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212121"/>
              </a:buClr>
              <a:buSzPts val="1100"/>
              <a:buFont typeface="Calibri"/>
              <a:buChar char="•"/>
            </a:pPr>
            <a:r>
              <a:rPr b="0" i="0" lang="en-US" sz="1100" u="none" cap="none" strike="noStrike">
                <a:solidFill>
                  <a:srgbClr val="212121"/>
                </a:solidFill>
                <a:latin typeface="Calibri"/>
                <a:ea typeface="Calibri"/>
                <a:cs typeface="Calibri"/>
                <a:sym typeface="Calibri"/>
              </a:rPr>
              <a:t>Reads and edits files directly on your machine.</a:t>
            </a:r>
            <a:endParaRPr b="0" i="0" sz="11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212121"/>
              </a:buClr>
              <a:buSzPts val="1100"/>
              <a:buFont typeface="Calibri"/>
              <a:buChar char="•"/>
            </a:pPr>
            <a:r>
              <a:rPr b="0" i="0" lang="en-US" sz="1100" u="none" cap="none" strike="noStrike">
                <a:solidFill>
                  <a:srgbClr val="212121"/>
                </a:solidFill>
                <a:latin typeface="Calibri"/>
                <a:ea typeface="Calibri"/>
                <a:cs typeface="Calibri"/>
                <a:sym typeface="Calibri"/>
              </a:rPr>
              <a:t>Can run code, use computer-use, call MCP connectors.</a:t>
            </a:r>
            <a:endParaRPr b="0" i="0" sz="11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212121"/>
              </a:buClr>
              <a:buSzPts val="1100"/>
              <a:buFont typeface="Calibri"/>
              <a:buChar char="•"/>
            </a:pPr>
            <a:r>
              <a:rPr b="0" i="0" lang="en-US" sz="1100" u="none" cap="none" strike="noStrike">
                <a:solidFill>
                  <a:srgbClr val="212121"/>
                </a:solidFill>
                <a:latin typeface="Calibri"/>
                <a:ea typeface="Calibri"/>
                <a:cs typeface="Calibri"/>
                <a:sym typeface="Calibri"/>
              </a:rPr>
              <a:t>Memory and skills persist inside the selected folder.</a:t>
            </a:r>
            <a:endParaRPr b="0" i="0" sz="11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212121"/>
              </a:buClr>
              <a:buSzPts val="1100"/>
              <a:buFont typeface="Calibri"/>
              <a:buChar char="•"/>
            </a:pPr>
            <a:r>
              <a:rPr b="0" i="0" lang="en-US" sz="1100" u="none" cap="none" strike="noStrike">
                <a:solidFill>
                  <a:srgbClr val="212121"/>
                </a:solidFill>
                <a:latin typeface="Calibri"/>
                <a:ea typeface="Calibri"/>
                <a:cs typeface="Calibri"/>
                <a:sym typeface="Calibri"/>
              </a:rPr>
              <a:t>Great for: real work on real files — this deck, for example.</a:t>
            </a:r>
            <a:endParaRPr b="0" i="0" sz="1100" u="none" cap="none" strike="noStrike">
              <a:solidFill>
                <a:schemeClr val="dk1"/>
              </a:solidFill>
              <a:latin typeface="Calibri"/>
              <a:ea typeface="Calibri"/>
              <a:cs typeface="Calibri"/>
              <a:sym typeface="Calibri"/>
            </a:endParaRPr>
          </a:p>
        </p:txBody>
      </p:sp>
      <p:sp>
        <p:nvSpPr>
          <p:cNvPr id="438" name="Google Shape;438;p16"/>
          <p:cNvSpPr/>
          <p:nvPr/>
        </p:nvSpPr>
        <p:spPr>
          <a:xfrm>
            <a:off x="4754880" y="4343400"/>
            <a:ext cx="1325880" cy="292608"/>
          </a:xfrm>
          <a:prstGeom prst="roundRect">
            <a:avLst>
              <a:gd fmla="val 18750" name="adj"/>
            </a:avLst>
          </a:prstGeom>
          <a:solidFill>
            <a:srgbClr val="F7F6F5"/>
          </a:solidFill>
          <a:ln cap="flat" cmpd="sng" w="12700">
            <a:solidFill>
              <a:srgbClr val="5D7A8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16"/>
          <p:cNvSpPr/>
          <p:nvPr/>
        </p:nvSpPr>
        <p:spPr>
          <a:xfrm>
            <a:off x="4754880" y="4343400"/>
            <a:ext cx="132588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5672"/>
              </a:buClr>
              <a:buSzPts val="950"/>
              <a:buFont typeface="Calibri"/>
              <a:buNone/>
            </a:pPr>
            <a:r>
              <a:rPr b="1" i="0" lang="en-US" sz="950" u="none" cap="none" strike="noStrike">
                <a:solidFill>
                  <a:srgbClr val="2B5672"/>
                </a:solidFill>
                <a:latin typeface="Calibri"/>
                <a:ea typeface="Calibri"/>
                <a:cs typeface="Calibri"/>
                <a:sym typeface="Calibri"/>
              </a:rPr>
              <a:t>Claude Code  (CLI)</a:t>
            </a:r>
            <a:endParaRPr b="0" i="0" sz="950" u="none" cap="none" strike="noStrike">
              <a:solidFill>
                <a:schemeClr val="dk1"/>
              </a:solidFill>
              <a:latin typeface="Calibri"/>
              <a:ea typeface="Calibri"/>
              <a:cs typeface="Calibri"/>
              <a:sym typeface="Calibri"/>
            </a:endParaRPr>
          </a:p>
        </p:txBody>
      </p:sp>
      <p:sp>
        <p:nvSpPr>
          <p:cNvPr id="440" name="Google Shape;440;p16"/>
          <p:cNvSpPr/>
          <p:nvPr/>
        </p:nvSpPr>
        <p:spPr>
          <a:xfrm>
            <a:off x="6153912" y="4343400"/>
            <a:ext cx="1234440" cy="292608"/>
          </a:xfrm>
          <a:prstGeom prst="roundRect">
            <a:avLst>
              <a:gd fmla="val 18750" name="adj"/>
            </a:avLst>
          </a:prstGeom>
          <a:solidFill>
            <a:srgbClr val="F7F6F5"/>
          </a:solidFill>
          <a:ln cap="flat" cmpd="sng" w="12700">
            <a:solidFill>
              <a:srgbClr val="5D7A8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16"/>
          <p:cNvSpPr/>
          <p:nvPr/>
        </p:nvSpPr>
        <p:spPr>
          <a:xfrm>
            <a:off x="6153912" y="4343400"/>
            <a:ext cx="123444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5672"/>
              </a:buClr>
              <a:buSzPts val="950"/>
              <a:buFont typeface="Calibri"/>
              <a:buNone/>
            </a:pPr>
            <a:r>
              <a:rPr b="1" i="0" lang="en-US" sz="950" u="none" cap="none" strike="noStrike">
                <a:solidFill>
                  <a:srgbClr val="2B5672"/>
                </a:solidFill>
                <a:latin typeface="Calibri"/>
                <a:ea typeface="Calibri"/>
                <a:cs typeface="Calibri"/>
                <a:sym typeface="Calibri"/>
              </a:rPr>
              <a:t>Cowork  (desktop)</a:t>
            </a:r>
            <a:endParaRPr b="0" i="0" sz="950" u="none" cap="none" strike="noStrike">
              <a:solidFill>
                <a:schemeClr val="dk1"/>
              </a:solidFill>
              <a:latin typeface="Calibri"/>
              <a:ea typeface="Calibri"/>
              <a:cs typeface="Calibri"/>
              <a:sym typeface="Calibri"/>
            </a:endParaRPr>
          </a:p>
        </p:txBody>
      </p:sp>
      <p:sp>
        <p:nvSpPr>
          <p:cNvPr id="442" name="Google Shape;442;p16"/>
          <p:cNvSpPr/>
          <p:nvPr/>
        </p:nvSpPr>
        <p:spPr>
          <a:xfrm>
            <a:off x="7461504" y="4343400"/>
            <a:ext cx="1508760" cy="292608"/>
          </a:xfrm>
          <a:prstGeom prst="roundRect">
            <a:avLst>
              <a:gd fmla="val 18750" name="adj"/>
            </a:avLst>
          </a:prstGeom>
          <a:solidFill>
            <a:srgbClr val="F7F6F5"/>
          </a:solidFill>
          <a:ln cap="flat" cmpd="sng" w="12700">
            <a:solidFill>
              <a:srgbClr val="5D7A8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6"/>
          <p:cNvSpPr/>
          <p:nvPr/>
        </p:nvSpPr>
        <p:spPr>
          <a:xfrm>
            <a:off x="7461504" y="4343400"/>
            <a:ext cx="150876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5672"/>
              </a:buClr>
              <a:buSzPts val="950"/>
              <a:buFont typeface="Calibri"/>
              <a:buNone/>
            </a:pPr>
            <a:r>
              <a:rPr b="1" i="0" lang="en-US" sz="950" u="none" cap="none" strike="noStrike">
                <a:solidFill>
                  <a:srgbClr val="2B5672"/>
                </a:solidFill>
                <a:latin typeface="Calibri"/>
                <a:ea typeface="Calibri"/>
                <a:cs typeface="Calibri"/>
                <a:sym typeface="Calibri"/>
              </a:rPr>
              <a:t>Claude app  (agent panel)</a:t>
            </a:r>
            <a:endParaRPr b="0" i="0" sz="950" u="none" cap="none" strike="noStrike">
              <a:solidFill>
                <a:schemeClr val="dk1"/>
              </a:solidFill>
              <a:latin typeface="Calibri"/>
              <a:ea typeface="Calibri"/>
              <a:cs typeface="Calibri"/>
              <a:sym typeface="Calibri"/>
            </a:endParaRPr>
          </a:p>
        </p:txBody>
      </p:sp>
      <p:sp>
        <p:nvSpPr>
          <p:cNvPr id="444" name="Google Shape;444;p16"/>
          <p:cNvSpPr/>
          <p:nvPr/>
        </p:nvSpPr>
        <p:spPr>
          <a:xfrm>
            <a:off x="4709160" y="4096512"/>
            <a:ext cx="4023360" cy="2103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25258"/>
              </a:buClr>
              <a:buSzPts val="950"/>
              <a:buFont typeface="Calibri"/>
              <a:buNone/>
            </a:pPr>
            <a:r>
              <a:rPr b="0" i="1" lang="en-US" sz="950" u="none" cap="none" strike="noStrike">
                <a:solidFill>
                  <a:srgbClr val="525258"/>
                </a:solidFill>
                <a:latin typeface="Calibri"/>
                <a:ea typeface="Calibri"/>
                <a:cs typeface="Calibri"/>
                <a:sym typeface="Calibri"/>
              </a:rPr>
              <a:t>same architecture, different surfaces:</a:t>
            </a:r>
            <a:endParaRPr b="0" i="0" sz="950" u="none" cap="none" strike="noStrike">
              <a:solidFill>
                <a:schemeClr val="dk1"/>
              </a:solidFill>
              <a:latin typeface="Calibri"/>
              <a:ea typeface="Calibri"/>
              <a:cs typeface="Calibri"/>
              <a:sym typeface="Calibri"/>
            </a:endParaRPr>
          </a:p>
        </p:txBody>
      </p:sp>
      <p:sp>
        <p:nvSpPr>
          <p:cNvPr id="445" name="Google Shape;445;p16"/>
          <p:cNvSpPr/>
          <p:nvPr/>
        </p:nvSpPr>
        <p:spPr>
          <a:xfrm>
            <a:off x="411480" y="4697831"/>
            <a:ext cx="83211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5672"/>
              </a:buClr>
              <a:buSzPts val="1100"/>
              <a:buFont typeface="Calibri"/>
              <a:buNone/>
            </a:pPr>
            <a:r>
              <a:rPr b="1" i="1" lang="en-US" sz="1100" u="none" cap="none" strike="noStrike">
                <a:solidFill>
                  <a:srgbClr val="2B5672"/>
                </a:solidFill>
                <a:latin typeface="Calibri"/>
                <a:ea typeface="Calibri"/>
                <a:cs typeface="Calibri"/>
                <a:sym typeface="Calibri"/>
              </a:rPr>
              <a:t>Rule of thumb:  Chat is a whiteboard. File-native Claude is a workshop in your actual office.</a:t>
            </a:r>
            <a:endParaRPr b="0" i="0" sz="1100" u="none" cap="none" strike="noStrike">
              <a:solidFill>
                <a:schemeClr val="dk1"/>
              </a:solidFill>
              <a:latin typeface="Calibri"/>
              <a:ea typeface="Calibri"/>
              <a:cs typeface="Calibri"/>
              <a:sym typeface="Calibri"/>
            </a:endParaRPr>
          </a:p>
        </p:txBody>
      </p:sp>
      <p:sp>
        <p:nvSpPr>
          <p:cNvPr id="446" name="Google Shape;446;p16"/>
          <p:cNvSpPr/>
          <p:nvPr/>
        </p:nvSpPr>
        <p:spPr>
          <a:xfrm>
            <a:off x="8412480" y="486460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25258"/>
              </a:buClr>
              <a:buSzPts val="900"/>
              <a:buFont typeface="Calibri"/>
              <a:buNone/>
            </a:pPr>
            <a:r>
              <a:rPr b="0" i="0" lang="en-US" sz="900" u="none" cap="none" strike="noStrike">
                <a:solidFill>
                  <a:srgbClr val="525258"/>
                </a:solidFill>
                <a:latin typeface="Calibri"/>
                <a:ea typeface="Calibri"/>
                <a:cs typeface="Calibri"/>
                <a:sym typeface="Calibri"/>
              </a:rPr>
              <a:t>11</a:t>
            </a:r>
            <a:endParaRPr b="0" i="0" sz="900" u="none" cap="none" strike="noStrike">
              <a:solidFill>
                <a:schemeClr val="dk1"/>
              </a:solidFill>
              <a:latin typeface="Calibri"/>
              <a:ea typeface="Calibri"/>
              <a:cs typeface="Calibri"/>
              <a:sym typeface="Calibri"/>
            </a:endParaRPr>
          </a:p>
        </p:txBody>
      </p:sp>
      <p:sp>
        <p:nvSpPr>
          <p:cNvPr id="447" name="Google Shape;447;p16"/>
          <p:cNvSpPr/>
          <p:nvPr/>
        </p:nvSpPr>
        <p:spPr>
          <a:xfrm>
            <a:off x="411480" y="4864608"/>
            <a:ext cx="54864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25258"/>
              </a:buClr>
              <a:buSzPts val="900"/>
              <a:buFont typeface="Calibri"/>
              <a:buNone/>
            </a:pPr>
            <a:r>
              <a:rPr b="0" i="0" lang="en-US" sz="900" u="none" cap="none" strike="noStrike">
                <a:solidFill>
                  <a:srgbClr val="525258"/>
                </a:solidFill>
                <a:latin typeface="Calibri"/>
                <a:ea typeface="Calibri"/>
                <a:cs typeface="Calibri"/>
                <a:sym typeface="Calibri"/>
              </a:rPr>
              <a:t>How Claude Works  ·</a:t>
            </a:r>
            <a:r>
              <a:rPr lang="en-US" sz="900">
                <a:solidFill>
                  <a:srgbClr val="525258"/>
                </a:solidFill>
                <a:latin typeface="Calibri"/>
                <a:ea typeface="Calibri"/>
                <a:cs typeface="Calibri"/>
                <a:sym typeface="Calibri"/>
              </a:rPr>
              <a:t> Giulio Ruffini</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2" name="Shape 452"/>
        <p:cNvGrpSpPr/>
        <p:nvPr/>
      </p:nvGrpSpPr>
      <p:grpSpPr>
        <a:xfrm>
          <a:off x="0" y="0"/>
          <a:ext cx="0" cy="0"/>
          <a:chOff x="0" y="0"/>
          <a:chExt cx="0" cy="0"/>
        </a:xfrm>
      </p:grpSpPr>
      <p:sp>
        <p:nvSpPr>
          <p:cNvPr id="453" name="Google Shape;453;p17"/>
          <p:cNvSpPr/>
          <p:nvPr/>
        </p:nvSpPr>
        <p:spPr>
          <a:xfrm>
            <a:off x="0" y="0"/>
            <a:ext cx="73152" cy="5143500"/>
          </a:xfrm>
          <a:prstGeom prst="rect">
            <a:avLst/>
          </a:prstGeom>
          <a:solidFill>
            <a:srgbClr val="2B5672"/>
          </a:solidFill>
          <a:ln cap="flat" cmpd="sng" w="12700">
            <a:solidFill>
              <a:srgbClr val="2B56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17"/>
          <p:cNvSpPr/>
          <p:nvPr/>
        </p:nvSpPr>
        <p:spPr>
          <a:xfrm>
            <a:off x="411480" y="256032"/>
            <a:ext cx="83210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D7A8E"/>
              </a:buClr>
              <a:buSzPts val="1000"/>
              <a:buFont typeface="Calibri"/>
              <a:buNone/>
            </a:pPr>
            <a:r>
              <a:rPr b="1" i="0" lang="en-US" sz="1000" u="none" cap="none" strike="noStrike">
                <a:solidFill>
                  <a:srgbClr val="5D7A8E"/>
                </a:solidFill>
                <a:latin typeface="Calibri"/>
                <a:ea typeface="Calibri"/>
                <a:cs typeface="Calibri"/>
                <a:sym typeface="Calibri"/>
              </a:rPr>
              <a:t>WRAP-UP</a:t>
            </a:r>
            <a:endParaRPr b="0" i="0" sz="1000" u="none" cap="none" strike="noStrike">
              <a:solidFill>
                <a:schemeClr val="dk1"/>
              </a:solidFill>
              <a:latin typeface="Calibri"/>
              <a:ea typeface="Calibri"/>
              <a:cs typeface="Calibri"/>
              <a:sym typeface="Calibri"/>
            </a:endParaRPr>
          </a:p>
        </p:txBody>
      </p:sp>
      <p:sp>
        <p:nvSpPr>
          <p:cNvPr id="455" name="Google Shape;455;p17"/>
          <p:cNvSpPr/>
          <p:nvPr/>
        </p:nvSpPr>
        <p:spPr>
          <a:xfrm>
            <a:off x="411480" y="502920"/>
            <a:ext cx="83210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5672"/>
              </a:buClr>
              <a:buSzPts val="2400"/>
              <a:buFont typeface="Georgia"/>
              <a:buNone/>
            </a:pPr>
            <a:r>
              <a:rPr b="1" i="0" lang="en-US" sz="2400" u="none" cap="none" strike="noStrike">
                <a:solidFill>
                  <a:srgbClr val="2B5672"/>
                </a:solidFill>
                <a:latin typeface="Georgia"/>
                <a:ea typeface="Georgia"/>
                <a:cs typeface="Georgia"/>
                <a:sym typeface="Georgia"/>
              </a:rPr>
              <a:t>What to remember</a:t>
            </a:r>
            <a:endParaRPr b="0" i="0" sz="2400" u="none" cap="none" strike="noStrike">
              <a:solidFill>
                <a:schemeClr val="dk1"/>
              </a:solidFill>
              <a:latin typeface="Calibri"/>
              <a:ea typeface="Calibri"/>
              <a:cs typeface="Calibri"/>
              <a:sym typeface="Calibri"/>
            </a:endParaRPr>
          </a:p>
        </p:txBody>
      </p:sp>
      <p:sp>
        <p:nvSpPr>
          <p:cNvPr id="456" name="Google Shape;456;p17"/>
          <p:cNvSpPr/>
          <p:nvPr/>
        </p:nvSpPr>
        <p:spPr>
          <a:xfrm>
            <a:off x="502920" y="985594"/>
            <a:ext cx="475500" cy="475500"/>
          </a:xfrm>
          <a:prstGeom prst="ellipse">
            <a:avLst/>
          </a:prstGeom>
          <a:solidFill>
            <a:srgbClr val="5D7A8E"/>
          </a:solidFill>
          <a:ln cap="flat" cmpd="sng" w="12700">
            <a:solidFill>
              <a:srgbClr val="5D7A8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17"/>
          <p:cNvSpPr/>
          <p:nvPr/>
        </p:nvSpPr>
        <p:spPr>
          <a:xfrm>
            <a:off x="502920" y="985594"/>
            <a:ext cx="475500" cy="475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Georgia"/>
              <a:buNone/>
            </a:pPr>
            <a:r>
              <a:rPr b="1" i="0" lang="en-US" sz="2000" u="none" cap="none" strike="noStrike">
                <a:solidFill>
                  <a:srgbClr val="FFFFFF"/>
                </a:solidFill>
                <a:latin typeface="Georgia"/>
                <a:ea typeface="Georgia"/>
                <a:cs typeface="Georgia"/>
                <a:sym typeface="Georgia"/>
              </a:rPr>
              <a:t>1</a:t>
            </a:r>
            <a:endParaRPr b="0" i="0" sz="2000" u="none" cap="none" strike="noStrike">
              <a:solidFill>
                <a:schemeClr val="dk1"/>
              </a:solidFill>
              <a:latin typeface="Calibri"/>
              <a:ea typeface="Calibri"/>
              <a:cs typeface="Calibri"/>
              <a:sym typeface="Calibri"/>
            </a:endParaRPr>
          </a:p>
        </p:txBody>
      </p:sp>
      <p:sp>
        <p:nvSpPr>
          <p:cNvPr id="458" name="Google Shape;458;p17"/>
          <p:cNvSpPr/>
          <p:nvPr/>
        </p:nvSpPr>
        <p:spPr>
          <a:xfrm>
            <a:off x="1143000" y="958162"/>
            <a:ext cx="75894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5672"/>
              </a:buClr>
              <a:buSzPts val="1400"/>
              <a:buFont typeface="Georgia"/>
              <a:buNone/>
            </a:pPr>
            <a:r>
              <a:rPr b="1" i="0" lang="en-US" sz="1400" u="none" cap="none" strike="noStrike">
                <a:solidFill>
                  <a:srgbClr val="2B5672"/>
                </a:solidFill>
                <a:latin typeface="Georgia"/>
                <a:ea typeface="Georgia"/>
                <a:cs typeface="Georgia"/>
                <a:sym typeface="Georgia"/>
              </a:rPr>
              <a:t>It's a next-token predictor.</a:t>
            </a:r>
            <a:endParaRPr b="0" i="0" sz="1400" u="none" cap="none" strike="noStrike">
              <a:solidFill>
                <a:schemeClr val="dk1"/>
              </a:solidFill>
              <a:latin typeface="Calibri"/>
              <a:ea typeface="Calibri"/>
              <a:cs typeface="Calibri"/>
              <a:sym typeface="Calibri"/>
            </a:endParaRPr>
          </a:p>
        </p:txBody>
      </p:sp>
      <p:sp>
        <p:nvSpPr>
          <p:cNvPr id="459" name="Google Shape;459;p17"/>
          <p:cNvSpPr/>
          <p:nvPr/>
        </p:nvSpPr>
        <p:spPr>
          <a:xfrm>
            <a:off x="1143000" y="1259914"/>
            <a:ext cx="7589400" cy="365700"/>
          </a:xfrm>
          <a:prstGeom prst="rect">
            <a:avLst/>
          </a:prstGeom>
          <a:solidFill>
            <a:srgbClr val="FFE599"/>
          </a:solidFill>
          <a:ln>
            <a:noFill/>
          </a:ln>
        </p:spPr>
        <p:txBody>
          <a:bodyPr anchorCtr="0" anchor="ctr" bIns="0" lIns="0" spcFirstLastPara="1" rIns="0" wrap="square" tIns="0">
            <a:noAutofit/>
          </a:bodyPr>
          <a:lstStyle/>
          <a:p>
            <a:pPr indent="0" lvl="0" marL="0" marR="0" rtl="0" algn="l">
              <a:spcBef>
                <a:spcPts val="0"/>
              </a:spcBef>
              <a:spcAft>
                <a:spcPts val="0"/>
              </a:spcAft>
              <a:buClr>
                <a:srgbClr val="212121"/>
              </a:buClr>
              <a:buSzPts val="1100"/>
              <a:buFont typeface="Calibri"/>
              <a:buNone/>
            </a:pPr>
            <a:r>
              <a:rPr b="0" i="0" lang="en-US" sz="1100" u="none" cap="none" strike="noStrike">
                <a:solidFill>
                  <a:srgbClr val="212121"/>
                </a:solidFill>
                <a:latin typeface="Calibri"/>
                <a:ea typeface="Calibri"/>
                <a:cs typeface="Calibri"/>
                <a:sym typeface="Calibri"/>
              </a:rPr>
              <a:t>Trained on huge text corpora, then aligned with human feedback.</a:t>
            </a:r>
            <a:endParaRPr b="0" i="0" sz="1100" u="none" cap="none" strike="noStrike">
              <a:solidFill>
                <a:schemeClr val="dk1"/>
              </a:solidFill>
              <a:latin typeface="Calibri"/>
              <a:ea typeface="Calibri"/>
              <a:cs typeface="Calibri"/>
              <a:sym typeface="Calibri"/>
            </a:endParaRPr>
          </a:p>
        </p:txBody>
      </p:sp>
      <p:sp>
        <p:nvSpPr>
          <p:cNvPr id="460" name="Google Shape;460;p17"/>
          <p:cNvSpPr/>
          <p:nvPr/>
        </p:nvSpPr>
        <p:spPr>
          <a:xfrm>
            <a:off x="502920" y="1696385"/>
            <a:ext cx="475500" cy="475500"/>
          </a:xfrm>
          <a:prstGeom prst="ellipse">
            <a:avLst/>
          </a:prstGeom>
          <a:solidFill>
            <a:srgbClr val="5D7A8E"/>
          </a:solidFill>
          <a:ln cap="flat" cmpd="sng" w="12700">
            <a:solidFill>
              <a:srgbClr val="5D7A8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17"/>
          <p:cNvSpPr/>
          <p:nvPr/>
        </p:nvSpPr>
        <p:spPr>
          <a:xfrm>
            <a:off x="502920" y="1696385"/>
            <a:ext cx="475500" cy="475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Georgia"/>
              <a:buNone/>
            </a:pPr>
            <a:r>
              <a:rPr b="1" i="0" lang="en-US" sz="2000" u="none" cap="none" strike="noStrike">
                <a:solidFill>
                  <a:srgbClr val="FFFFFF"/>
                </a:solidFill>
                <a:latin typeface="Georgia"/>
                <a:ea typeface="Georgia"/>
                <a:cs typeface="Georgia"/>
                <a:sym typeface="Georgia"/>
              </a:rPr>
              <a:t>2</a:t>
            </a:r>
            <a:endParaRPr b="0" i="0" sz="2000" u="none" cap="none" strike="noStrike">
              <a:solidFill>
                <a:schemeClr val="dk1"/>
              </a:solidFill>
              <a:latin typeface="Calibri"/>
              <a:ea typeface="Calibri"/>
              <a:cs typeface="Calibri"/>
              <a:sym typeface="Calibri"/>
            </a:endParaRPr>
          </a:p>
        </p:txBody>
      </p:sp>
      <p:sp>
        <p:nvSpPr>
          <p:cNvPr id="462" name="Google Shape;462;p17"/>
          <p:cNvSpPr/>
          <p:nvPr/>
        </p:nvSpPr>
        <p:spPr>
          <a:xfrm>
            <a:off x="1143000" y="1668953"/>
            <a:ext cx="75894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5672"/>
              </a:buClr>
              <a:buSzPts val="1400"/>
              <a:buFont typeface="Georgia"/>
              <a:buNone/>
            </a:pPr>
            <a:r>
              <a:rPr b="1" i="0" lang="en-US" sz="1400" u="none" cap="none" strike="noStrike">
                <a:solidFill>
                  <a:srgbClr val="2B5672"/>
                </a:solidFill>
                <a:latin typeface="Georgia"/>
                <a:ea typeface="Georgia"/>
                <a:cs typeface="Georgia"/>
                <a:sym typeface="Georgia"/>
              </a:rPr>
              <a:t>Every answer is shaped by its context stack.</a:t>
            </a:r>
            <a:endParaRPr b="0" i="0" sz="1400" u="none" cap="none" strike="noStrike">
              <a:solidFill>
                <a:schemeClr val="dk1"/>
              </a:solidFill>
              <a:latin typeface="Calibri"/>
              <a:ea typeface="Calibri"/>
              <a:cs typeface="Calibri"/>
              <a:sym typeface="Calibri"/>
            </a:endParaRPr>
          </a:p>
        </p:txBody>
      </p:sp>
      <p:sp>
        <p:nvSpPr>
          <p:cNvPr id="463" name="Google Shape;463;p17"/>
          <p:cNvSpPr/>
          <p:nvPr/>
        </p:nvSpPr>
        <p:spPr>
          <a:xfrm>
            <a:off x="1143000" y="1970705"/>
            <a:ext cx="7589400" cy="365700"/>
          </a:xfrm>
          <a:prstGeom prst="rect">
            <a:avLst/>
          </a:prstGeom>
          <a:solidFill>
            <a:srgbClr val="FFE599"/>
          </a:solidFill>
          <a:ln>
            <a:noFill/>
          </a:ln>
        </p:spPr>
        <p:txBody>
          <a:bodyPr anchorCtr="0" anchor="ctr" bIns="0" lIns="0" spcFirstLastPara="1" rIns="0" wrap="square" tIns="0">
            <a:noAutofit/>
          </a:bodyPr>
          <a:lstStyle/>
          <a:p>
            <a:pPr indent="0" lvl="0" marL="0" marR="0" rtl="0" algn="l">
              <a:spcBef>
                <a:spcPts val="0"/>
              </a:spcBef>
              <a:spcAft>
                <a:spcPts val="0"/>
              </a:spcAft>
              <a:buClr>
                <a:srgbClr val="212121"/>
              </a:buClr>
              <a:buSzPts val="1100"/>
              <a:buFont typeface="Calibri"/>
              <a:buNone/>
            </a:pPr>
            <a:r>
              <a:rPr b="0" i="0" lang="en-US" sz="1100" u="none" cap="none" strike="noStrike">
                <a:solidFill>
                  <a:srgbClr val="212121"/>
                </a:solidFill>
                <a:latin typeface="Calibri"/>
                <a:ea typeface="Calibri"/>
                <a:cs typeface="Calibri"/>
                <a:sym typeface="Calibri"/>
              </a:rPr>
              <a:t>System prompt + CLAUDE.md files + skills + your message. Rules near the top usually win.</a:t>
            </a:r>
            <a:endParaRPr b="0" i="0" sz="1100" u="none" cap="none" strike="noStrike">
              <a:solidFill>
                <a:schemeClr val="dk1"/>
              </a:solidFill>
              <a:latin typeface="Calibri"/>
              <a:ea typeface="Calibri"/>
              <a:cs typeface="Calibri"/>
              <a:sym typeface="Calibri"/>
            </a:endParaRPr>
          </a:p>
        </p:txBody>
      </p:sp>
      <p:sp>
        <p:nvSpPr>
          <p:cNvPr id="464" name="Google Shape;464;p17"/>
          <p:cNvSpPr/>
          <p:nvPr/>
        </p:nvSpPr>
        <p:spPr>
          <a:xfrm>
            <a:off x="502920" y="2491913"/>
            <a:ext cx="475500" cy="475500"/>
          </a:xfrm>
          <a:prstGeom prst="ellipse">
            <a:avLst/>
          </a:prstGeom>
          <a:solidFill>
            <a:srgbClr val="5D7A8E"/>
          </a:solidFill>
          <a:ln cap="flat" cmpd="sng" w="12700">
            <a:solidFill>
              <a:srgbClr val="5D7A8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17"/>
          <p:cNvSpPr/>
          <p:nvPr/>
        </p:nvSpPr>
        <p:spPr>
          <a:xfrm>
            <a:off x="502920" y="2491913"/>
            <a:ext cx="475500" cy="475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Georgia"/>
              <a:buNone/>
            </a:pPr>
            <a:r>
              <a:rPr b="1" i="0" lang="en-US" sz="2000" u="none" cap="none" strike="noStrike">
                <a:solidFill>
                  <a:srgbClr val="FFFFFF"/>
                </a:solidFill>
                <a:latin typeface="Georgia"/>
                <a:ea typeface="Georgia"/>
                <a:cs typeface="Georgia"/>
                <a:sym typeface="Georgia"/>
              </a:rPr>
              <a:t>3</a:t>
            </a:r>
            <a:endParaRPr b="0" i="0" sz="2000" u="none" cap="none" strike="noStrike">
              <a:solidFill>
                <a:schemeClr val="dk1"/>
              </a:solidFill>
              <a:latin typeface="Calibri"/>
              <a:ea typeface="Calibri"/>
              <a:cs typeface="Calibri"/>
              <a:sym typeface="Calibri"/>
            </a:endParaRPr>
          </a:p>
        </p:txBody>
      </p:sp>
      <p:sp>
        <p:nvSpPr>
          <p:cNvPr id="466" name="Google Shape;466;p17"/>
          <p:cNvSpPr/>
          <p:nvPr/>
        </p:nvSpPr>
        <p:spPr>
          <a:xfrm>
            <a:off x="1143000" y="2464481"/>
            <a:ext cx="75894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5672"/>
              </a:buClr>
              <a:buSzPts val="1400"/>
              <a:buFont typeface="Georgia"/>
              <a:buNone/>
            </a:pPr>
            <a:r>
              <a:rPr b="1" i="0" lang="en-US" sz="1400" u="none" cap="none" strike="noStrike">
                <a:solidFill>
                  <a:srgbClr val="2B5672"/>
                </a:solidFill>
                <a:latin typeface="Georgia"/>
                <a:ea typeface="Georgia"/>
                <a:cs typeface="Georgia"/>
                <a:sym typeface="Georgia"/>
              </a:rPr>
              <a:t>Chat is server-side; everything else is file-native.</a:t>
            </a:r>
            <a:endParaRPr b="0" i="0" sz="1400" u="none" cap="none" strike="noStrike">
              <a:solidFill>
                <a:schemeClr val="dk1"/>
              </a:solidFill>
              <a:latin typeface="Calibri"/>
              <a:ea typeface="Calibri"/>
              <a:cs typeface="Calibri"/>
              <a:sym typeface="Calibri"/>
            </a:endParaRPr>
          </a:p>
        </p:txBody>
      </p:sp>
      <p:sp>
        <p:nvSpPr>
          <p:cNvPr id="467" name="Google Shape;467;p17"/>
          <p:cNvSpPr/>
          <p:nvPr/>
        </p:nvSpPr>
        <p:spPr>
          <a:xfrm>
            <a:off x="1143000" y="2766233"/>
            <a:ext cx="7589400" cy="365700"/>
          </a:xfrm>
          <a:prstGeom prst="rect">
            <a:avLst/>
          </a:prstGeom>
          <a:solidFill>
            <a:srgbClr val="FFE599"/>
          </a:solidFill>
          <a:ln>
            <a:noFill/>
          </a:ln>
        </p:spPr>
        <p:txBody>
          <a:bodyPr anchorCtr="0" anchor="ctr" bIns="0" lIns="0" spcFirstLastPara="1" rIns="0" wrap="square" tIns="0">
            <a:noAutofit/>
          </a:bodyPr>
          <a:lstStyle/>
          <a:p>
            <a:pPr indent="0" lvl="0" marL="0" marR="0" rtl="0" algn="l">
              <a:spcBef>
                <a:spcPts val="0"/>
              </a:spcBef>
              <a:spcAft>
                <a:spcPts val="0"/>
              </a:spcAft>
              <a:buClr>
                <a:srgbClr val="212121"/>
              </a:buClr>
              <a:buSzPts val="1100"/>
              <a:buFont typeface="Calibri"/>
              <a:buNone/>
            </a:pPr>
            <a:r>
              <a:rPr b="0" i="0" lang="en-US" sz="1100" u="none" cap="none" strike="noStrike">
                <a:solidFill>
                  <a:srgbClr val="212121"/>
                </a:solidFill>
                <a:latin typeface="Calibri"/>
                <a:ea typeface="Calibri"/>
                <a:cs typeface="Calibri"/>
                <a:sym typeface="Calibri"/>
              </a:rPr>
              <a:t>Claude Code, Cowork, and the Claude-app agent panel all share one local-sandbox architecture.</a:t>
            </a:r>
            <a:endParaRPr b="0" i="0" sz="1100" u="none" cap="none" strike="noStrike">
              <a:solidFill>
                <a:schemeClr val="dk1"/>
              </a:solidFill>
              <a:latin typeface="Calibri"/>
              <a:ea typeface="Calibri"/>
              <a:cs typeface="Calibri"/>
              <a:sym typeface="Calibri"/>
            </a:endParaRPr>
          </a:p>
        </p:txBody>
      </p:sp>
      <p:sp>
        <p:nvSpPr>
          <p:cNvPr id="468" name="Google Shape;468;p17"/>
          <p:cNvSpPr/>
          <p:nvPr/>
        </p:nvSpPr>
        <p:spPr>
          <a:xfrm>
            <a:off x="502920" y="3177284"/>
            <a:ext cx="475500" cy="475500"/>
          </a:xfrm>
          <a:prstGeom prst="ellipse">
            <a:avLst/>
          </a:prstGeom>
          <a:solidFill>
            <a:srgbClr val="5D7A8E"/>
          </a:solidFill>
          <a:ln cap="flat" cmpd="sng" w="12700">
            <a:solidFill>
              <a:srgbClr val="5D7A8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17"/>
          <p:cNvSpPr/>
          <p:nvPr/>
        </p:nvSpPr>
        <p:spPr>
          <a:xfrm>
            <a:off x="502920" y="3177284"/>
            <a:ext cx="475500" cy="475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Georgia"/>
              <a:buNone/>
            </a:pPr>
            <a:r>
              <a:rPr b="1" i="0" lang="en-US" sz="2000" u="none" cap="none" strike="noStrike">
                <a:solidFill>
                  <a:srgbClr val="FFFFFF"/>
                </a:solidFill>
                <a:latin typeface="Georgia"/>
                <a:ea typeface="Georgia"/>
                <a:cs typeface="Georgia"/>
                <a:sym typeface="Georgia"/>
              </a:rPr>
              <a:t>4</a:t>
            </a:r>
            <a:endParaRPr b="0" i="0" sz="2000" u="none" cap="none" strike="noStrike">
              <a:solidFill>
                <a:schemeClr val="dk1"/>
              </a:solidFill>
              <a:latin typeface="Calibri"/>
              <a:ea typeface="Calibri"/>
              <a:cs typeface="Calibri"/>
              <a:sym typeface="Calibri"/>
            </a:endParaRPr>
          </a:p>
        </p:txBody>
      </p:sp>
      <p:sp>
        <p:nvSpPr>
          <p:cNvPr id="470" name="Google Shape;470;p17"/>
          <p:cNvSpPr/>
          <p:nvPr/>
        </p:nvSpPr>
        <p:spPr>
          <a:xfrm>
            <a:off x="1143000" y="3149852"/>
            <a:ext cx="75894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5672"/>
              </a:buClr>
              <a:buSzPts val="1400"/>
              <a:buFont typeface="Georgia"/>
              <a:buNone/>
            </a:pPr>
            <a:r>
              <a:rPr b="1" i="0" lang="en-US" sz="1400" u="none" cap="none" strike="noStrike">
                <a:solidFill>
                  <a:srgbClr val="2B5672"/>
                </a:solidFill>
                <a:latin typeface="Georgia"/>
                <a:ea typeface="Georgia"/>
                <a:cs typeface="Georgia"/>
                <a:sym typeface="Georgia"/>
              </a:rPr>
              <a:t>Skills and MCP are where your leverage grows.</a:t>
            </a:r>
            <a:endParaRPr b="0" i="0" sz="1400" u="none" cap="none" strike="noStrike">
              <a:solidFill>
                <a:schemeClr val="dk1"/>
              </a:solidFill>
              <a:latin typeface="Calibri"/>
              <a:ea typeface="Calibri"/>
              <a:cs typeface="Calibri"/>
              <a:sym typeface="Calibri"/>
            </a:endParaRPr>
          </a:p>
        </p:txBody>
      </p:sp>
      <p:sp>
        <p:nvSpPr>
          <p:cNvPr id="471" name="Google Shape;471;p17"/>
          <p:cNvSpPr/>
          <p:nvPr/>
        </p:nvSpPr>
        <p:spPr>
          <a:xfrm>
            <a:off x="1143000" y="3451604"/>
            <a:ext cx="7589400" cy="365700"/>
          </a:xfrm>
          <a:prstGeom prst="rect">
            <a:avLst/>
          </a:prstGeom>
          <a:solidFill>
            <a:srgbClr val="FFE599"/>
          </a:solidFill>
          <a:ln>
            <a:noFill/>
          </a:ln>
        </p:spPr>
        <p:txBody>
          <a:bodyPr anchorCtr="0" anchor="ctr" bIns="0" lIns="0" spcFirstLastPara="1" rIns="0" wrap="square" tIns="0">
            <a:noAutofit/>
          </a:bodyPr>
          <a:lstStyle/>
          <a:p>
            <a:pPr indent="0" lvl="0" marL="0" marR="0" rtl="0" algn="l">
              <a:spcBef>
                <a:spcPts val="0"/>
              </a:spcBef>
              <a:spcAft>
                <a:spcPts val="0"/>
              </a:spcAft>
              <a:buClr>
                <a:srgbClr val="212121"/>
              </a:buClr>
              <a:buSzPts val="1100"/>
              <a:buFont typeface="Calibri"/>
              <a:buNone/>
            </a:pPr>
            <a:r>
              <a:rPr b="0" i="0" lang="en-US" sz="1100" u="none" cap="none" strike="noStrike">
                <a:solidFill>
                  <a:srgbClr val="212121"/>
                </a:solidFill>
                <a:latin typeface="Calibri"/>
                <a:ea typeface="Calibri"/>
                <a:cs typeface="Calibri"/>
                <a:sym typeface="Calibri"/>
              </a:rPr>
              <a:t>NE can build its own skills and connectors around devices, protocols, and the DHF pipeline.</a:t>
            </a:r>
            <a:endParaRPr b="0" i="0" sz="1100" u="none" cap="none" strike="noStrike">
              <a:solidFill>
                <a:schemeClr val="dk1"/>
              </a:solidFill>
              <a:latin typeface="Calibri"/>
              <a:ea typeface="Calibri"/>
              <a:cs typeface="Calibri"/>
              <a:sym typeface="Calibri"/>
            </a:endParaRPr>
          </a:p>
        </p:txBody>
      </p:sp>
      <p:sp>
        <p:nvSpPr>
          <p:cNvPr id="472" name="Google Shape;472;p17"/>
          <p:cNvSpPr/>
          <p:nvPr/>
        </p:nvSpPr>
        <p:spPr>
          <a:xfrm>
            <a:off x="0" y="4617720"/>
            <a:ext cx="9144000" cy="530352"/>
          </a:xfrm>
          <a:prstGeom prst="rect">
            <a:avLst/>
          </a:prstGeom>
          <a:solidFill>
            <a:srgbClr val="2B5672"/>
          </a:solidFill>
          <a:ln cap="flat" cmpd="sng" w="12700">
            <a:solidFill>
              <a:srgbClr val="2B56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17"/>
          <p:cNvSpPr/>
          <p:nvPr/>
        </p:nvSpPr>
        <p:spPr>
          <a:xfrm>
            <a:off x="411480" y="4617720"/>
            <a:ext cx="8321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D7A8E"/>
              </a:buClr>
              <a:buSzPts val="1100"/>
              <a:buFont typeface="Calibri"/>
              <a:buNone/>
            </a:pPr>
            <a:r>
              <a:rPr b="1" i="0" lang="en-US" sz="1100" u="none" cap="none" strike="noStrike">
                <a:solidFill>
                  <a:srgbClr val="5D7A8E"/>
                </a:solidFill>
                <a:latin typeface="Calibri"/>
                <a:ea typeface="Calibri"/>
                <a:cs typeface="Calibri"/>
                <a:sym typeface="Calibri"/>
              </a:rPr>
              <a:t>Further reading: </a:t>
            </a:r>
            <a:r>
              <a:rPr b="0" i="0" lang="en-US" sz="1100" u="none" cap="none" strike="noStrike">
                <a:solidFill>
                  <a:srgbClr val="FFFFFF"/>
                </a:solidFill>
                <a:latin typeface="Calibri"/>
                <a:ea typeface="Calibri"/>
                <a:cs typeface="Calibri"/>
                <a:sym typeface="Calibri"/>
              </a:rPr>
              <a:t>docs.claude.com  ·  anthropic.com/research  ·  modelcontextprotocol.io</a:t>
            </a:r>
            <a:endParaRPr b="0" i="0" sz="1100" u="none" cap="none" strike="noStrike">
              <a:solidFill>
                <a:schemeClr val="dk1"/>
              </a:solidFill>
              <a:latin typeface="Calibri"/>
              <a:ea typeface="Calibri"/>
              <a:cs typeface="Calibri"/>
              <a:sym typeface="Calibri"/>
            </a:endParaRPr>
          </a:p>
        </p:txBody>
      </p:sp>
      <p:sp>
        <p:nvSpPr>
          <p:cNvPr id="474" name="Google Shape;474;p17"/>
          <p:cNvSpPr/>
          <p:nvPr/>
        </p:nvSpPr>
        <p:spPr>
          <a:xfrm>
            <a:off x="502920" y="3930873"/>
            <a:ext cx="475500" cy="475500"/>
          </a:xfrm>
          <a:prstGeom prst="ellipse">
            <a:avLst/>
          </a:prstGeom>
          <a:solidFill>
            <a:srgbClr val="5D7A8E"/>
          </a:solidFill>
          <a:ln cap="flat" cmpd="sng" w="12700">
            <a:solidFill>
              <a:srgbClr val="5D7A8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17"/>
          <p:cNvSpPr/>
          <p:nvPr/>
        </p:nvSpPr>
        <p:spPr>
          <a:xfrm>
            <a:off x="502920" y="3930873"/>
            <a:ext cx="475500" cy="475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Georgia"/>
              <a:buNone/>
            </a:pPr>
            <a:r>
              <a:rPr b="1" lang="en-US" sz="2000">
                <a:solidFill>
                  <a:srgbClr val="FFFFFF"/>
                </a:solidFill>
                <a:latin typeface="Georgia"/>
                <a:ea typeface="Georgia"/>
                <a:cs typeface="Georgia"/>
                <a:sym typeface="Georgia"/>
              </a:rPr>
              <a:t>5</a:t>
            </a:r>
            <a:endParaRPr b="0" i="0" sz="2000" u="none" cap="none" strike="noStrike">
              <a:solidFill>
                <a:schemeClr val="dk1"/>
              </a:solidFill>
              <a:latin typeface="Calibri"/>
              <a:ea typeface="Calibri"/>
              <a:cs typeface="Calibri"/>
              <a:sym typeface="Calibri"/>
            </a:endParaRPr>
          </a:p>
        </p:txBody>
      </p:sp>
      <p:sp>
        <p:nvSpPr>
          <p:cNvPr id="476" name="Google Shape;476;p17"/>
          <p:cNvSpPr/>
          <p:nvPr/>
        </p:nvSpPr>
        <p:spPr>
          <a:xfrm>
            <a:off x="1143000" y="3827241"/>
            <a:ext cx="75894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5672"/>
              </a:buClr>
              <a:buSzPts val="1400"/>
              <a:buFont typeface="Georgia"/>
              <a:buNone/>
            </a:pPr>
            <a:r>
              <a:rPr b="1" lang="en-US">
                <a:solidFill>
                  <a:srgbClr val="2B5672"/>
                </a:solidFill>
                <a:latin typeface="Georgia"/>
                <a:ea typeface="Georgia"/>
                <a:cs typeface="Georgia"/>
                <a:sym typeface="Georgia"/>
              </a:rPr>
              <a:t>"It's just statistics" misses the point. </a:t>
            </a:r>
            <a:endParaRPr b="0" i="0" sz="1400" u="none" cap="none" strike="noStrike">
              <a:solidFill>
                <a:schemeClr val="dk1"/>
              </a:solidFill>
              <a:latin typeface="Calibri"/>
              <a:ea typeface="Calibri"/>
              <a:cs typeface="Calibri"/>
              <a:sym typeface="Calibri"/>
            </a:endParaRPr>
          </a:p>
        </p:txBody>
      </p:sp>
      <p:sp>
        <p:nvSpPr>
          <p:cNvPr id="477" name="Google Shape;477;p17"/>
          <p:cNvSpPr/>
          <p:nvPr/>
        </p:nvSpPr>
        <p:spPr>
          <a:xfrm>
            <a:off x="1143000" y="4129353"/>
            <a:ext cx="7589400" cy="475500"/>
          </a:xfrm>
          <a:prstGeom prst="rect">
            <a:avLst/>
          </a:prstGeom>
          <a:solidFill>
            <a:srgbClr val="FFE599"/>
          </a:solidFill>
          <a:ln>
            <a:noFill/>
          </a:ln>
        </p:spPr>
        <p:txBody>
          <a:bodyPr anchorCtr="0" anchor="ctr" bIns="0" lIns="0" spcFirstLastPara="1" rIns="0" wrap="square" tIns="0">
            <a:noAutofit/>
          </a:bodyPr>
          <a:lstStyle/>
          <a:p>
            <a:pPr indent="0" lvl="0" marL="0" rtl="0" algn="l">
              <a:spcBef>
                <a:spcPts val="0"/>
              </a:spcBef>
              <a:spcAft>
                <a:spcPts val="0"/>
              </a:spcAft>
              <a:buClr>
                <a:schemeClr val="dk1"/>
              </a:buClr>
              <a:buFont typeface="Arial"/>
              <a:buNone/>
            </a:pPr>
            <a:r>
              <a:rPr lang="en-US" sz="1100">
                <a:solidFill>
                  <a:schemeClr val="dk1"/>
                </a:solidFill>
              </a:rPr>
              <a:t>A predictor that good must compress; a compressor that good must model. The frozen weights are an implicit world-model — that's what makes the prompt stack worth designing.</a:t>
            </a:r>
            <a:endParaRPr sz="1700">
              <a:solidFill>
                <a:schemeClr val="dk1"/>
              </a:solidFill>
            </a:endParaRPr>
          </a:p>
          <a:p>
            <a:pPr indent="0" lvl="0" marL="0" marR="0" rtl="0" algn="l">
              <a:spcBef>
                <a:spcPts val="0"/>
              </a:spcBef>
              <a:spcAft>
                <a:spcPts val="0"/>
              </a:spcAft>
              <a:buClr>
                <a:srgbClr val="212121"/>
              </a:buClr>
              <a:buSzPts val="1100"/>
              <a:buFont typeface="Calibri"/>
              <a:buNone/>
            </a:pPr>
            <a:r>
              <a:t/>
            </a:r>
            <a:endParaRPr sz="11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