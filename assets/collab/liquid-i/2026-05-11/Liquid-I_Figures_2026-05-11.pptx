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embeddedFontLst>
    <p:embeddedFont>
      <p:font typeface="Lato" panose="020F0502020204030203" pitchFamily="34" charset="77"/>
      <p:regular r:id="rId5"/>
      <p:bold r:id="rId6"/>
      <p:italic r:id="rId7"/>
      <p:boldItalic r:id="rId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theme" Target="theme/theme1.xml"/><Relationship Id="rId5" Type="http://schemas.openxmlformats.org/officeDocument/2006/relationships/font" Target="fonts/font1.fntdata"/><Relationship Id="rId10" Type="http://schemas.openxmlformats.org/officeDocument/2006/relationships/viewProps" Target="viewProps.xml"/><Relationship Id="rId4" Type="http://schemas.openxmlformats.org/officeDocument/2006/relationships/notesMaster" Target="notesMasters/notes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274320" y="274320"/>
            <a:ext cx="11643000" cy="6309300"/>
          </a:xfrm>
          <a:prstGeom prst="rect">
            <a:avLst/>
          </a:prstGeom>
          <a:noFill/>
          <a:ln w="9525" cap="flat" cmpd="sng">
            <a:solidFill>
              <a:srgbClr val="D8CF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7" name="Google Shape;17;p3"/>
          <p:cNvCxnSpPr/>
          <p:nvPr/>
        </p:nvCxnSpPr>
        <p:spPr>
          <a:xfrm>
            <a:off x="274320" y="274320"/>
            <a:ext cx="146304" cy="0"/>
          </a:xfrm>
          <a:prstGeom prst="straightConnector1">
            <a:avLst/>
          </a:prstGeom>
          <a:noFill/>
          <a:ln w="12700" cap="flat" cmpd="sng">
            <a:solidFill>
              <a:srgbClr val="FF6657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" name="Google Shape;18;p3"/>
          <p:cNvCxnSpPr/>
          <p:nvPr/>
        </p:nvCxnSpPr>
        <p:spPr>
          <a:xfrm>
            <a:off x="274320" y="274320"/>
            <a:ext cx="0" cy="146304"/>
          </a:xfrm>
          <a:prstGeom prst="straightConnector1">
            <a:avLst/>
          </a:prstGeom>
          <a:noFill/>
          <a:ln w="12700" cap="flat" cmpd="sng">
            <a:solidFill>
              <a:srgbClr val="FF6657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" name="Google Shape;19;p3"/>
          <p:cNvCxnSpPr/>
          <p:nvPr/>
        </p:nvCxnSpPr>
        <p:spPr>
          <a:xfrm rot="10800000">
            <a:off x="11771071" y="274320"/>
            <a:ext cx="146304" cy="0"/>
          </a:xfrm>
          <a:prstGeom prst="straightConnector1">
            <a:avLst/>
          </a:prstGeom>
          <a:noFill/>
          <a:ln w="12700" cap="flat" cmpd="sng">
            <a:solidFill>
              <a:srgbClr val="FF6657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" name="Google Shape;20;p3"/>
          <p:cNvCxnSpPr/>
          <p:nvPr/>
        </p:nvCxnSpPr>
        <p:spPr>
          <a:xfrm>
            <a:off x="11917375" y="274320"/>
            <a:ext cx="0" cy="146304"/>
          </a:xfrm>
          <a:prstGeom prst="straightConnector1">
            <a:avLst/>
          </a:prstGeom>
          <a:noFill/>
          <a:ln w="12700" cap="flat" cmpd="sng">
            <a:solidFill>
              <a:srgbClr val="FF6657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" name="Google Shape;21;p3"/>
          <p:cNvCxnSpPr/>
          <p:nvPr/>
        </p:nvCxnSpPr>
        <p:spPr>
          <a:xfrm>
            <a:off x="274320" y="6583680"/>
            <a:ext cx="146304" cy="0"/>
          </a:xfrm>
          <a:prstGeom prst="straightConnector1">
            <a:avLst/>
          </a:prstGeom>
          <a:noFill/>
          <a:ln w="12700" cap="flat" cmpd="sng">
            <a:solidFill>
              <a:srgbClr val="FF6657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" name="Google Shape;22;p3"/>
          <p:cNvCxnSpPr/>
          <p:nvPr/>
        </p:nvCxnSpPr>
        <p:spPr>
          <a:xfrm rot="10800000">
            <a:off x="274320" y="6437376"/>
            <a:ext cx="0" cy="146304"/>
          </a:xfrm>
          <a:prstGeom prst="straightConnector1">
            <a:avLst/>
          </a:prstGeom>
          <a:noFill/>
          <a:ln w="12700" cap="flat" cmpd="sng">
            <a:solidFill>
              <a:srgbClr val="FF6657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" name="Google Shape;23;p3"/>
          <p:cNvCxnSpPr/>
          <p:nvPr/>
        </p:nvCxnSpPr>
        <p:spPr>
          <a:xfrm rot="10800000">
            <a:off x="11771071" y="6583680"/>
            <a:ext cx="146304" cy="0"/>
          </a:xfrm>
          <a:prstGeom prst="straightConnector1">
            <a:avLst/>
          </a:prstGeom>
          <a:noFill/>
          <a:ln w="12700" cap="flat" cmpd="sng">
            <a:solidFill>
              <a:srgbClr val="FF6657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" name="Google Shape;24;p3"/>
          <p:cNvCxnSpPr/>
          <p:nvPr/>
        </p:nvCxnSpPr>
        <p:spPr>
          <a:xfrm rot="10800000">
            <a:off x="11917375" y="6437376"/>
            <a:ext cx="0" cy="146304"/>
          </a:xfrm>
          <a:prstGeom prst="straightConnector1">
            <a:avLst/>
          </a:prstGeom>
          <a:noFill/>
          <a:ln w="12700" cap="flat" cmpd="sng">
            <a:solidFill>
              <a:srgbClr val="FF665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" name="Google Shape;25;p3"/>
          <p:cNvSpPr/>
          <p:nvPr/>
        </p:nvSpPr>
        <p:spPr>
          <a:xfrm>
            <a:off x="50292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6657"/>
              </a:buClr>
              <a:buSzPts val="900"/>
              <a:buFont typeface="Lato"/>
              <a:buNone/>
            </a:pPr>
            <a:r>
              <a:rPr lang="en-US" sz="900" b="1" i="0" u="none" strike="noStrike" cap="none">
                <a:solidFill>
                  <a:srgbClr val="FF6657"/>
                </a:solidFill>
                <a:latin typeface="Lato"/>
                <a:ea typeface="Lato"/>
                <a:cs typeface="Lato"/>
                <a:sym typeface="Lato"/>
              </a:rPr>
              <a:t>ERC MEETING  ·  CONCEPTUAL MAP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502920" y="64008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2878"/>
              </a:buClr>
              <a:buSzPts val="3200"/>
              <a:buFont typeface="Lato"/>
              <a:buNone/>
            </a:pPr>
            <a:r>
              <a:rPr lang="en-US" sz="3200" b="1" i="0" u="none" strike="noStrike" cap="none">
                <a:solidFill>
                  <a:srgbClr val="002878"/>
                </a:solidFill>
                <a:latin typeface="Lato"/>
                <a:ea typeface="Lato"/>
                <a:cs typeface="Lato"/>
                <a:sym typeface="Lato"/>
              </a:rPr>
              <a:t>Multiagents</a:t>
            </a:r>
            <a:r>
              <a:rPr lang="en-US" sz="2800" b="0" i="1" u="none" strike="noStrike" cap="none">
                <a:solidFill>
                  <a:srgbClr val="6B6258"/>
                </a:solidFill>
                <a:latin typeface="Lato"/>
                <a:ea typeface="Lato"/>
                <a:cs typeface="Lato"/>
                <a:sym typeface="Lato"/>
              </a:rPr>
              <a:t>  ×  </a:t>
            </a:r>
            <a:r>
              <a:rPr lang="en-US" sz="3200" b="1" i="0" u="none" strike="noStrike" cap="none">
                <a:solidFill>
                  <a:srgbClr val="002878"/>
                </a:solidFill>
                <a:latin typeface="Lato"/>
                <a:ea typeface="Lato"/>
                <a:cs typeface="Lato"/>
                <a:sym typeface="Lato"/>
              </a:rPr>
              <a:t>Dysfunction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8686800" y="365760"/>
            <a:ext cx="32918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2A2620"/>
              </a:buClr>
              <a:buSzPts val="1000"/>
              <a:buFont typeface="Lato"/>
              <a:buNone/>
            </a:pPr>
            <a:r>
              <a:rPr lang="en-US" sz="1000" b="1" i="0" u="none" strike="noStrike" cap="none">
                <a:solidFill>
                  <a:srgbClr val="2A2620"/>
                </a:solidFill>
                <a:latin typeface="Lato"/>
                <a:ea typeface="Lato"/>
                <a:cs typeface="Lato"/>
                <a:sym typeface="Lato"/>
              </a:rPr>
              <a:t>Liquid-I — Synergy thread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6258"/>
              </a:buClr>
              <a:buSzPts val="900"/>
              <a:buFont typeface="Lato"/>
              <a:buNone/>
            </a:pPr>
            <a:r>
              <a:rPr lang="en-US" sz="900" b="0" i="0" u="none" strike="noStrike" cap="none">
                <a:solidFill>
                  <a:srgbClr val="6B6258"/>
                </a:solidFill>
                <a:latin typeface="Lato"/>
                <a:ea typeface="Lato"/>
                <a:cs typeface="Lato"/>
                <a:sym typeface="Lato"/>
              </a:rPr>
              <a:t>Topic territory · radial map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6258"/>
              </a:buClr>
              <a:buSzPts val="900"/>
              <a:buFont typeface="Lato"/>
              <a:buNone/>
            </a:pPr>
            <a:r>
              <a:rPr lang="en-US" sz="900" b="0" i="1" u="none" strike="noStrike" cap="none">
                <a:solidFill>
                  <a:srgbClr val="6B6258"/>
                </a:solidFill>
                <a:latin typeface="Lato"/>
                <a:ea typeface="Lato"/>
                <a:cs typeface="Lato"/>
                <a:sym typeface="Lato"/>
              </a:rPr>
              <a:t>Transcribed from meeting notes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" name="Google Shape;28;p3"/>
          <p:cNvCxnSpPr/>
          <p:nvPr/>
        </p:nvCxnSpPr>
        <p:spPr>
          <a:xfrm>
            <a:off x="502920" y="1417320"/>
            <a:ext cx="11185855" cy="0"/>
          </a:xfrm>
          <a:prstGeom prst="straightConnector1">
            <a:avLst/>
          </a:prstGeom>
          <a:noFill/>
          <a:ln w="9525" cap="flat" cmpd="sng">
            <a:solidFill>
              <a:srgbClr val="D8CFB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" name="Google Shape;29;p3"/>
          <p:cNvSpPr/>
          <p:nvPr/>
        </p:nvSpPr>
        <p:spPr>
          <a:xfrm>
            <a:off x="2057400" y="1965960"/>
            <a:ext cx="3749040" cy="3749040"/>
          </a:xfrm>
          <a:prstGeom prst="ellipse">
            <a:avLst/>
          </a:prstGeom>
          <a:solidFill>
            <a:srgbClr val="FF6657">
              <a:alpha val="392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2560320" y="2468880"/>
            <a:ext cx="2743200" cy="2743200"/>
          </a:xfrm>
          <a:prstGeom prst="ellipse">
            <a:avLst/>
          </a:prstGeom>
          <a:solidFill>
            <a:srgbClr val="FF6657">
              <a:alpha val="588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3"/>
          <p:cNvSpPr/>
          <p:nvPr/>
        </p:nvSpPr>
        <p:spPr>
          <a:xfrm>
            <a:off x="3063240" y="2971800"/>
            <a:ext cx="1737360" cy="1737360"/>
          </a:xfrm>
          <a:prstGeom prst="ellipse">
            <a:avLst/>
          </a:prstGeom>
          <a:solidFill>
            <a:srgbClr val="FF6657">
              <a:alpha val="901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3"/>
          <p:cNvSpPr/>
          <p:nvPr/>
        </p:nvSpPr>
        <p:spPr>
          <a:xfrm>
            <a:off x="3337560" y="3246120"/>
            <a:ext cx="1188720" cy="1188720"/>
          </a:xfrm>
          <a:prstGeom prst="ellipse">
            <a:avLst/>
          </a:prstGeom>
          <a:solidFill>
            <a:srgbClr val="FF6657">
              <a:alpha val="1215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3" name="Google Shape;33;p3"/>
          <p:cNvCxnSpPr/>
          <p:nvPr/>
        </p:nvCxnSpPr>
        <p:spPr>
          <a:xfrm rot="10800000">
            <a:off x="3931920" y="2359152"/>
            <a:ext cx="0" cy="914400"/>
          </a:xfrm>
          <a:prstGeom prst="straightConnector1">
            <a:avLst/>
          </a:prstGeom>
          <a:noFill/>
          <a:ln w="12700" cap="flat" cmpd="sng">
            <a:solidFill>
              <a:srgbClr val="FF665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4" name="Google Shape;34;p3"/>
          <p:cNvSpPr/>
          <p:nvPr/>
        </p:nvSpPr>
        <p:spPr>
          <a:xfrm>
            <a:off x="3877056" y="2304288"/>
            <a:ext cx="109728" cy="109728"/>
          </a:xfrm>
          <a:prstGeom prst="ellipse">
            <a:avLst/>
          </a:prstGeom>
          <a:solidFill>
            <a:srgbClr val="FF6657"/>
          </a:solidFill>
          <a:ln w="9525" cap="flat" cmpd="sng">
            <a:solidFill>
              <a:srgbClr val="D948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3"/>
          <p:cNvSpPr/>
          <p:nvPr/>
        </p:nvSpPr>
        <p:spPr>
          <a:xfrm>
            <a:off x="3268980" y="1737360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A2620"/>
              </a:buClr>
              <a:buSzPts val="1050"/>
              <a:buFont typeface="Lato"/>
              <a:buNone/>
            </a:pPr>
            <a:r>
              <a:rPr lang="en-US" sz="1050" b="1" i="0" u="none" strike="noStrike" cap="none">
                <a:solidFill>
                  <a:srgbClr val="2A2620"/>
                </a:solidFill>
                <a:latin typeface="Lato"/>
                <a:ea typeface="Lato"/>
                <a:cs typeface="Lato"/>
                <a:sym typeface="Lato"/>
              </a:rPr>
              <a:t>Emergence of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A2620"/>
              </a:buClr>
              <a:buSzPts val="1050"/>
              <a:buFont typeface="Lato"/>
              <a:buNone/>
            </a:pPr>
            <a:r>
              <a:rPr lang="en-US" sz="1050" b="1" i="0" u="none" strike="noStrike" cap="none">
                <a:solidFill>
                  <a:srgbClr val="2A2620"/>
                </a:solidFill>
                <a:latin typeface="Lato"/>
                <a:ea typeface="Lato"/>
                <a:cs typeface="Lato"/>
                <a:sym typeface="Lato"/>
              </a:rPr>
              <a:t>innovation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" name="Google Shape;36;p3"/>
          <p:cNvCxnSpPr/>
          <p:nvPr/>
        </p:nvCxnSpPr>
        <p:spPr>
          <a:xfrm rot="10800000" flipH="1">
            <a:off x="4148874" y="2471912"/>
            <a:ext cx="349926" cy="844795"/>
          </a:xfrm>
          <a:prstGeom prst="straightConnector1">
            <a:avLst/>
          </a:prstGeom>
          <a:noFill/>
          <a:ln w="12700" cap="flat" cmpd="sng">
            <a:solidFill>
              <a:srgbClr val="FF665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7" name="Google Shape;37;p3"/>
          <p:cNvSpPr/>
          <p:nvPr/>
        </p:nvSpPr>
        <p:spPr>
          <a:xfrm>
            <a:off x="4443936" y="2417047"/>
            <a:ext cx="109728" cy="109728"/>
          </a:xfrm>
          <a:prstGeom prst="ellipse">
            <a:avLst/>
          </a:prstGeom>
          <a:solidFill>
            <a:srgbClr val="FF6657"/>
          </a:solidFill>
          <a:ln w="9525" cap="flat" cmpd="sng">
            <a:solidFill>
              <a:srgbClr val="D948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3"/>
          <p:cNvSpPr/>
          <p:nvPr/>
        </p:nvSpPr>
        <p:spPr>
          <a:xfrm>
            <a:off x="4667556" y="1880049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2620"/>
              </a:buClr>
              <a:buSzPts val="1050"/>
              <a:buFont typeface="Lato"/>
              <a:buNone/>
            </a:pPr>
            <a:r>
              <a:rPr lang="en-US" sz="1050" b="1" i="0" u="none" strike="noStrike" cap="none">
                <a:solidFill>
                  <a:srgbClr val="2A2620"/>
                </a:solidFill>
                <a:latin typeface="Lato"/>
                <a:ea typeface="Lato"/>
                <a:cs typeface="Lato"/>
                <a:sym typeface="Lato"/>
              </a:rPr>
              <a:t>Origin of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2620"/>
              </a:buClr>
              <a:buSzPts val="1050"/>
              <a:buFont typeface="Lato"/>
              <a:buNone/>
            </a:pPr>
            <a:r>
              <a:rPr lang="en-US" sz="1050" b="1" i="0" u="none" strike="noStrike" cap="none">
                <a:solidFill>
                  <a:srgbClr val="2A2620"/>
                </a:solidFill>
                <a:latin typeface="Lato"/>
                <a:ea typeface="Lato"/>
                <a:cs typeface="Lato"/>
                <a:sym typeface="Lato"/>
              </a:rPr>
              <a:t>dysfunctions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" name="Google Shape;39;p3"/>
          <p:cNvCxnSpPr/>
          <p:nvPr/>
        </p:nvCxnSpPr>
        <p:spPr>
          <a:xfrm rot="10800000" flipH="1">
            <a:off x="4332799" y="2793023"/>
            <a:ext cx="646578" cy="646578"/>
          </a:xfrm>
          <a:prstGeom prst="straightConnector1">
            <a:avLst/>
          </a:prstGeom>
          <a:noFill/>
          <a:ln w="12700" cap="flat" cmpd="sng">
            <a:solidFill>
              <a:srgbClr val="FF665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0" name="Google Shape;40;p3"/>
          <p:cNvSpPr/>
          <p:nvPr/>
        </p:nvSpPr>
        <p:spPr>
          <a:xfrm>
            <a:off x="4924513" y="2738159"/>
            <a:ext cx="109728" cy="109728"/>
          </a:xfrm>
          <a:prstGeom prst="ellipse">
            <a:avLst/>
          </a:prstGeom>
          <a:solidFill>
            <a:srgbClr val="FF6657"/>
          </a:solidFill>
          <a:ln w="9525" cap="flat" cmpd="sng">
            <a:solidFill>
              <a:srgbClr val="D948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3"/>
          <p:cNvSpPr/>
          <p:nvPr/>
        </p:nvSpPr>
        <p:spPr>
          <a:xfrm>
            <a:off x="5275694" y="2286394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2620"/>
              </a:buClr>
              <a:buSzPts val="1050"/>
              <a:buFont typeface="Lato"/>
              <a:buNone/>
            </a:pPr>
            <a:r>
              <a:rPr lang="en-US" sz="1050" b="1" i="0" u="none" strike="noStrike" cap="none">
                <a:solidFill>
                  <a:srgbClr val="2A2620"/>
                </a:solidFill>
                <a:latin typeface="Lato"/>
                <a:ea typeface="Lato"/>
                <a:cs typeface="Lato"/>
                <a:sym typeface="Lato"/>
              </a:rPr>
              <a:t>Algorithmic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2620"/>
              </a:buClr>
              <a:buSzPts val="1050"/>
              <a:buFont typeface="Lato"/>
              <a:buNone/>
            </a:pPr>
            <a:r>
              <a:rPr lang="en-US" sz="1050" b="1" i="0" u="none" strike="noStrike" cap="none">
                <a:solidFill>
                  <a:srgbClr val="2A2620"/>
                </a:solidFill>
                <a:latin typeface="Lato"/>
                <a:ea typeface="Lato"/>
                <a:cs typeface="Lato"/>
                <a:sym typeface="Lato"/>
              </a:rPr>
              <a:t>framework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" name="Google Shape;42;p3"/>
          <p:cNvCxnSpPr/>
          <p:nvPr/>
        </p:nvCxnSpPr>
        <p:spPr>
          <a:xfrm rot="10800000" flipH="1">
            <a:off x="4455693" y="3273600"/>
            <a:ext cx="844795" cy="349926"/>
          </a:xfrm>
          <a:prstGeom prst="straightConnector1">
            <a:avLst/>
          </a:prstGeom>
          <a:noFill/>
          <a:ln w="12700" cap="flat" cmpd="sng">
            <a:solidFill>
              <a:srgbClr val="FF665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3" name="Google Shape;43;p3"/>
          <p:cNvSpPr/>
          <p:nvPr/>
        </p:nvSpPr>
        <p:spPr>
          <a:xfrm>
            <a:off x="5222765" y="3195876"/>
            <a:ext cx="155448" cy="155448"/>
          </a:xfrm>
          <a:prstGeom prst="ellipse">
            <a:avLst/>
          </a:prstGeom>
          <a:solidFill>
            <a:srgbClr val="FF6657"/>
          </a:solidFill>
          <a:ln w="19050" cap="flat" cmpd="sng">
            <a:solidFill>
              <a:srgbClr val="00287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3"/>
          <p:cNvSpPr/>
          <p:nvPr/>
        </p:nvSpPr>
        <p:spPr>
          <a:xfrm>
            <a:off x="5273057" y="3246168"/>
            <a:ext cx="54864" cy="54864"/>
          </a:xfrm>
          <a:prstGeom prst="ellipse">
            <a:avLst/>
          </a:prstGeom>
          <a:solidFill>
            <a:srgbClr val="00287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3"/>
          <p:cNvSpPr/>
          <p:nvPr/>
        </p:nvSpPr>
        <p:spPr>
          <a:xfrm>
            <a:off x="5682039" y="2985972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2878"/>
              </a:buClr>
              <a:buSzPts val="1050"/>
              <a:buFont typeface="Lato"/>
              <a:buNone/>
            </a:pPr>
            <a:r>
              <a:rPr lang="en-US" sz="1050" b="1" i="0" u="none" strike="noStrike" cap="none">
                <a:solidFill>
                  <a:srgbClr val="002878"/>
                </a:solidFill>
                <a:latin typeface="Lato"/>
                <a:ea typeface="Lato"/>
                <a:cs typeface="Lato"/>
                <a:sym typeface="Lato"/>
              </a:rPr>
              <a:t>Cancer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" name="Google Shape;46;p3"/>
          <p:cNvCxnSpPr/>
          <p:nvPr/>
        </p:nvCxnSpPr>
        <p:spPr>
          <a:xfrm>
            <a:off x="4498848" y="3840480"/>
            <a:ext cx="914400" cy="0"/>
          </a:xfrm>
          <a:prstGeom prst="straightConnector1">
            <a:avLst/>
          </a:prstGeom>
          <a:noFill/>
          <a:ln w="12700" cap="flat" cmpd="sng">
            <a:solidFill>
              <a:srgbClr val="FF665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7" name="Google Shape;47;p3"/>
          <p:cNvSpPr/>
          <p:nvPr/>
        </p:nvSpPr>
        <p:spPr>
          <a:xfrm>
            <a:off x="5335524" y="3762756"/>
            <a:ext cx="155448" cy="155448"/>
          </a:xfrm>
          <a:prstGeom prst="ellipse">
            <a:avLst/>
          </a:prstGeom>
          <a:solidFill>
            <a:srgbClr val="FF6657"/>
          </a:solidFill>
          <a:ln w="19050" cap="flat" cmpd="sng">
            <a:solidFill>
              <a:srgbClr val="00287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3"/>
          <p:cNvSpPr/>
          <p:nvPr/>
        </p:nvSpPr>
        <p:spPr>
          <a:xfrm>
            <a:off x="5385816" y="3813048"/>
            <a:ext cx="54864" cy="54864"/>
          </a:xfrm>
          <a:prstGeom prst="ellipse">
            <a:avLst/>
          </a:prstGeom>
          <a:solidFill>
            <a:srgbClr val="00287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3"/>
          <p:cNvSpPr/>
          <p:nvPr/>
        </p:nvSpPr>
        <p:spPr>
          <a:xfrm>
            <a:off x="5824728" y="3611880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2878"/>
              </a:buClr>
              <a:buSzPts val="1050"/>
              <a:buFont typeface="Lato"/>
              <a:buNone/>
            </a:pPr>
            <a:r>
              <a:rPr lang="en-US" sz="1050" b="1" i="0" u="none" strike="noStrike" cap="none">
                <a:solidFill>
                  <a:srgbClr val="002878"/>
                </a:solidFill>
                <a:latin typeface="Lato"/>
                <a:ea typeface="Lato"/>
                <a:cs typeface="Lato"/>
                <a:sym typeface="Lato"/>
              </a:rPr>
              <a:t>Neuropsychiatric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2878"/>
              </a:buClr>
              <a:buSzPts val="1050"/>
              <a:buFont typeface="Lato"/>
              <a:buNone/>
            </a:pPr>
            <a:r>
              <a:rPr lang="en-US" sz="1050" b="1" i="0" u="none" strike="noStrike" cap="none">
                <a:solidFill>
                  <a:srgbClr val="002878"/>
                </a:solidFill>
                <a:latin typeface="Lato"/>
                <a:ea typeface="Lato"/>
                <a:cs typeface="Lato"/>
                <a:sym typeface="Lato"/>
              </a:rPr>
              <a:t>disorders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" name="Google Shape;50;p3"/>
          <p:cNvCxnSpPr/>
          <p:nvPr/>
        </p:nvCxnSpPr>
        <p:spPr>
          <a:xfrm>
            <a:off x="4455693" y="4057434"/>
            <a:ext cx="844795" cy="349926"/>
          </a:xfrm>
          <a:prstGeom prst="straightConnector1">
            <a:avLst/>
          </a:prstGeom>
          <a:noFill/>
          <a:ln w="12700" cap="flat" cmpd="sng">
            <a:solidFill>
              <a:srgbClr val="FF665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1" name="Google Shape;51;p3"/>
          <p:cNvSpPr/>
          <p:nvPr/>
        </p:nvSpPr>
        <p:spPr>
          <a:xfrm>
            <a:off x="5245625" y="4352496"/>
            <a:ext cx="109728" cy="109728"/>
          </a:xfrm>
          <a:prstGeom prst="ellipse">
            <a:avLst/>
          </a:prstGeom>
          <a:solidFill>
            <a:srgbClr val="FF6657"/>
          </a:solidFill>
          <a:ln w="9525" cap="flat" cmpd="sng">
            <a:solidFill>
              <a:srgbClr val="D948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3"/>
          <p:cNvSpPr/>
          <p:nvPr/>
        </p:nvSpPr>
        <p:spPr>
          <a:xfrm>
            <a:off x="5682039" y="432922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2620"/>
              </a:buClr>
              <a:buSzPts val="1050"/>
              <a:buFont typeface="Lato"/>
              <a:buNone/>
            </a:pPr>
            <a:r>
              <a:rPr lang="en-US" sz="1050" b="1" i="0" u="none" strike="noStrike" cap="none">
                <a:solidFill>
                  <a:srgbClr val="2A2620"/>
                </a:solidFill>
                <a:latin typeface="Lato"/>
                <a:ea typeface="Lato"/>
                <a:cs typeface="Lato"/>
                <a:sym typeface="Lato"/>
              </a:rPr>
              <a:t>Collective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2620"/>
              </a:buClr>
              <a:buSzPts val="1050"/>
              <a:buFont typeface="Lato"/>
              <a:buNone/>
            </a:pPr>
            <a:r>
              <a:rPr lang="en-US" sz="1050" b="1" i="0" u="none" strike="noStrike" cap="none">
                <a:solidFill>
                  <a:srgbClr val="2A2620"/>
                </a:solidFill>
                <a:latin typeface="Lato"/>
                <a:ea typeface="Lato"/>
                <a:cs typeface="Lato"/>
                <a:sym typeface="Lato"/>
              </a:rPr>
              <a:t>intelligence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" name="Google Shape;53;p3"/>
          <p:cNvCxnSpPr/>
          <p:nvPr/>
        </p:nvCxnSpPr>
        <p:spPr>
          <a:xfrm>
            <a:off x="4332799" y="4241359"/>
            <a:ext cx="646578" cy="646578"/>
          </a:xfrm>
          <a:prstGeom prst="straightConnector1">
            <a:avLst/>
          </a:prstGeom>
          <a:noFill/>
          <a:ln w="12700" cap="flat" cmpd="sng">
            <a:solidFill>
              <a:srgbClr val="FF665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4" name="Google Shape;54;p3"/>
          <p:cNvSpPr/>
          <p:nvPr/>
        </p:nvSpPr>
        <p:spPr>
          <a:xfrm>
            <a:off x="4901653" y="4810213"/>
            <a:ext cx="155448" cy="155448"/>
          </a:xfrm>
          <a:prstGeom prst="ellipse">
            <a:avLst/>
          </a:prstGeom>
          <a:solidFill>
            <a:srgbClr val="FF6657"/>
          </a:solidFill>
          <a:ln w="19050" cap="flat" cmpd="sng">
            <a:solidFill>
              <a:srgbClr val="00287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4951945" y="4860505"/>
            <a:ext cx="54864" cy="54864"/>
          </a:xfrm>
          <a:prstGeom prst="ellipse">
            <a:avLst/>
          </a:prstGeom>
          <a:solidFill>
            <a:srgbClr val="00287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5275694" y="5028806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2878"/>
              </a:buClr>
              <a:buSzPts val="1050"/>
              <a:buFont typeface="Lato"/>
              <a:buNone/>
            </a:pPr>
            <a:r>
              <a:rPr lang="en-US" sz="1050" b="1" i="0" u="none" strike="noStrike" cap="none">
                <a:solidFill>
                  <a:srgbClr val="002878"/>
                </a:solidFill>
                <a:latin typeface="Lato"/>
                <a:ea typeface="Lato"/>
                <a:cs typeface="Lato"/>
                <a:sym typeface="Lato"/>
              </a:rPr>
              <a:t>Agriculture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" name="Google Shape;57;p3"/>
          <p:cNvCxnSpPr/>
          <p:nvPr/>
        </p:nvCxnSpPr>
        <p:spPr>
          <a:xfrm>
            <a:off x="4148874" y="4364253"/>
            <a:ext cx="349926" cy="844795"/>
          </a:xfrm>
          <a:prstGeom prst="straightConnector1">
            <a:avLst/>
          </a:prstGeom>
          <a:noFill/>
          <a:ln w="12700" cap="flat" cmpd="sng">
            <a:solidFill>
              <a:srgbClr val="FF665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8" name="Google Shape;58;p3"/>
          <p:cNvSpPr/>
          <p:nvPr/>
        </p:nvSpPr>
        <p:spPr>
          <a:xfrm>
            <a:off x="4443936" y="5154185"/>
            <a:ext cx="109728" cy="109728"/>
          </a:xfrm>
          <a:prstGeom prst="ellipse">
            <a:avLst/>
          </a:prstGeom>
          <a:solidFill>
            <a:srgbClr val="FF6657"/>
          </a:solidFill>
          <a:ln w="9525" cap="flat" cmpd="sng">
            <a:solidFill>
              <a:srgbClr val="D948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4667556" y="5343711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2620"/>
              </a:buClr>
              <a:buSzPts val="1050"/>
              <a:buFont typeface="Lato"/>
              <a:buNone/>
            </a:pPr>
            <a:r>
              <a:rPr lang="en-US" sz="1050" b="1" i="0" u="none" strike="noStrike" cap="none">
                <a:solidFill>
                  <a:srgbClr val="2A2620"/>
                </a:solidFill>
                <a:latin typeface="Lato"/>
                <a:ea typeface="Lato"/>
                <a:cs typeface="Lato"/>
                <a:sym typeface="Lato"/>
              </a:rPr>
              <a:t>Cellular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2620"/>
              </a:buClr>
              <a:buSzPts val="1050"/>
              <a:buFont typeface="Lato"/>
              <a:buNone/>
            </a:pPr>
            <a:r>
              <a:rPr lang="en-US" sz="1050" b="1" i="0" u="none" strike="noStrike" cap="none">
                <a:solidFill>
                  <a:srgbClr val="2A2620"/>
                </a:solidFill>
                <a:latin typeface="Lato"/>
                <a:ea typeface="Lato"/>
                <a:cs typeface="Lato"/>
                <a:sym typeface="Lato"/>
              </a:rPr>
              <a:t>automata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0" name="Google Shape;60;p3"/>
          <p:cNvCxnSpPr/>
          <p:nvPr/>
        </p:nvCxnSpPr>
        <p:spPr>
          <a:xfrm>
            <a:off x="3931920" y="4407408"/>
            <a:ext cx="0" cy="914400"/>
          </a:xfrm>
          <a:prstGeom prst="straightConnector1">
            <a:avLst/>
          </a:prstGeom>
          <a:noFill/>
          <a:ln w="12700" cap="flat" cmpd="sng">
            <a:solidFill>
              <a:srgbClr val="FF665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1" name="Google Shape;61;p3"/>
          <p:cNvSpPr/>
          <p:nvPr/>
        </p:nvSpPr>
        <p:spPr>
          <a:xfrm>
            <a:off x="3877056" y="5266944"/>
            <a:ext cx="109728" cy="109728"/>
          </a:xfrm>
          <a:prstGeom prst="ellipse">
            <a:avLst/>
          </a:prstGeom>
          <a:solidFill>
            <a:srgbClr val="FF6657"/>
          </a:solidFill>
          <a:ln w="9525" cap="flat" cmpd="sng">
            <a:solidFill>
              <a:srgbClr val="D948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3268980" y="5486400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A2620"/>
              </a:buClr>
              <a:buSzPts val="1050"/>
              <a:buFont typeface="Lato"/>
              <a:buNone/>
            </a:pPr>
            <a:r>
              <a:rPr lang="en-US" sz="1050" b="1" i="0" u="none" strike="noStrike" cap="none">
                <a:solidFill>
                  <a:srgbClr val="2A2620"/>
                </a:solidFill>
                <a:latin typeface="Lato"/>
                <a:ea typeface="Lato"/>
                <a:cs typeface="Lato"/>
                <a:sym typeface="Lato"/>
              </a:rPr>
              <a:t>Synthetic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A2620"/>
              </a:buClr>
              <a:buSzPts val="1050"/>
              <a:buFont typeface="Lato"/>
              <a:buNone/>
            </a:pPr>
            <a:r>
              <a:rPr lang="en-US" sz="1050" b="1" i="0" u="none" strike="noStrike" cap="none">
                <a:solidFill>
                  <a:srgbClr val="2A2620"/>
                </a:solidFill>
                <a:latin typeface="Lato"/>
                <a:ea typeface="Lato"/>
                <a:cs typeface="Lato"/>
                <a:sym typeface="Lato"/>
              </a:rPr>
              <a:t>biology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" name="Google Shape;63;p3"/>
          <p:cNvCxnSpPr/>
          <p:nvPr/>
        </p:nvCxnSpPr>
        <p:spPr>
          <a:xfrm flipH="1">
            <a:off x="3365040" y="4364253"/>
            <a:ext cx="349926" cy="844795"/>
          </a:xfrm>
          <a:prstGeom prst="straightConnector1">
            <a:avLst/>
          </a:prstGeom>
          <a:noFill/>
          <a:ln w="12700" cap="flat" cmpd="sng">
            <a:solidFill>
              <a:srgbClr val="4A6BB8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64" name="Google Shape;64;p3"/>
          <p:cNvSpPr/>
          <p:nvPr/>
        </p:nvSpPr>
        <p:spPr>
          <a:xfrm>
            <a:off x="3301032" y="5145041"/>
            <a:ext cx="128016" cy="128016"/>
          </a:xfrm>
          <a:prstGeom prst="rect">
            <a:avLst/>
          </a:prstGeom>
          <a:solidFill>
            <a:srgbClr val="00287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1870404" y="5343711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2878"/>
              </a:buClr>
              <a:buSzPts val="1050"/>
              <a:buFont typeface="Lato"/>
              <a:buNone/>
            </a:pPr>
            <a:r>
              <a:rPr lang="en-US" sz="1050" b="1" i="1" u="none" strike="noStrike" cap="none">
                <a:solidFill>
                  <a:srgbClr val="002878"/>
                </a:solidFill>
                <a:latin typeface="Lato"/>
                <a:ea typeface="Lato"/>
                <a:cs typeface="Lato"/>
                <a:sym typeface="Lato"/>
              </a:rPr>
              <a:t>Multiagent platform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6258"/>
              </a:buClr>
              <a:buSzPts val="800"/>
              <a:buFont typeface="Lato"/>
              <a:buNone/>
            </a:pPr>
            <a:r>
              <a:rPr lang="en-US" sz="800" b="0" i="1" u="none" strike="noStrike" cap="none">
                <a:solidFill>
                  <a:srgbClr val="6B6258"/>
                </a:solidFill>
                <a:latin typeface="Lato"/>
                <a:ea typeface="Lato"/>
                <a:cs typeface="Lato"/>
                <a:sym typeface="Lato"/>
              </a:rPr>
              <a:t>(multiple scale)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" name="Google Shape;66;p3"/>
          <p:cNvCxnSpPr/>
          <p:nvPr/>
        </p:nvCxnSpPr>
        <p:spPr>
          <a:xfrm flipH="1">
            <a:off x="2884463" y="4241359"/>
            <a:ext cx="646578" cy="646578"/>
          </a:xfrm>
          <a:prstGeom prst="straightConnector1">
            <a:avLst/>
          </a:prstGeom>
          <a:noFill/>
          <a:ln w="12700" cap="flat" cmpd="sng">
            <a:solidFill>
              <a:srgbClr val="FF665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7" name="Google Shape;67;p3"/>
          <p:cNvSpPr/>
          <p:nvPr/>
        </p:nvSpPr>
        <p:spPr>
          <a:xfrm>
            <a:off x="2829599" y="4833073"/>
            <a:ext cx="109728" cy="109728"/>
          </a:xfrm>
          <a:prstGeom prst="ellipse">
            <a:avLst/>
          </a:prstGeom>
          <a:solidFill>
            <a:srgbClr val="FF6657"/>
          </a:solidFill>
          <a:ln w="9525" cap="flat" cmpd="sng">
            <a:solidFill>
              <a:srgbClr val="D948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1262266" y="4937366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2A2620"/>
              </a:buClr>
              <a:buSzPts val="1050"/>
              <a:buFont typeface="Lato"/>
              <a:buNone/>
            </a:pPr>
            <a:r>
              <a:rPr lang="en-US" sz="1050" b="1" i="0" u="none" strike="noStrike" cap="none">
                <a:solidFill>
                  <a:srgbClr val="2A2620"/>
                </a:solidFill>
                <a:latin typeface="Lato"/>
                <a:ea typeface="Lato"/>
                <a:cs typeface="Lato"/>
                <a:sym typeface="Lato"/>
              </a:rPr>
              <a:t>Ecological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2A2620"/>
              </a:buClr>
              <a:buSzPts val="1050"/>
              <a:buFont typeface="Lato"/>
              <a:buNone/>
            </a:pPr>
            <a:r>
              <a:rPr lang="en-US" sz="1050" b="1" i="0" u="none" strike="noStrike" cap="none">
                <a:solidFill>
                  <a:srgbClr val="2A2620"/>
                </a:solidFill>
                <a:latin typeface="Lato"/>
                <a:ea typeface="Lato"/>
                <a:cs typeface="Lato"/>
                <a:sym typeface="Lato"/>
              </a:rPr>
              <a:t>engineering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9" name="Google Shape;69;p3"/>
          <p:cNvCxnSpPr/>
          <p:nvPr/>
        </p:nvCxnSpPr>
        <p:spPr>
          <a:xfrm flipH="1">
            <a:off x="2563352" y="4057434"/>
            <a:ext cx="844795" cy="349926"/>
          </a:xfrm>
          <a:prstGeom prst="straightConnector1">
            <a:avLst/>
          </a:prstGeom>
          <a:noFill/>
          <a:ln w="12700" cap="flat" cmpd="sng">
            <a:solidFill>
              <a:srgbClr val="FF665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0" name="Google Shape;70;p3"/>
          <p:cNvSpPr/>
          <p:nvPr/>
        </p:nvSpPr>
        <p:spPr>
          <a:xfrm>
            <a:off x="2508487" y="4352496"/>
            <a:ext cx="109728" cy="109728"/>
          </a:xfrm>
          <a:prstGeom prst="ellipse">
            <a:avLst/>
          </a:prstGeom>
          <a:solidFill>
            <a:srgbClr val="FF6657"/>
          </a:solidFill>
          <a:ln w="9525" cap="flat" cmpd="sng">
            <a:solidFill>
              <a:srgbClr val="D948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855921" y="432922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2A2620"/>
              </a:buClr>
              <a:buSzPts val="1050"/>
              <a:buFont typeface="Lato"/>
              <a:buNone/>
            </a:pPr>
            <a:r>
              <a:rPr lang="en-US" sz="1050" b="1" i="0" u="none" strike="noStrike" cap="none">
                <a:solidFill>
                  <a:srgbClr val="2A2620"/>
                </a:solidFill>
                <a:latin typeface="Lato"/>
                <a:ea typeface="Lato"/>
                <a:cs typeface="Lato"/>
                <a:sym typeface="Lato"/>
              </a:rPr>
              <a:t>Tipping points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6258"/>
              </a:buClr>
              <a:buSzPts val="800"/>
              <a:buFont typeface="Lato"/>
              <a:buNone/>
            </a:pPr>
            <a:r>
              <a:rPr lang="en-US" sz="800" b="0" i="1" u="none" strike="noStrike" cap="none">
                <a:solidFill>
                  <a:srgbClr val="6B6258"/>
                </a:solidFill>
                <a:latin typeface="Lato"/>
                <a:ea typeface="Lato"/>
                <a:cs typeface="Lato"/>
                <a:sym typeface="Lato"/>
              </a:rPr>
              <a:t>positive: vaccination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2" name="Google Shape;72;p3"/>
          <p:cNvCxnSpPr/>
          <p:nvPr/>
        </p:nvCxnSpPr>
        <p:spPr>
          <a:xfrm rot="10800000">
            <a:off x="2450592" y="3840480"/>
            <a:ext cx="914400" cy="0"/>
          </a:xfrm>
          <a:prstGeom prst="straightConnector1">
            <a:avLst/>
          </a:prstGeom>
          <a:noFill/>
          <a:ln w="12700" cap="flat" cmpd="sng">
            <a:solidFill>
              <a:srgbClr val="FF665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3" name="Google Shape;73;p3"/>
          <p:cNvSpPr/>
          <p:nvPr/>
        </p:nvSpPr>
        <p:spPr>
          <a:xfrm>
            <a:off x="2395728" y="3785616"/>
            <a:ext cx="109728" cy="109728"/>
          </a:xfrm>
          <a:prstGeom prst="ellipse">
            <a:avLst/>
          </a:prstGeom>
          <a:solidFill>
            <a:srgbClr val="FF6657"/>
          </a:solidFill>
          <a:ln w="9525" cap="flat" cmpd="sng">
            <a:solidFill>
              <a:srgbClr val="D948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713232" y="3703320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2A2620"/>
              </a:buClr>
              <a:buSzPts val="1050"/>
              <a:buFont typeface="Lato"/>
              <a:buNone/>
            </a:pPr>
            <a:r>
              <a:rPr lang="en-US" sz="1050" b="1" i="0" u="none" strike="noStrike" cap="none">
                <a:solidFill>
                  <a:srgbClr val="2A2620"/>
                </a:solidFill>
                <a:latin typeface="Lato"/>
                <a:ea typeface="Lato"/>
                <a:cs typeface="Lato"/>
                <a:sym typeface="Lato"/>
              </a:rPr>
              <a:t>Ultrasociety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5" name="Google Shape;75;p3"/>
          <p:cNvCxnSpPr/>
          <p:nvPr/>
        </p:nvCxnSpPr>
        <p:spPr>
          <a:xfrm rot="10800000">
            <a:off x="2563352" y="3273600"/>
            <a:ext cx="844795" cy="349926"/>
          </a:xfrm>
          <a:prstGeom prst="straightConnector1">
            <a:avLst/>
          </a:prstGeom>
          <a:noFill/>
          <a:ln w="12700" cap="flat" cmpd="sng">
            <a:solidFill>
              <a:srgbClr val="FF665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6" name="Google Shape;76;p3"/>
          <p:cNvSpPr/>
          <p:nvPr/>
        </p:nvSpPr>
        <p:spPr>
          <a:xfrm>
            <a:off x="2508487" y="3218736"/>
            <a:ext cx="109728" cy="109728"/>
          </a:xfrm>
          <a:prstGeom prst="ellipse">
            <a:avLst/>
          </a:prstGeom>
          <a:solidFill>
            <a:srgbClr val="FF6657"/>
          </a:solidFill>
          <a:ln w="9525" cap="flat" cmpd="sng">
            <a:solidFill>
              <a:srgbClr val="D948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855921" y="2894532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2A2620"/>
              </a:buClr>
              <a:buSzPts val="1050"/>
              <a:buFont typeface="Lato"/>
              <a:buNone/>
            </a:pPr>
            <a:r>
              <a:rPr lang="en-US" sz="1050" b="1" i="0" u="none" strike="noStrike" cap="none">
                <a:solidFill>
                  <a:srgbClr val="2A2620"/>
                </a:solidFill>
                <a:latin typeface="Lato"/>
                <a:ea typeface="Lato"/>
                <a:cs typeface="Lato"/>
                <a:sym typeface="Lato"/>
              </a:rPr>
              <a:t>Evolutionary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2A2620"/>
              </a:buClr>
              <a:buSzPts val="1050"/>
              <a:buFont typeface="Lato"/>
              <a:buNone/>
            </a:pPr>
            <a:r>
              <a:rPr lang="en-US" sz="1050" b="1" i="0" u="none" strike="noStrike" cap="none">
                <a:solidFill>
                  <a:srgbClr val="2A2620"/>
                </a:solidFill>
                <a:latin typeface="Lato"/>
                <a:ea typeface="Lato"/>
                <a:cs typeface="Lato"/>
                <a:sym typeface="Lato"/>
              </a:rPr>
              <a:t>transition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8" name="Google Shape;78;p3"/>
          <p:cNvCxnSpPr/>
          <p:nvPr/>
        </p:nvCxnSpPr>
        <p:spPr>
          <a:xfrm rot="10800000">
            <a:off x="2884463" y="2793023"/>
            <a:ext cx="646578" cy="646578"/>
          </a:xfrm>
          <a:prstGeom prst="straightConnector1">
            <a:avLst/>
          </a:prstGeom>
          <a:noFill/>
          <a:ln w="12700" cap="flat" cmpd="sng">
            <a:solidFill>
              <a:srgbClr val="FF665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9" name="Google Shape;79;p3"/>
          <p:cNvSpPr/>
          <p:nvPr/>
        </p:nvSpPr>
        <p:spPr>
          <a:xfrm>
            <a:off x="2829599" y="2738159"/>
            <a:ext cx="109728" cy="109728"/>
          </a:xfrm>
          <a:prstGeom prst="ellipse">
            <a:avLst/>
          </a:prstGeom>
          <a:solidFill>
            <a:srgbClr val="FF6657"/>
          </a:solidFill>
          <a:ln w="9525" cap="flat" cmpd="sng">
            <a:solidFill>
              <a:srgbClr val="D948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1262266" y="2286394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2A2620"/>
              </a:buClr>
              <a:buSzPts val="1050"/>
              <a:buFont typeface="Lato"/>
              <a:buNone/>
            </a:pPr>
            <a:r>
              <a:rPr lang="en-US" sz="1050" b="1" i="0" u="none" strike="noStrike" cap="none">
                <a:solidFill>
                  <a:srgbClr val="2A2620"/>
                </a:solidFill>
                <a:latin typeface="Lato"/>
                <a:ea typeface="Lato"/>
                <a:cs typeface="Lato"/>
                <a:sym typeface="Lato"/>
              </a:rPr>
              <a:t>Radical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2A2620"/>
              </a:buClr>
              <a:buSzPts val="1050"/>
              <a:buFont typeface="Lato"/>
              <a:buNone/>
            </a:pPr>
            <a:r>
              <a:rPr lang="en-US" sz="1050" b="1" i="0" u="none" strike="noStrike" cap="none">
                <a:solidFill>
                  <a:srgbClr val="2A2620"/>
                </a:solidFill>
                <a:latin typeface="Lato"/>
                <a:ea typeface="Lato"/>
                <a:cs typeface="Lato"/>
                <a:sym typeface="Lato"/>
              </a:rPr>
              <a:t>Lamarckian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1" name="Google Shape;81;p3"/>
          <p:cNvCxnSpPr/>
          <p:nvPr/>
        </p:nvCxnSpPr>
        <p:spPr>
          <a:xfrm rot="10800000">
            <a:off x="3365040" y="2471912"/>
            <a:ext cx="349926" cy="844795"/>
          </a:xfrm>
          <a:prstGeom prst="straightConnector1">
            <a:avLst/>
          </a:prstGeom>
          <a:noFill/>
          <a:ln w="12700" cap="flat" cmpd="sng">
            <a:solidFill>
              <a:srgbClr val="FF665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2" name="Google Shape;82;p3"/>
          <p:cNvSpPr/>
          <p:nvPr/>
        </p:nvSpPr>
        <p:spPr>
          <a:xfrm>
            <a:off x="3310176" y="2417047"/>
            <a:ext cx="109728" cy="109728"/>
          </a:xfrm>
          <a:prstGeom prst="ellipse">
            <a:avLst/>
          </a:prstGeom>
          <a:solidFill>
            <a:srgbClr val="FF6657"/>
          </a:solidFill>
          <a:ln w="9525" cap="flat" cmpd="sng">
            <a:solidFill>
              <a:srgbClr val="D948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1870404" y="1880049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2A2620"/>
              </a:buClr>
              <a:buSzPts val="1050"/>
              <a:buFont typeface="Lato"/>
              <a:buNone/>
            </a:pPr>
            <a:r>
              <a:rPr lang="en-US" sz="1050" b="1" i="0" u="none" strike="noStrike" cap="none">
                <a:solidFill>
                  <a:srgbClr val="2A2620"/>
                </a:solidFill>
                <a:latin typeface="Lato"/>
                <a:ea typeface="Lato"/>
                <a:cs typeface="Lato"/>
                <a:sym typeface="Lato"/>
              </a:rPr>
              <a:t>Complexity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2A2620"/>
              </a:buClr>
              <a:buSzPts val="1050"/>
              <a:buFont typeface="Lato"/>
              <a:buNone/>
            </a:pPr>
            <a:r>
              <a:rPr lang="en-US" sz="1050" b="1" i="0" u="none" strike="noStrike" cap="none">
                <a:solidFill>
                  <a:srgbClr val="2A2620"/>
                </a:solidFill>
                <a:latin typeface="Lato"/>
                <a:ea typeface="Lato"/>
                <a:cs typeface="Lato"/>
                <a:sym typeface="Lato"/>
              </a:rPr>
              <a:t>drain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" name="Google Shape;84;p3"/>
          <p:cNvCxnSpPr/>
          <p:nvPr/>
        </p:nvCxnSpPr>
        <p:spPr>
          <a:xfrm rot="10800000">
            <a:off x="2189162" y="4583430"/>
            <a:ext cx="51118" cy="34290"/>
          </a:xfrm>
          <a:prstGeom prst="straightConnector1">
            <a:avLst/>
          </a:prstGeom>
          <a:noFill/>
          <a:ln w="12700" cap="flat" cmpd="sng">
            <a:solidFill>
              <a:srgbClr val="FF6657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5" name="Google Shape;85;p3"/>
          <p:cNvCxnSpPr/>
          <p:nvPr/>
        </p:nvCxnSpPr>
        <p:spPr>
          <a:xfrm rot="10800000">
            <a:off x="2142490" y="4549140"/>
            <a:ext cx="46672" cy="34290"/>
          </a:xfrm>
          <a:prstGeom prst="straightConnector1">
            <a:avLst/>
          </a:prstGeom>
          <a:noFill/>
          <a:ln w="12700" cap="flat" cmpd="sng">
            <a:solidFill>
              <a:srgbClr val="FF6657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6" name="Google Shape;86;p3"/>
          <p:cNvCxnSpPr/>
          <p:nvPr/>
        </p:nvCxnSpPr>
        <p:spPr>
          <a:xfrm rot="10800000">
            <a:off x="2100262" y="4514850"/>
            <a:ext cx="42228" cy="34290"/>
          </a:xfrm>
          <a:prstGeom prst="straightConnector1">
            <a:avLst/>
          </a:prstGeom>
          <a:noFill/>
          <a:ln w="12700" cap="flat" cmpd="sng">
            <a:solidFill>
              <a:srgbClr val="FF6657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7" name="Google Shape;87;p3"/>
          <p:cNvCxnSpPr/>
          <p:nvPr/>
        </p:nvCxnSpPr>
        <p:spPr>
          <a:xfrm rot="10800000">
            <a:off x="2062480" y="4480560"/>
            <a:ext cx="37782" cy="34290"/>
          </a:xfrm>
          <a:prstGeom prst="straightConnector1">
            <a:avLst/>
          </a:prstGeom>
          <a:noFill/>
          <a:ln w="12700" cap="flat" cmpd="sng">
            <a:solidFill>
              <a:srgbClr val="FF6657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8" name="Google Shape;88;p3"/>
          <p:cNvCxnSpPr/>
          <p:nvPr/>
        </p:nvCxnSpPr>
        <p:spPr>
          <a:xfrm rot="10800000">
            <a:off x="2000250" y="4411980"/>
            <a:ext cx="28892" cy="34290"/>
          </a:xfrm>
          <a:prstGeom prst="straightConnector1">
            <a:avLst/>
          </a:prstGeom>
          <a:noFill/>
          <a:ln w="12700" cap="flat" cmpd="sng">
            <a:solidFill>
              <a:srgbClr val="FF6657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9" name="Google Shape;89;p3"/>
          <p:cNvCxnSpPr/>
          <p:nvPr/>
        </p:nvCxnSpPr>
        <p:spPr>
          <a:xfrm rot="10800000">
            <a:off x="1975802" y="4377690"/>
            <a:ext cx="24448" cy="34290"/>
          </a:xfrm>
          <a:prstGeom prst="straightConnector1">
            <a:avLst/>
          </a:prstGeom>
          <a:noFill/>
          <a:ln w="12700" cap="flat" cmpd="sng">
            <a:solidFill>
              <a:srgbClr val="FF6657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0" name="Google Shape;90;p3"/>
          <p:cNvCxnSpPr/>
          <p:nvPr/>
        </p:nvCxnSpPr>
        <p:spPr>
          <a:xfrm rot="10800000">
            <a:off x="1955800" y="4343400"/>
            <a:ext cx="20002" cy="34290"/>
          </a:xfrm>
          <a:prstGeom prst="straightConnector1">
            <a:avLst/>
          </a:prstGeom>
          <a:noFill/>
          <a:ln w="12700" cap="flat" cmpd="sng">
            <a:solidFill>
              <a:srgbClr val="FF6657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1" name="Google Shape;91;p3"/>
          <p:cNvCxnSpPr/>
          <p:nvPr/>
        </p:nvCxnSpPr>
        <p:spPr>
          <a:xfrm rot="10800000">
            <a:off x="1929130" y="4274820"/>
            <a:ext cx="11113" cy="34290"/>
          </a:xfrm>
          <a:prstGeom prst="straightConnector1">
            <a:avLst/>
          </a:prstGeom>
          <a:noFill/>
          <a:ln w="12700" cap="flat" cmpd="sng">
            <a:solidFill>
              <a:srgbClr val="FF6657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2" name="Google Shape;92;p3"/>
          <p:cNvCxnSpPr/>
          <p:nvPr/>
        </p:nvCxnSpPr>
        <p:spPr>
          <a:xfrm rot="10800000">
            <a:off x="1920239" y="4206240"/>
            <a:ext cx="2223" cy="34290"/>
          </a:xfrm>
          <a:prstGeom prst="straightConnector1">
            <a:avLst/>
          </a:prstGeom>
          <a:noFill/>
          <a:ln w="12700" cap="flat" cmpd="sng">
            <a:solidFill>
              <a:srgbClr val="FF6657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3" name="Google Shape;93;p3"/>
          <p:cNvCxnSpPr/>
          <p:nvPr/>
        </p:nvCxnSpPr>
        <p:spPr>
          <a:xfrm rot="10800000" flipH="1">
            <a:off x="1920240" y="4171950"/>
            <a:ext cx="2223" cy="34290"/>
          </a:xfrm>
          <a:prstGeom prst="straightConnector1">
            <a:avLst/>
          </a:prstGeom>
          <a:noFill/>
          <a:ln w="12700" cap="flat" cmpd="sng">
            <a:solidFill>
              <a:srgbClr val="FF6657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4" name="Google Shape;94;p3"/>
          <p:cNvCxnSpPr/>
          <p:nvPr/>
        </p:nvCxnSpPr>
        <p:spPr>
          <a:xfrm rot="10800000" flipH="1">
            <a:off x="1922462" y="4137660"/>
            <a:ext cx="6668" cy="34290"/>
          </a:xfrm>
          <a:prstGeom prst="straightConnector1">
            <a:avLst/>
          </a:prstGeom>
          <a:noFill/>
          <a:ln w="12700" cap="flat" cmpd="sng">
            <a:solidFill>
              <a:srgbClr val="FF6657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5" name="Google Shape;95;p3"/>
          <p:cNvCxnSpPr/>
          <p:nvPr/>
        </p:nvCxnSpPr>
        <p:spPr>
          <a:xfrm rot="10800000" flipH="1">
            <a:off x="1940242" y="4069080"/>
            <a:ext cx="15558" cy="34290"/>
          </a:xfrm>
          <a:prstGeom prst="straightConnector1">
            <a:avLst/>
          </a:prstGeom>
          <a:noFill/>
          <a:ln w="12700" cap="flat" cmpd="sng">
            <a:solidFill>
              <a:srgbClr val="FF6657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6" name="Google Shape;96;p3"/>
          <p:cNvCxnSpPr/>
          <p:nvPr/>
        </p:nvCxnSpPr>
        <p:spPr>
          <a:xfrm rot="10800000" flipH="1">
            <a:off x="1955800" y="4034790"/>
            <a:ext cx="20002" cy="34290"/>
          </a:xfrm>
          <a:prstGeom prst="straightConnector1">
            <a:avLst/>
          </a:prstGeom>
          <a:noFill/>
          <a:ln w="12700" cap="flat" cmpd="sng">
            <a:solidFill>
              <a:srgbClr val="FF6657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7" name="Google Shape;97;p3"/>
          <p:cNvCxnSpPr/>
          <p:nvPr/>
        </p:nvCxnSpPr>
        <p:spPr>
          <a:xfrm rot="10800000" flipH="1">
            <a:off x="1975802" y="4000500"/>
            <a:ext cx="24448" cy="34290"/>
          </a:xfrm>
          <a:prstGeom prst="straightConnector1">
            <a:avLst/>
          </a:prstGeom>
          <a:noFill/>
          <a:ln w="12700" cap="flat" cmpd="sng">
            <a:solidFill>
              <a:srgbClr val="FF6657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8" name="Google Shape;98;p3"/>
          <p:cNvCxnSpPr/>
          <p:nvPr/>
        </p:nvCxnSpPr>
        <p:spPr>
          <a:xfrm rot="10800000" flipH="1">
            <a:off x="2029142" y="3931920"/>
            <a:ext cx="33338" cy="34290"/>
          </a:xfrm>
          <a:prstGeom prst="straightConnector1">
            <a:avLst/>
          </a:prstGeom>
          <a:noFill/>
          <a:ln w="12700" cap="flat" cmpd="sng">
            <a:solidFill>
              <a:srgbClr val="FF6657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9" name="Google Shape;99;p3"/>
          <p:cNvCxnSpPr/>
          <p:nvPr/>
        </p:nvCxnSpPr>
        <p:spPr>
          <a:xfrm rot="10800000" flipH="1">
            <a:off x="2062480" y="3897630"/>
            <a:ext cx="37782" cy="34290"/>
          </a:xfrm>
          <a:prstGeom prst="straightConnector1">
            <a:avLst/>
          </a:prstGeom>
          <a:noFill/>
          <a:ln w="12700" cap="flat" cmpd="sng">
            <a:solidFill>
              <a:srgbClr val="FF6657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0" name="Google Shape;100;p3"/>
          <p:cNvCxnSpPr/>
          <p:nvPr/>
        </p:nvCxnSpPr>
        <p:spPr>
          <a:xfrm rot="10800000" flipH="1">
            <a:off x="2100262" y="3863340"/>
            <a:ext cx="42228" cy="34290"/>
          </a:xfrm>
          <a:prstGeom prst="straightConnector1">
            <a:avLst/>
          </a:prstGeom>
          <a:noFill/>
          <a:ln w="12700" cap="flat" cmpd="sng">
            <a:solidFill>
              <a:srgbClr val="FF6657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1" name="Google Shape;101;p3"/>
          <p:cNvCxnSpPr/>
          <p:nvPr/>
        </p:nvCxnSpPr>
        <p:spPr>
          <a:xfrm rot="10800000" flipH="1">
            <a:off x="2189163" y="3794760"/>
            <a:ext cx="51117" cy="34290"/>
          </a:xfrm>
          <a:prstGeom prst="straightConnector1">
            <a:avLst/>
          </a:prstGeom>
          <a:noFill/>
          <a:ln w="12700" cap="flat" cmpd="sng">
            <a:solidFill>
              <a:srgbClr val="FF6657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02" name="Google Shape;102;p3"/>
          <p:cNvSpPr/>
          <p:nvPr/>
        </p:nvSpPr>
        <p:spPr>
          <a:xfrm>
            <a:off x="3328416" y="3200400"/>
            <a:ext cx="1207008" cy="1280160"/>
          </a:xfrm>
          <a:prstGeom prst="ellipse">
            <a:avLst/>
          </a:prstGeom>
          <a:solidFill>
            <a:srgbClr val="FFFFFF"/>
          </a:solidFill>
          <a:ln w="27925" cap="flat" cmpd="sng">
            <a:solidFill>
              <a:srgbClr val="FF66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"/>
          <p:cNvSpPr/>
          <p:nvPr/>
        </p:nvSpPr>
        <p:spPr>
          <a:xfrm>
            <a:off x="3547872" y="3547872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483B"/>
              </a:buClr>
              <a:buSzPts val="1100"/>
              <a:buFont typeface="Lato"/>
              <a:buNone/>
            </a:pPr>
            <a:r>
              <a:rPr lang="en-US" sz="1100" b="1" i="0" u="none" strike="noStrike" cap="none">
                <a:solidFill>
                  <a:srgbClr val="D9483B"/>
                </a:solidFill>
                <a:latin typeface="Lato"/>
                <a:ea typeface="Lato"/>
                <a:cs typeface="Lato"/>
                <a:sym typeface="Lato"/>
              </a:rPr>
              <a:t>Multiagents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3547872" y="3858768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483B"/>
              </a:buClr>
              <a:buSzPts val="1100"/>
              <a:buFont typeface="Lato"/>
              <a:buNone/>
            </a:pPr>
            <a:r>
              <a:rPr lang="en-US" sz="1100" b="1" i="0" u="none" strike="noStrike" cap="none">
                <a:solidFill>
                  <a:srgbClr val="D9483B"/>
                </a:solidFill>
                <a:latin typeface="Lato"/>
                <a:ea typeface="Lato"/>
                <a:cs typeface="Lato"/>
                <a:sym typeface="Lato"/>
              </a:rPr>
              <a:t>dysfunction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 rot="2700000">
            <a:off x="3429000" y="3643884"/>
            <a:ext cx="82296" cy="82296"/>
          </a:xfrm>
          <a:prstGeom prst="rect">
            <a:avLst/>
          </a:prstGeom>
          <a:solidFill>
            <a:srgbClr val="FF6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"/>
          <p:cNvSpPr/>
          <p:nvPr/>
        </p:nvSpPr>
        <p:spPr>
          <a:xfrm rot="2700000">
            <a:off x="3429000" y="3954780"/>
            <a:ext cx="82296" cy="82296"/>
          </a:xfrm>
          <a:prstGeom prst="rect">
            <a:avLst/>
          </a:prstGeom>
          <a:solidFill>
            <a:srgbClr val="FF66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"/>
          <p:cNvSpPr/>
          <p:nvPr/>
        </p:nvSpPr>
        <p:spPr>
          <a:xfrm>
            <a:off x="7955280" y="1783080"/>
            <a:ext cx="3840480" cy="1737360"/>
          </a:xfrm>
          <a:prstGeom prst="rect">
            <a:avLst/>
          </a:prstGeom>
          <a:solidFill>
            <a:srgbClr val="FAF6EE"/>
          </a:solidFill>
          <a:ln w="9525" cap="flat" cmpd="sng">
            <a:solidFill>
              <a:srgbClr val="D8CF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"/>
          <p:cNvSpPr/>
          <p:nvPr/>
        </p:nvSpPr>
        <p:spPr>
          <a:xfrm>
            <a:off x="8138160" y="1874520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2878"/>
              </a:buClr>
              <a:buSzPts val="900"/>
              <a:buFont typeface="Lato"/>
              <a:buNone/>
            </a:pPr>
            <a:r>
              <a:rPr lang="en-US" sz="900" b="1" i="0" u="none" strike="noStrike" cap="none">
                <a:solidFill>
                  <a:srgbClr val="002878"/>
                </a:solidFill>
                <a:latin typeface="Lato"/>
                <a:ea typeface="Lato"/>
                <a:cs typeface="Lato"/>
                <a:sym typeface="Lato"/>
              </a:rPr>
              <a:t>LEGEND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" name="Google Shape;109;p3"/>
          <p:cNvCxnSpPr/>
          <p:nvPr/>
        </p:nvCxnSpPr>
        <p:spPr>
          <a:xfrm>
            <a:off x="8138160" y="2121408"/>
            <a:ext cx="594360" cy="0"/>
          </a:xfrm>
          <a:prstGeom prst="straightConnector1">
            <a:avLst/>
          </a:prstGeom>
          <a:noFill/>
          <a:ln w="9525" cap="flat" cmpd="sng">
            <a:solidFill>
              <a:srgbClr val="00287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0" name="Google Shape;110;p3"/>
          <p:cNvSpPr/>
          <p:nvPr/>
        </p:nvSpPr>
        <p:spPr>
          <a:xfrm>
            <a:off x="8229600" y="2340864"/>
            <a:ext cx="118872" cy="118872"/>
          </a:xfrm>
          <a:prstGeom prst="ellipse">
            <a:avLst/>
          </a:prstGeom>
          <a:solidFill>
            <a:srgbClr val="FF6657"/>
          </a:solidFill>
          <a:ln w="9525" cap="flat" cmpd="sng">
            <a:solidFill>
              <a:srgbClr val="D948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3"/>
          <p:cNvSpPr/>
          <p:nvPr/>
        </p:nvSpPr>
        <p:spPr>
          <a:xfrm>
            <a:off x="8458200" y="2286000"/>
            <a:ext cx="31546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2620"/>
              </a:buClr>
              <a:buSzPts val="1100"/>
              <a:buFont typeface="Lato"/>
              <a:buNone/>
            </a:pPr>
            <a:r>
              <a:rPr lang="en-US" sz="1100" b="0" i="0" u="none" strike="noStrike" cap="none">
                <a:solidFill>
                  <a:srgbClr val="2A2620"/>
                </a:solidFill>
                <a:latin typeface="Lato"/>
                <a:ea typeface="Lato"/>
                <a:cs typeface="Lato"/>
                <a:sym typeface="Lato"/>
              </a:rPr>
              <a:t>Topics / Areas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8202168" y="2633472"/>
            <a:ext cx="164592" cy="164592"/>
          </a:xfrm>
          <a:prstGeom prst="ellipse">
            <a:avLst/>
          </a:prstGeom>
          <a:solidFill>
            <a:srgbClr val="FF6657"/>
          </a:solidFill>
          <a:ln w="19050" cap="flat" cmpd="sng">
            <a:solidFill>
              <a:srgbClr val="00287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3"/>
          <p:cNvSpPr/>
          <p:nvPr/>
        </p:nvSpPr>
        <p:spPr>
          <a:xfrm>
            <a:off x="8247888" y="2679192"/>
            <a:ext cx="73152" cy="73152"/>
          </a:xfrm>
          <a:prstGeom prst="ellipse">
            <a:avLst/>
          </a:prstGeom>
          <a:solidFill>
            <a:srgbClr val="00287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"/>
          <p:cNvSpPr/>
          <p:nvPr/>
        </p:nvSpPr>
        <p:spPr>
          <a:xfrm>
            <a:off x="8458200" y="2596896"/>
            <a:ext cx="31546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2620"/>
              </a:buClr>
              <a:buSzPts val="1100"/>
              <a:buFont typeface="Lato"/>
              <a:buNone/>
            </a:pPr>
            <a:r>
              <a:rPr lang="en-US" sz="1100" b="0" i="0" u="none" strike="noStrike" cap="none">
                <a:solidFill>
                  <a:srgbClr val="2A2620"/>
                </a:solidFill>
                <a:latin typeface="Lato"/>
                <a:ea typeface="Lato"/>
                <a:cs typeface="Lato"/>
                <a:sym typeface="Lato"/>
              </a:rPr>
              <a:t>Applications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8220456" y="2962656"/>
            <a:ext cx="128016" cy="128016"/>
          </a:xfrm>
          <a:prstGeom prst="rect">
            <a:avLst/>
          </a:prstGeom>
          <a:solidFill>
            <a:srgbClr val="00287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3"/>
          <p:cNvSpPr/>
          <p:nvPr/>
        </p:nvSpPr>
        <p:spPr>
          <a:xfrm>
            <a:off x="8458200" y="2907792"/>
            <a:ext cx="31546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2620"/>
              </a:buClr>
              <a:buSzPts val="1100"/>
              <a:buFont typeface="Lato"/>
              <a:buNone/>
            </a:pPr>
            <a:r>
              <a:rPr lang="en-US" sz="1100" b="0" i="0" u="none" strike="noStrike" cap="none">
                <a:solidFill>
                  <a:srgbClr val="2A2620"/>
                </a:solidFill>
                <a:latin typeface="Lato"/>
                <a:ea typeface="Lato"/>
                <a:cs typeface="Lato"/>
                <a:sym typeface="Lato"/>
              </a:rPr>
              <a:t>Tools / Outcomes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8138160" y="31546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6258"/>
              </a:buClr>
              <a:buSzPts val="850"/>
              <a:buFont typeface="Lato"/>
              <a:buNone/>
            </a:pPr>
            <a:r>
              <a:rPr lang="en-US" sz="850" b="0" i="1" u="none" strike="noStrike" cap="none">
                <a:solidFill>
                  <a:srgbClr val="6B6258"/>
                </a:solidFill>
                <a:latin typeface="Lato"/>
                <a:ea typeface="Lato"/>
                <a:cs typeface="Lato"/>
                <a:sym typeface="Lato"/>
              </a:rPr>
              <a:t>Dashed line = the platform supports multiple scales; instrument, not topic.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7955280" y="3657600"/>
            <a:ext cx="3840480" cy="13716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66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3"/>
          <p:cNvSpPr/>
          <p:nvPr/>
        </p:nvSpPr>
        <p:spPr>
          <a:xfrm>
            <a:off x="8138160" y="3749040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483B"/>
              </a:buClr>
              <a:buSzPts val="900"/>
              <a:buFont typeface="Lato"/>
              <a:buNone/>
            </a:pPr>
            <a:r>
              <a:rPr lang="en-US" sz="900" b="1" i="0" u="none" strike="noStrike" cap="none">
                <a:solidFill>
                  <a:srgbClr val="D9483B"/>
                </a:solidFill>
                <a:latin typeface="Lato"/>
                <a:ea typeface="Lato"/>
                <a:cs typeface="Lato"/>
                <a:sym typeface="Lato"/>
              </a:rPr>
              <a:t>SOME HOT-TOPIC AREAS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0" name="Google Shape;120;p3"/>
          <p:cNvCxnSpPr/>
          <p:nvPr/>
        </p:nvCxnSpPr>
        <p:spPr>
          <a:xfrm>
            <a:off x="8138160" y="3995928"/>
            <a:ext cx="1554480" cy="0"/>
          </a:xfrm>
          <a:prstGeom prst="straightConnector1">
            <a:avLst/>
          </a:prstGeom>
          <a:noFill/>
          <a:ln w="9525" cap="flat" cmpd="sng">
            <a:solidFill>
              <a:srgbClr val="D9483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1" name="Google Shape;121;p3"/>
          <p:cNvSpPr/>
          <p:nvPr/>
        </p:nvSpPr>
        <p:spPr>
          <a:xfrm>
            <a:off x="8138160" y="4114800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2620"/>
              </a:buClr>
              <a:buSzPts val="1100"/>
              <a:buFont typeface="Lato"/>
              <a:buNone/>
            </a:pPr>
            <a:r>
              <a:rPr lang="en-US" sz="1100" b="0" i="0" u="none" strike="noStrike" cap="none">
                <a:solidFill>
                  <a:srgbClr val="2A2620"/>
                </a:solidFill>
                <a:latin typeface="Lato"/>
                <a:ea typeface="Lato"/>
                <a:cs typeface="Lato"/>
                <a:sym typeface="Lato"/>
              </a:rPr>
              <a:t>·  Viruses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2A2620"/>
              </a:buClr>
              <a:buSzPts val="1100"/>
              <a:buFont typeface="Lato"/>
              <a:buNone/>
            </a:pPr>
            <a:r>
              <a:rPr lang="en-US" sz="1100" b="0" i="0" u="none" strike="noStrike" cap="none">
                <a:solidFill>
                  <a:srgbClr val="2A2620"/>
                </a:solidFill>
                <a:latin typeface="Lato"/>
                <a:ea typeface="Lato"/>
                <a:cs typeface="Lato"/>
                <a:sym typeface="Lato"/>
              </a:rPr>
              <a:t>·  Microbiome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2" name="Google Shape;122;p3"/>
          <p:cNvCxnSpPr/>
          <p:nvPr/>
        </p:nvCxnSpPr>
        <p:spPr>
          <a:xfrm>
            <a:off x="502920" y="6263640"/>
            <a:ext cx="11185855" cy="0"/>
          </a:xfrm>
          <a:prstGeom prst="straightConnector1">
            <a:avLst/>
          </a:prstGeom>
          <a:noFill/>
          <a:ln w="9525" cap="flat" cmpd="sng">
            <a:solidFill>
              <a:srgbClr val="D8CFB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3" name="Google Shape;123;p3"/>
          <p:cNvSpPr/>
          <p:nvPr/>
        </p:nvSpPr>
        <p:spPr>
          <a:xfrm>
            <a:off x="502920" y="635508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6258"/>
              </a:buClr>
              <a:buSzPts val="900"/>
              <a:buFont typeface="Lato"/>
              <a:buNone/>
            </a:pPr>
            <a:r>
              <a:rPr lang="en-US" sz="900" b="1" i="0" u="none" strike="noStrike" cap="none">
                <a:solidFill>
                  <a:srgbClr val="6B6258"/>
                </a:solidFill>
                <a:latin typeface="Lato"/>
                <a:ea typeface="Lato"/>
                <a:cs typeface="Lato"/>
                <a:sym typeface="Lato"/>
              </a:rPr>
              <a:t>BACKGROUND THREADS  ·  black-ink notes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502920" y="6583680"/>
            <a:ext cx="11185855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2620"/>
              </a:buClr>
              <a:buSzPts val="1050"/>
              <a:buFont typeface="Lato"/>
              <a:buNone/>
            </a:pPr>
            <a:r>
              <a:rPr lang="en-US" sz="1050" b="0" i="1" u="none" strike="noStrike" cap="none">
                <a:solidFill>
                  <a:srgbClr val="2A2620"/>
                </a:solidFill>
                <a:latin typeface="Lato"/>
                <a:ea typeface="Lato"/>
                <a:cs typeface="Lato"/>
                <a:sym typeface="Lato"/>
              </a:rPr>
              <a:t>Climate modeller</a:t>
            </a:r>
            <a:r>
              <a:rPr lang="en-US" sz="1050" b="0" i="0" u="none" strike="noStrike" cap="none">
                <a:solidFill>
                  <a:srgbClr val="6B6258"/>
                </a:solidFill>
                <a:latin typeface="Lato"/>
                <a:ea typeface="Lato"/>
                <a:cs typeface="Lato"/>
                <a:sym typeface="Lato"/>
              </a:rPr>
              <a:t>   ·   </a:t>
            </a:r>
            <a:r>
              <a:rPr lang="en-US" sz="1050" b="0" i="1" u="none" strike="noStrike" cap="none">
                <a:solidFill>
                  <a:srgbClr val="2A2620"/>
                </a:solidFill>
                <a:latin typeface="Lato"/>
                <a:ea typeface="Lato"/>
                <a:cs typeface="Lato"/>
                <a:sym typeface="Lato"/>
              </a:rPr>
              <a:t>Ecological engineering</a:t>
            </a:r>
            <a:r>
              <a:rPr lang="en-US" sz="1050" b="0" i="0" u="none" strike="noStrike" cap="none">
                <a:solidFill>
                  <a:srgbClr val="6B6258"/>
                </a:solidFill>
                <a:latin typeface="Lato"/>
                <a:ea typeface="Lato"/>
                <a:cs typeface="Lato"/>
                <a:sym typeface="Lato"/>
              </a:rPr>
              <a:t>   ·   </a:t>
            </a:r>
            <a:r>
              <a:rPr lang="en-US" sz="1050" b="0" i="1" u="none" strike="noStrike" cap="none">
                <a:solidFill>
                  <a:srgbClr val="2A2620"/>
                </a:solidFill>
                <a:latin typeface="Lato"/>
                <a:ea typeface="Lato"/>
                <a:cs typeface="Lato"/>
                <a:sym typeface="Lato"/>
              </a:rPr>
              <a:t>AI &amp; society</a:t>
            </a:r>
            <a:r>
              <a:rPr lang="en-US" sz="1050" b="1" i="0" u="none" strike="noStrike" cap="none">
                <a:solidFill>
                  <a:srgbClr val="FF6657"/>
                </a:solidFill>
                <a:latin typeface="Lato"/>
                <a:ea typeface="Lato"/>
                <a:cs typeface="Lato"/>
                <a:sym typeface="Lato"/>
              </a:rPr>
              <a:t> → </a:t>
            </a:r>
            <a:r>
              <a:rPr lang="en-US" sz="1050" b="0" i="1" u="none" strike="noStrike" cap="none">
                <a:solidFill>
                  <a:srgbClr val="2A2620"/>
                </a:solidFill>
                <a:latin typeface="Lato"/>
                <a:ea typeface="Lato"/>
                <a:cs typeface="Lato"/>
                <a:sym typeface="Lato"/>
              </a:rPr>
              <a:t>Ultrasociety</a:t>
            </a:r>
            <a:r>
              <a:rPr lang="en-US" sz="1050" b="0" i="0" u="none" strike="noStrike" cap="none">
                <a:solidFill>
                  <a:srgbClr val="6B6258"/>
                </a:solidFill>
                <a:latin typeface="Lato"/>
                <a:ea typeface="Lato"/>
                <a:cs typeface="Lato"/>
                <a:sym typeface="Lato"/>
              </a:rPr>
              <a:t>   ·   </a:t>
            </a:r>
            <a:r>
              <a:rPr lang="en-US" sz="1050" b="0" i="1" u="none" strike="noStrike" cap="none">
                <a:solidFill>
                  <a:srgbClr val="2A2620"/>
                </a:solidFill>
                <a:latin typeface="Lato"/>
                <a:ea typeface="Lato"/>
                <a:cs typeface="Lato"/>
                <a:sym typeface="Lato"/>
              </a:rPr>
              <a:t>Ultra-cognition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ABC8EBF7-0DDF-E9C5-FCC7-79FFA4A391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33385" y="-24714"/>
            <a:ext cx="9123840" cy="6985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4900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</Words>
  <Application>Microsoft Macintosh PowerPoint</Application>
  <PresentationFormat>Widescreen</PresentationFormat>
  <Paragraphs>47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Lato</vt:lpstr>
      <vt:lpstr>Calibri</vt:lpstr>
      <vt:lpstr>Arial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Neuroelectrics 3</cp:lastModifiedBy>
  <cp:revision>1</cp:revision>
  <dcterms:modified xsi:type="dcterms:W3CDTF">2026-05-04T13:05:19Z</dcterms:modified>
</cp:coreProperties>
</file>